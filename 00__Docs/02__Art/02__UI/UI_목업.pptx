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y="10287000" cx="18288000"/>
  <p:notesSz cx="10287000" cy="18288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3" roundtripDataSignature="AMtx7mh8sAqHHTl8qFCj2ZYLqw0xMkkn4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customschemas.google.com/relationships/presentationmetadata" Target="metadata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방 코드로 모이고 2팀·3팀·4팀을 고른다. 맵마다 리젠 재료와 카페 레이아웃이 다르다. 게임은 밤으로 시작한다.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낮 패시브 1 + 밤 패시브 1. 발동 키 없는 상시 능력이고 팀 내 중복 픽은 금지한다. 패시브 폭 +25~40%.</a:t>
            </a:r>
            <a:endParaRPr/>
          </a:p>
        </p:txBody>
      </p:sp>
      <p:sp>
        <p:nvSpPr>
          <p:cNvPr id="109" name="Google Shape;10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3" name="Google Shape;20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2분. 걷힌 안개와 공개된 슬롯은 전원에게 공유되고 자원만 선착순이다. 무게 곡선이 화면의 중심.</a:t>
            </a:r>
            <a:endParaRPr/>
          </a:p>
        </p:txBody>
      </p:sp>
      <p:sp>
        <p:nvSpPr>
          <p:cNvPr id="204" name="Google Shape;204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4" name="Google Shape;30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슬롯 5개. 가려진 슬롯은 1초 간격으로 공개되고 스킵이 없다. 피격이나 이동 입력이면 처음부터 다시.</a:t>
            </a:r>
            <a:endParaRPr/>
          </a:p>
        </p:txBody>
      </p:sp>
      <p:sp>
        <p:nvSpPr>
          <p:cNvPr id="305" name="Google Shape;30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" name="Google Shape;36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2분 협동. 상단은 매출만 공개하는 순위, 하단은 완성 게이지와 그릇 4개. 인기 재료는 재료당 +30%.</a:t>
            </a:r>
            <a:endParaRPr/>
          </a:p>
        </p:txBody>
      </p:sp>
      <p:sp>
        <p:nvSpPr>
          <p:cNvPr id="365" name="Google Shape;365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9" name="Google Shape;50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정산·순위·내일의 손님 예보를 한 화면에. 예보는 재료 태그와 배수만 알려준다.</a:t>
            </a:r>
            <a:endParaRPr/>
          </a:p>
        </p:txBody>
      </p:sp>
      <p:sp>
        <p:nvSpPr>
          <p:cNvPr id="510" name="Google Shape;510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6" name="Google Shape;61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업그레이드 재료는 3등급 박스에서만. 적용은 그 판 동안 영구이고 전부 동선을 줄이는 방향.</a:t>
            </a:r>
            <a:endParaRPr/>
          </a:p>
        </p:txBody>
      </p:sp>
      <p:sp>
        <p:nvSpPr>
          <p:cNvPr id="617" name="Google Shape;617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6" name="Google Shape;7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7일차 종료 시점 누적 판매 매출 1위가 승리. 일차별 매출과 판 전체 통계를 함께 본다.</a:t>
            </a:r>
            <a:endParaRPr/>
          </a:p>
        </p:txBody>
      </p:sp>
      <p:sp>
        <p:nvSpPr>
          <p:cNvPr id="737" name="Google Shape;73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805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20C0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6E4A2B"/>
              </a:gs>
              <a:gs pos="45000">
                <a:srgbClr val="3E2817"/>
              </a:gs>
              <a:gs pos="80000">
                <a:srgbClr val="1B110A"/>
              </a:gs>
              <a:gs pos="100000">
                <a:srgbClr val="120C08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 rotWithShape="1">
            <a:blip r:embed="rId3">
              <a:alphaModFix/>
            </a:blip>
            <a:tile algn="tl" flip="none" tx="0" sx="100000" ty="0" sy="10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514350" y="1234380"/>
            <a:ext cx="17259300" cy="9525"/>
          </a:xfrm>
          <a:prstGeom prst="rect">
            <a:avLst/>
          </a:prstGeom>
          <a:solidFill>
            <a:srgbClr val="C6974A">
              <a:alpha val="3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514350" y="361950"/>
            <a:ext cx="441577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BLOOD &amp; BEAN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514350" y="561975"/>
            <a:ext cx="4415775" cy="52000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77846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3450"/>
              <a:buFont typeface="Arial"/>
              <a:buNone/>
            </a:pPr>
            <a:r>
              <a:rPr b="1" i="0" lang="en-US" sz="34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어둠의 숲 · 안개 등대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13917394" y="605730"/>
            <a:ext cx="1324094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ROOM CODE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13917394" y="720030"/>
            <a:ext cx="1324094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7K2-QD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15386417" y="605730"/>
            <a:ext cx="2387233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MATCH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15386417" y="720030"/>
            <a:ext cx="2387233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7 DAYS · 29 MIN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514350" y="1634430"/>
            <a:ext cx="132736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TEAM SETUP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1911548" y="1510605"/>
            <a:ext cx="3010346" cy="381000"/>
          </a:xfrm>
          <a:prstGeom prst="rect">
            <a:avLst/>
          </a:prstGeom>
          <a:noFill/>
          <a:ln cap="flat" cmpd="sng" w="9525">
            <a:solidFill>
              <a:srgbClr val="C6974A">
                <a:alpha val="3490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1"/>
          <p:cNvSpPr/>
          <p:nvPr/>
        </p:nvSpPr>
        <p:spPr>
          <a:xfrm>
            <a:off x="2130623" y="1605855"/>
            <a:ext cx="647849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2팀 · 4인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2911822" y="1520130"/>
            <a:ext cx="9525" cy="361950"/>
          </a:xfrm>
          <a:prstGeom prst="rect">
            <a:avLst/>
          </a:prstGeom>
          <a:solidFill>
            <a:srgbClr val="C6974A">
              <a:alpha val="2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1"/>
          <p:cNvSpPr/>
          <p:nvPr/>
        </p:nvSpPr>
        <p:spPr>
          <a:xfrm>
            <a:off x="3130897" y="1605855"/>
            <a:ext cx="647849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3팀 · 6인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3912096" y="1520130"/>
            <a:ext cx="1000274" cy="361950"/>
          </a:xfrm>
          <a:prstGeom prst="rect">
            <a:avLst/>
          </a:prstGeom>
          <a:solidFill>
            <a:srgbClr val="C697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1"/>
          <p:cNvSpPr/>
          <p:nvPr/>
        </p:nvSpPr>
        <p:spPr>
          <a:xfrm>
            <a:off x="3912096" y="1520130"/>
            <a:ext cx="9525" cy="361950"/>
          </a:xfrm>
          <a:prstGeom prst="rect">
            <a:avLst/>
          </a:prstGeom>
          <a:solidFill>
            <a:srgbClr val="C6974A">
              <a:alpha val="2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1"/>
          <p:cNvSpPr/>
          <p:nvPr/>
        </p:nvSpPr>
        <p:spPr>
          <a:xfrm>
            <a:off x="4131171" y="1605855"/>
            <a:ext cx="647849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0F07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170F07"/>
                </a:solidFill>
                <a:latin typeface="Arial"/>
                <a:ea typeface="Arial"/>
                <a:cs typeface="Arial"/>
                <a:sym typeface="Arial"/>
              </a:rPr>
              <a:t>4팀 · 8인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5112395" y="1620143"/>
            <a:ext cx="2429143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팀 수에 따라 박스 수 · 손님 수 비례 조정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514350" y="2082105"/>
            <a:ext cx="5915025" cy="1457325"/>
          </a:xfrm>
          <a:prstGeom prst="rect">
            <a:avLst/>
          </a:prstGeom>
          <a:solidFill>
            <a:srgbClr val="0E0905">
              <a:alpha val="72157"/>
            </a:srgbClr>
          </a:solidFill>
          <a:ln cap="flat" cmpd="sng" w="9525">
            <a:solidFill>
              <a:srgbClr val="C697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1"/>
          <p:cNvSpPr/>
          <p:nvPr/>
        </p:nvSpPr>
        <p:spPr>
          <a:xfrm>
            <a:off x="714375" y="2701230"/>
            <a:ext cx="5514975" cy="9525"/>
          </a:xfrm>
          <a:prstGeom prst="rect">
            <a:avLst/>
          </a:prstGeom>
          <a:solidFill>
            <a:srgbClr val="F2E3CB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1"/>
          <p:cNvSpPr/>
          <p:nvPr/>
        </p:nvSpPr>
        <p:spPr>
          <a:xfrm>
            <a:off x="714375" y="2310705"/>
            <a:ext cx="95250" cy="209550"/>
          </a:xfrm>
          <a:prstGeom prst="rect">
            <a:avLst/>
          </a:prstGeom>
          <a:solidFill>
            <a:srgbClr val="E9B8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1"/>
          <p:cNvSpPr/>
          <p:nvPr/>
        </p:nvSpPr>
        <p:spPr>
          <a:xfrm>
            <a:off x="923925" y="2263080"/>
            <a:ext cx="1030337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늑대 소굴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1"/>
          <p:cNvSpPr/>
          <p:nvPr/>
        </p:nvSpPr>
        <p:spPr>
          <a:xfrm>
            <a:off x="5537299" y="2358330"/>
            <a:ext cx="768251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CAFE 01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1"/>
          <p:cNvSpPr/>
          <p:nvPr/>
        </p:nvSpPr>
        <p:spPr>
          <a:xfrm>
            <a:off x="714375" y="2844105"/>
            <a:ext cx="514350" cy="514350"/>
          </a:xfrm>
          <a:prstGeom prst="rect">
            <a:avLst/>
          </a:prstGeom>
          <a:solidFill>
            <a:srgbClr val="F2E3CB">
              <a:alpha val="14118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1"/>
          <p:cNvSpPr/>
          <p:nvPr/>
        </p:nvSpPr>
        <p:spPr>
          <a:xfrm>
            <a:off x="1343025" y="2929830"/>
            <a:ext cx="7239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플레이어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1"/>
          <p:cNvSpPr/>
          <p:nvPr/>
        </p:nvSpPr>
        <p:spPr>
          <a:xfrm>
            <a:off x="1343025" y="3158430"/>
            <a:ext cx="7239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READY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1"/>
          <p:cNvSpPr/>
          <p:nvPr/>
        </p:nvSpPr>
        <p:spPr>
          <a:xfrm>
            <a:off x="3529013" y="2844105"/>
            <a:ext cx="2700338" cy="514350"/>
          </a:xfrm>
          <a:prstGeom prst="rect">
            <a:avLst/>
          </a:prstGeom>
          <a:noFill/>
          <a:ln cap="flat" cmpd="sng" w="9525">
            <a:solidFill>
              <a:srgbClr val="F2E3CB">
                <a:alpha val="20000"/>
              </a:srgbClr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1"/>
          <p:cNvSpPr/>
          <p:nvPr/>
        </p:nvSpPr>
        <p:spPr>
          <a:xfrm>
            <a:off x="3498032" y="2853630"/>
            <a:ext cx="2762298" cy="53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빈 자리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1"/>
          <p:cNvSpPr/>
          <p:nvPr/>
        </p:nvSpPr>
        <p:spPr>
          <a:xfrm>
            <a:off x="6619875" y="2082105"/>
            <a:ext cx="5915025" cy="1457325"/>
          </a:xfrm>
          <a:prstGeom prst="rect">
            <a:avLst/>
          </a:prstGeom>
          <a:solidFill>
            <a:srgbClr val="0E0905">
              <a:alpha val="72157"/>
            </a:srgbClr>
          </a:solidFill>
          <a:ln cap="flat" cmpd="sng" w="9525">
            <a:solidFill>
              <a:srgbClr val="C697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1"/>
          <p:cNvSpPr/>
          <p:nvPr/>
        </p:nvSpPr>
        <p:spPr>
          <a:xfrm>
            <a:off x="6819900" y="2701230"/>
            <a:ext cx="5514975" cy="9525"/>
          </a:xfrm>
          <a:prstGeom prst="rect">
            <a:avLst/>
          </a:prstGeom>
          <a:solidFill>
            <a:srgbClr val="F2E3CB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1"/>
          <p:cNvSpPr/>
          <p:nvPr/>
        </p:nvSpPr>
        <p:spPr>
          <a:xfrm>
            <a:off x="6819900" y="2310705"/>
            <a:ext cx="95250" cy="209550"/>
          </a:xfrm>
          <a:prstGeom prst="rect">
            <a:avLst/>
          </a:prstGeom>
          <a:solidFill>
            <a:srgbClr val="F2E3CB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1"/>
          <p:cNvSpPr/>
          <p:nvPr/>
        </p:nvSpPr>
        <p:spPr>
          <a:xfrm>
            <a:off x="7029450" y="2263080"/>
            <a:ext cx="1030337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안개 등대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1"/>
          <p:cNvSpPr/>
          <p:nvPr/>
        </p:nvSpPr>
        <p:spPr>
          <a:xfrm>
            <a:off x="11642824" y="2358330"/>
            <a:ext cx="768251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CAFE 02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1"/>
          <p:cNvSpPr/>
          <p:nvPr/>
        </p:nvSpPr>
        <p:spPr>
          <a:xfrm>
            <a:off x="6819900" y="2844105"/>
            <a:ext cx="514350" cy="514350"/>
          </a:xfrm>
          <a:prstGeom prst="rect">
            <a:avLst/>
          </a:prstGeom>
          <a:solidFill>
            <a:srgbClr val="F2E3CB">
              <a:alpha val="14118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1"/>
          <p:cNvSpPr/>
          <p:nvPr/>
        </p:nvSpPr>
        <p:spPr>
          <a:xfrm>
            <a:off x="7448550" y="2929830"/>
            <a:ext cx="7239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플레이어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1"/>
          <p:cNvSpPr/>
          <p:nvPr/>
        </p:nvSpPr>
        <p:spPr>
          <a:xfrm>
            <a:off x="7448550" y="3158430"/>
            <a:ext cx="7239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READY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9634538" y="2844105"/>
            <a:ext cx="2700338" cy="514350"/>
          </a:xfrm>
          <a:prstGeom prst="rect">
            <a:avLst/>
          </a:prstGeom>
          <a:noFill/>
          <a:ln cap="flat" cmpd="sng" w="9525">
            <a:solidFill>
              <a:srgbClr val="F2E3CB">
                <a:alpha val="20000"/>
              </a:srgbClr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1"/>
          <p:cNvSpPr/>
          <p:nvPr/>
        </p:nvSpPr>
        <p:spPr>
          <a:xfrm>
            <a:off x="9603557" y="2853630"/>
            <a:ext cx="2762298" cy="53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빈 자리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"/>
          <p:cNvSpPr/>
          <p:nvPr/>
        </p:nvSpPr>
        <p:spPr>
          <a:xfrm>
            <a:off x="514350" y="3729930"/>
            <a:ext cx="5915025" cy="1457325"/>
          </a:xfrm>
          <a:prstGeom prst="rect">
            <a:avLst/>
          </a:prstGeom>
          <a:solidFill>
            <a:srgbClr val="0E0905">
              <a:alpha val="72157"/>
            </a:srgbClr>
          </a:solidFill>
          <a:ln cap="flat" cmpd="sng" w="9525">
            <a:solidFill>
              <a:srgbClr val="C697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1"/>
          <p:cNvSpPr/>
          <p:nvPr/>
        </p:nvSpPr>
        <p:spPr>
          <a:xfrm>
            <a:off x="714375" y="4349055"/>
            <a:ext cx="5514975" cy="9525"/>
          </a:xfrm>
          <a:prstGeom prst="rect">
            <a:avLst/>
          </a:prstGeom>
          <a:solidFill>
            <a:srgbClr val="F2E3CB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1"/>
          <p:cNvSpPr/>
          <p:nvPr/>
        </p:nvSpPr>
        <p:spPr>
          <a:xfrm>
            <a:off x="714375" y="3958530"/>
            <a:ext cx="95250" cy="209550"/>
          </a:xfrm>
          <a:prstGeom prst="rect">
            <a:avLst/>
          </a:prstGeom>
          <a:solidFill>
            <a:srgbClr val="F2E3CB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"/>
          <p:cNvSpPr/>
          <p:nvPr/>
        </p:nvSpPr>
        <p:spPr>
          <a:xfrm>
            <a:off x="923925" y="3910905"/>
            <a:ext cx="1254175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뼈다귀 클럽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"/>
          <p:cNvSpPr/>
          <p:nvPr/>
        </p:nvSpPr>
        <p:spPr>
          <a:xfrm>
            <a:off x="5537299" y="4006155"/>
            <a:ext cx="768251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CAFE 03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"/>
          <p:cNvSpPr/>
          <p:nvPr/>
        </p:nvSpPr>
        <p:spPr>
          <a:xfrm>
            <a:off x="714375" y="4491930"/>
            <a:ext cx="514350" cy="514350"/>
          </a:xfrm>
          <a:prstGeom prst="rect">
            <a:avLst/>
          </a:prstGeom>
          <a:solidFill>
            <a:srgbClr val="F2E3CB">
              <a:alpha val="14118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1"/>
          <p:cNvSpPr/>
          <p:nvPr/>
        </p:nvSpPr>
        <p:spPr>
          <a:xfrm>
            <a:off x="1343025" y="4577655"/>
            <a:ext cx="7239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플레이어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1"/>
          <p:cNvSpPr/>
          <p:nvPr/>
        </p:nvSpPr>
        <p:spPr>
          <a:xfrm>
            <a:off x="1343025" y="4806255"/>
            <a:ext cx="7239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READY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"/>
          <p:cNvSpPr/>
          <p:nvPr/>
        </p:nvSpPr>
        <p:spPr>
          <a:xfrm>
            <a:off x="3529013" y="4491930"/>
            <a:ext cx="2700338" cy="514350"/>
          </a:xfrm>
          <a:prstGeom prst="rect">
            <a:avLst/>
          </a:prstGeom>
          <a:noFill/>
          <a:ln cap="flat" cmpd="sng" w="9525">
            <a:solidFill>
              <a:srgbClr val="F2E3CB">
                <a:alpha val="20000"/>
              </a:srgbClr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1"/>
          <p:cNvSpPr/>
          <p:nvPr/>
        </p:nvSpPr>
        <p:spPr>
          <a:xfrm>
            <a:off x="3498032" y="4501455"/>
            <a:ext cx="2762298" cy="53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빈 자리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"/>
          <p:cNvSpPr/>
          <p:nvPr/>
        </p:nvSpPr>
        <p:spPr>
          <a:xfrm>
            <a:off x="6619875" y="3729930"/>
            <a:ext cx="5915025" cy="1457325"/>
          </a:xfrm>
          <a:prstGeom prst="rect">
            <a:avLst/>
          </a:prstGeom>
          <a:solidFill>
            <a:srgbClr val="0E0905">
              <a:alpha val="72157"/>
            </a:srgbClr>
          </a:solidFill>
          <a:ln cap="flat" cmpd="sng" w="9525">
            <a:solidFill>
              <a:srgbClr val="C697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1"/>
          <p:cNvSpPr/>
          <p:nvPr/>
        </p:nvSpPr>
        <p:spPr>
          <a:xfrm>
            <a:off x="6819900" y="4349055"/>
            <a:ext cx="5514975" cy="9525"/>
          </a:xfrm>
          <a:prstGeom prst="rect">
            <a:avLst/>
          </a:prstGeom>
          <a:solidFill>
            <a:srgbClr val="F2E3CB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"/>
          <p:cNvSpPr/>
          <p:nvPr/>
        </p:nvSpPr>
        <p:spPr>
          <a:xfrm>
            <a:off x="6819900" y="3958530"/>
            <a:ext cx="95250" cy="209550"/>
          </a:xfrm>
          <a:prstGeom prst="rect">
            <a:avLst/>
          </a:prstGeom>
          <a:solidFill>
            <a:srgbClr val="F2E3CB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1"/>
          <p:cNvSpPr/>
          <p:nvPr/>
        </p:nvSpPr>
        <p:spPr>
          <a:xfrm>
            <a:off x="7029450" y="3910905"/>
            <a:ext cx="1030337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달빛 여관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1"/>
          <p:cNvSpPr/>
          <p:nvPr/>
        </p:nvSpPr>
        <p:spPr>
          <a:xfrm>
            <a:off x="11642824" y="4006155"/>
            <a:ext cx="768251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CAFE 04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"/>
          <p:cNvSpPr/>
          <p:nvPr/>
        </p:nvSpPr>
        <p:spPr>
          <a:xfrm>
            <a:off x="6819900" y="4491930"/>
            <a:ext cx="514350" cy="514350"/>
          </a:xfrm>
          <a:prstGeom prst="rect">
            <a:avLst/>
          </a:prstGeom>
          <a:solidFill>
            <a:srgbClr val="F2E3CB">
              <a:alpha val="14118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"/>
          <p:cNvSpPr/>
          <p:nvPr/>
        </p:nvSpPr>
        <p:spPr>
          <a:xfrm>
            <a:off x="7448550" y="4577655"/>
            <a:ext cx="7239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플레이어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"/>
          <p:cNvSpPr/>
          <p:nvPr/>
        </p:nvSpPr>
        <p:spPr>
          <a:xfrm>
            <a:off x="7448550" y="4806255"/>
            <a:ext cx="7239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READY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"/>
          <p:cNvSpPr/>
          <p:nvPr/>
        </p:nvSpPr>
        <p:spPr>
          <a:xfrm>
            <a:off x="9634538" y="4491930"/>
            <a:ext cx="2700338" cy="514350"/>
          </a:xfrm>
          <a:prstGeom prst="rect">
            <a:avLst/>
          </a:prstGeom>
          <a:noFill/>
          <a:ln cap="flat" cmpd="sng" w="9525">
            <a:solidFill>
              <a:srgbClr val="F2E3CB">
                <a:alpha val="20000"/>
              </a:srgbClr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1"/>
          <p:cNvSpPr/>
          <p:nvPr/>
        </p:nvSpPr>
        <p:spPr>
          <a:xfrm>
            <a:off x="9603557" y="4501455"/>
            <a:ext cx="2762298" cy="53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빈 자리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"/>
          <p:cNvSpPr/>
          <p:nvPr/>
        </p:nvSpPr>
        <p:spPr>
          <a:xfrm>
            <a:off x="514350" y="9515475"/>
            <a:ext cx="12020550" cy="9525"/>
          </a:xfrm>
          <a:prstGeom prst="rect">
            <a:avLst/>
          </a:prstGeom>
          <a:solidFill>
            <a:srgbClr val="C6974A">
              <a:alpha val="2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1"/>
          <p:cNvSpPr/>
          <p:nvPr/>
        </p:nvSpPr>
        <p:spPr>
          <a:xfrm>
            <a:off x="514350" y="9677400"/>
            <a:ext cx="2990999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NIGHT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"/>
          <p:cNvSpPr/>
          <p:nvPr/>
        </p:nvSpPr>
        <p:spPr>
          <a:xfrm>
            <a:off x="514350" y="9829800"/>
            <a:ext cx="2990999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2분 · 안개 숲 파밍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"/>
          <p:cNvSpPr/>
          <p:nvPr/>
        </p:nvSpPr>
        <p:spPr>
          <a:xfrm>
            <a:off x="3233440" y="9677400"/>
            <a:ext cx="9525" cy="342900"/>
          </a:xfrm>
          <a:prstGeom prst="rect">
            <a:avLst/>
          </a:prstGeom>
          <a:solidFill>
            <a:srgbClr val="F2E3CB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"/>
          <p:cNvSpPr/>
          <p:nvPr/>
        </p:nvSpPr>
        <p:spPr>
          <a:xfrm>
            <a:off x="3433465" y="9677400"/>
            <a:ext cx="2991163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INTERMISSION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"/>
          <p:cNvSpPr/>
          <p:nvPr/>
        </p:nvSpPr>
        <p:spPr>
          <a:xfrm>
            <a:off x="3433465" y="9829800"/>
            <a:ext cx="299116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10초 · 정산 · 예보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"/>
          <p:cNvSpPr/>
          <p:nvPr/>
        </p:nvSpPr>
        <p:spPr>
          <a:xfrm>
            <a:off x="6152704" y="9677400"/>
            <a:ext cx="9525" cy="342900"/>
          </a:xfrm>
          <a:prstGeom prst="rect">
            <a:avLst/>
          </a:prstGeom>
          <a:solidFill>
            <a:srgbClr val="F2E3CB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"/>
          <p:cNvSpPr/>
          <p:nvPr/>
        </p:nvSpPr>
        <p:spPr>
          <a:xfrm>
            <a:off x="6352729" y="9677400"/>
            <a:ext cx="2990999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DAY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"/>
          <p:cNvSpPr/>
          <p:nvPr/>
        </p:nvSpPr>
        <p:spPr>
          <a:xfrm>
            <a:off x="6352729" y="9829800"/>
            <a:ext cx="2990999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2분 · 2인 협동 운영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"/>
          <p:cNvSpPr/>
          <p:nvPr/>
        </p:nvSpPr>
        <p:spPr>
          <a:xfrm>
            <a:off x="9071818" y="9677400"/>
            <a:ext cx="9525" cy="342900"/>
          </a:xfrm>
          <a:prstGeom prst="rect">
            <a:avLst/>
          </a:prstGeom>
          <a:solidFill>
            <a:srgbClr val="F2E3CB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"/>
          <p:cNvSpPr/>
          <p:nvPr/>
        </p:nvSpPr>
        <p:spPr>
          <a:xfrm>
            <a:off x="9271843" y="9677400"/>
            <a:ext cx="3589362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563F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D9563F"/>
                </a:solidFill>
                <a:latin typeface="Arial"/>
                <a:ea typeface="Arial"/>
                <a:cs typeface="Arial"/>
                <a:sym typeface="Arial"/>
              </a:rPr>
              <a:t>VICTORY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/>
          <p:nvPr/>
        </p:nvSpPr>
        <p:spPr>
          <a:xfrm>
            <a:off x="9271843" y="9829800"/>
            <a:ext cx="358936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7일차 누적 매출 1위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"/>
          <p:cNvSpPr/>
          <p:nvPr/>
        </p:nvSpPr>
        <p:spPr>
          <a:xfrm>
            <a:off x="12820650" y="1510605"/>
            <a:ext cx="4953000" cy="7690545"/>
          </a:xfrm>
          <a:prstGeom prst="rect">
            <a:avLst/>
          </a:prstGeom>
          <a:solidFill>
            <a:srgbClr val="0E0905">
              <a:alpha val="72157"/>
            </a:srgbClr>
          </a:solidFill>
          <a:ln cap="flat" cmpd="sng" w="9525">
            <a:solidFill>
              <a:srgbClr val="C697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"/>
          <p:cNvSpPr/>
          <p:nvPr/>
        </p:nvSpPr>
        <p:spPr>
          <a:xfrm>
            <a:off x="12830175" y="1948755"/>
            <a:ext cx="4933950" cy="9525"/>
          </a:xfrm>
          <a:prstGeom prst="rect">
            <a:avLst/>
          </a:prstGeom>
          <a:solidFill>
            <a:srgbClr val="C6974A">
              <a:alpha val="2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"/>
          <p:cNvSpPr/>
          <p:nvPr/>
        </p:nvSpPr>
        <p:spPr>
          <a:xfrm>
            <a:off x="13020675" y="1682055"/>
            <a:ext cx="13182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MAP SELECT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16108263" y="1653480"/>
            <a:ext cx="1611898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맵마다 리젠 재료가 다르다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/>
          <p:nvPr/>
        </p:nvSpPr>
        <p:spPr>
          <a:xfrm>
            <a:off x="13020675" y="2148780"/>
            <a:ext cx="4552950" cy="6185595"/>
          </a:xfrm>
          <a:prstGeom prst="rect">
            <a:avLst/>
          </a:prstGeom>
          <a:solidFill>
            <a:srgbClr val="F2E3CB">
              <a:alpha val="7843"/>
            </a:srgbClr>
          </a:solidFill>
          <a:ln cap="flat" cmpd="sng" w="9525">
            <a:solidFill>
              <a:srgbClr val="F2E3CB">
                <a:alpha val="1607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"/>
          <p:cNvSpPr/>
          <p:nvPr/>
        </p:nvSpPr>
        <p:spPr>
          <a:xfrm>
            <a:off x="14237643" y="5059710"/>
            <a:ext cx="219521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7333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맵 썸네일 — 동심원 숲 · 4팀 카페 배치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/>
          <p:nvPr/>
        </p:nvSpPr>
        <p:spPr>
          <a:xfrm>
            <a:off x="15019883" y="5270153"/>
            <a:ext cx="63058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7333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1024×576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/>
          <p:nvPr/>
        </p:nvSpPr>
        <p:spPr>
          <a:xfrm>
            <a:off x="12830175" y="8524875"/>
            <a:ext cx="4933950" cy="9525"/>
          </a:xfrm>
          <a:prstGeom prst="rect">
            <a:avLst/>
          </a:prstGeom>
          <a:solidFill>
            <a:srgbClr val="F2E3CB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"/>
          <p:cNvSpPr/>
          <p:nvPr/>
        </p:nvSpPr>
        <p:spPr>
          <a:xfrm>
            <a:off x="13020675" y="8667750"/>
            <a:ext cx="2797493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REGEN POOL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"/>
          <p:cNvSpPr/>
          <p:nvPr/>
        </p:nvSpPr>
        <p:spPr>
          <a:xfrm>
            <a:off x="13020675" y="8820150"/>
            <a:ext cx="27974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우유 · 초콜렛 · 얼음 · 베리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"/>
          <p:cNvSpPr/>
          <p:nvPr/>
        </p:nvSpPr>
        <p:spPr>
          <a:xfrm>
            <a:off x="15754350" y="8534400"/>
            <a:ext cx="9525" cy="657225"/>
          </a:xfrm>
          <a:prstGeom prst="rect">
            <a:avLst/>
          </a:prstGeom>
          <a:solidFill>
            <a:srgbClr val="F2E3CB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"/>
          <p:cNvSpPr/>
          <p:nvPr/>
        </p:nvSpPr>
        <p:spPr>
          <a:xfrm>
            <a:off x="15954375" y="8667750"/>
            <a:ext cx="178117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563F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D9563F"/>
                </a:solidFill>
                <a:latin typeface="Arial"/>
                <a:ea typeface="Arial"/>
                <a:cs typeface="Arial"/>
                <a:sym typeface="Arial"/>
              </a:rPr>
              <a:t>BLOOD BEAN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"/>
          <p:cNvSpPr/>
          <p:nvPr/>
        </p:nvSpPr>
        <p:spPr>
          <a:xfrm>
            <a:off x="15954375" y="8820150"/>
            <a:ext cx="17811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3등급 한정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"/>
          <p:cNvSpPr/>
          <p:nvPr/>
        </p:nvSpPr>
        <p:spPr>
          <a:xfrm>
            <a:off x="12820650" y="9372600"/>
            <a:ext cx="1847850" cy="647700"/>
          </a:xfrm>
          <a:prstGeom prst="rect">
            <a:avLst/>
          </a:prstGeom>
          <a:noFill/>
          <a:ln cap="flat" cmpd="sng" w="9525">
            <a:solidFill>
              <a:srgbClr val="F2E3CB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"/>
          <p:cNvSpPr/>
          <p:nvPr/>
        </p:nvSpPr>
        <p:spPr>
          <a:xfrm>
            <a:off x="12944475" y="9534525"/>
            <a:ext cx="16002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설정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"/>
          <p:cNvSpPr/>
          <p:nvPr/>
        </p:nvSpPr>
        <p:spPr>
          <a:xfrm>
            <a:off x="14801850" y="9372600"/>
            <a:ext cx="3092500" cy="647700"/>
          </a:xfrm>
          <a:prstGeom prst="rect">
            <a:avLst/>
          </a:prstGeom>
          <a:solidFill>
            <a:srgbClr val="C697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"/>
          <p:cNvSpPr/>
          <p:nvPr/>
        </p:nvSpPr>
        <p:spPr>
          <a:xfrm>
            <a:off x="14954250" y="9525000"/>
            <a:ext cx="342900" cy="342900"/>
          </a:xfrm>
          <a:prstGeom prst="rect">
            <a:avLst/>
          </a:prstGeom>
          <a:noFill/>
          <a:ln cap="flat" cmpd="sng" w="19050">
            <a:solidFill>
              <a:srgbClr val="170F0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1"/>
          <p:cNvSpPr/>
          <p:nvPr/>
        </p:nvSpPr>
        <p:spPr>
          <a:xfrm>
            <a:off x="14935200" y="9544050"/>
            <a:ext cx="381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0F07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70F07"/>
                </a:solidFill>
                <a:latin typeface="Arial"/>
                <a:ea typeface="Arial"/>
                <a:cs typeface="Arial"/>
                <a:sym typeface="Arial"/>
              </a:rPr>
              <a:t>↵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"/>
          <p:cNvSpPr/>
          <p:nvPr/>
        </p:nvSpPr>
        <p:spPr>
          <a:xfrm>
            <a:off x="15314928" y="9544050"/>
            <a:ext cx="2542595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0F0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70F07"/>
                </a:solidFill>
                <a:latin typeface="Arial"/>
                <a:ea typeface="Arial"/>
                <a:cs typeface="Arial"/>
                <a:sym typeface="Arial"/>
              </a:rPr>
              <a:t>게임 시작 — 첫 밤으로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805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20C0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6E4A2B"/>
              </a:gs>
              <a:gs pos="48000">
                <a:srgbClr val="3A2515"/>
              </a:gs>
              <a:gs pos="85000">
                <a:srgbClr val="170E08"/>
              </a:gs>
              <a:gs pos="100000">
                <a:srgbClr val="170E08"/>
              </a:gs>
            </a:gsLst>
            <a:path path="circle">
              <a:fillToRect b="100%" l="0%" r="100%" t="0%"/>
            </a:path>
            <a:tileRect b="0%" l="-100%" r="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 rotWithShape="1">
            <a:blip r:embed="rId3">
              <a:alphaModFix/>
            </a:blip>
            <a:tile algn="tl" flip="none" tx="0" sx="100000" ty="0" sy="10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514350" y="933450"/>
            <a:ext cx="17259300" cy="9525"/>
          </a:xfrm>
          <a:prstGeom prst="rect">
            <a:avLst/>
          </a:prstGeom>
          <a:solidFill>
            <a:srgbClr val="C6974A">
              <a:alpha val="3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514350" y="619125"/>
            <a:ext cx="2756401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CHARACTER SELECT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/>
          <p:nvPr/>
        </p:nvSpPr>
        <p:spPr>
          <a:xfrm>
            <a:off x="3191619" y="590550"/>
            <a:ext cx="2950071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팀 내 중복 픽 금지 · 발동 키 없는 상시 패시브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2"/>
          <p:cNvSpPr/>
          <p:nvPr/>
        </p:nvSpPr>
        <p:spPr>
          <a:xfrm>
            <a:off x="15993666" y="471488"/>
            <a:ext cx="888057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짝꿍 선택 대기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"/>
          <p:cNvSpPr/>
          <p:nvPr/>
        </p:nvSpPr>
        <p:spPr>
          <a:xfrm>
            <a:off x="16957923" y="342900"/>
            <a:ext cx="891927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D9563F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D9563F"/>
                </a:solidFill>
                <a:latin typeface="Arial"/>
                <a:ea typeface="Arial"/>
                <a:cs typeface="Arial"/>
                <a:sym typeface="Arial"/>
              </a:rPr>
              <a:t>0:18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2"/>
          <p:cNvSpPr/>
          <p:nvPr/>
        </p:nvSpPr>
        <p:spPr>
          <a:xfrm>
            <a:off x="514350" y="1190625"/>
            <a:ext cx="2747963" cy="4348163"/>
          </a:xfrm>
          <a:prstGeom prst="rect">
            <a:avLst/>
          </a:prstGeom>
          <a:solidFill>
            <a:srgbClr val="0E0905">
              <a:alpha val="70196"/>
            </a:srgbClr>
          </a:solidFill>
          <a:ln cap="flat" cmpd="sng" w="9525">
            <a:solidFill>
              <a:srgbClr val="C6974A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2"/>
          <p:cNvSpPr/>
          <p:nvPr/>
        </p:nvSpPr>
        <p:spPr>
          <a:xfrm>
            <a:off x="657225" y="1333500"/>
            <a:ext cx="2462213" cy="3376613"/>
          </a:xfrm>
          <a:prstGeom prst="rect">
            <a:avLst/>
          </a:prstGeom>
          <a:solidFill>
            <a:srgbClr val="F2E3CB">
              <a:alpha val="10196"/>
            </a:srgbClr>
          </a:solidFill>
          <a:ln cap="flat" cmpd="sng" w="9525">
            <a:solidFill>
              <a:srgbClr val="F2E3CB">
                <a:alpha val="1607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2"/>
          <p:cNvSpPr/>
          <p:nvPr/>
        </p:nvSpPr>
        <p:spPr>
          <a:xfrm>
            <a:off x="534114" y="4805363"/>
            <a:ext cx="2708434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잰걸음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"/>
          <p:cNvSpPr/>
          <p:nvPr/>
        </p:nvSpPr>
        <p:spPr>
          <a:xfrm>
            <a:off x="657225" y="5157788"/>
            <a:ext cx="1193006" cy="238125"/>
          </a:xfrm>
          <a:prstGeom prst="rect">
            <a:avLst/>
          </a:prstGeom>
          <a:noFill/>
          <a:ln cap="flat" cmpd="sng" w="9525">
            <a:solidFill>
              <a:srgbClr val="E9B85C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2"/>
          <p:cNvSpPr/>
          <p:nvPr/>
        </p:nvSpPr>
        <p:spPr>
          <a:xfrm>
            <a:off x="628650" y="5214938"/>
            <a:ext cx="1250156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낮 잰걸음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2"/>
          <p:cNvSpPr/>
          <p:nvPr/>
        </p:nvSpPr>
        <p:spPr>
          <a:xfrm>
            <a:off x="1926431" y="5157788"/>
            <a:ext cx="1193006" cy="238125"/>
          </a:xfrm>
          <a:prstGeom prst="rect">
            <a:avLst/>
          </a:prstGeom>
          <a:noFill/>
          <a:ln cap="flat" cmpd="sng" w="9525">
            <a:solidFill>
              <a:srgbClr val="7CAFD9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"/>
          <p:cNvSpPr/>
          <p:nvPr/>
        </p:nvSpPr>
        <p:spPr>
          <a:xfrm>
            <a:off x="1897856" y="5214938"/>
            <a:ext cx="1250156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AFD9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7CAFD9"/>
                </a:solidFill>
                <a:latin typeface="Arial"/>
                <a:ea typeface="Arial"/>
                <a:cs typeface="Arial"/>
                <a:sym typeface="Arial"/>
              </a:rPr>
              <a:t>밤 손재주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/>
          <p:nvPr/>
        </p:nvSpPr>
        <p:spPr>
          <a:xfrm>
            <a:off x="3414713" y="1190625"/>
            <a:ext cx="2747963" cy="4348163"/>
          </a:xfrm>
          <a:prstGeom prst="rect">
            <a:avLst/>
          </a:prstGeom>
          <a:solidFill>
            <a:srgbClr val="0E0905">
              <a:alpha val="70196"/>
            </a:srgbClr>
          </a:solidFill>
          <a:ln cap="flat" cmpd="sng" w="9525">
            <a:solidFill>
              <a:srgbClr val="C6974A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"/>
          <p:cNvSpPr/>
          <p:nvPr/>
        </p:nvSpPr>
        <p:spPr>
          <a:xfrm>
            <a:off x="3557588" y="1333500"/>
            <a:ext cx="2462213" cy="3376613"/>
          </a:xfrm>
          <a:prstGeom prst="rect">
            <a:avLst/>
          </a:prstGeom>
          <a:solidFill>
            <a:srgbClr val="F2E3CB">
              <a:alpha val="10196"/>
            </a:srgbClr>
          </a:solidFill>
          <a:ln cap="flat" cmpd="sng" w="9525">
            <a:solidFill>
              <a:srgbClr val="F2E3CB">
                <a:alpha val="1607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2"/>
          <p:cNvSpPr/>
          <p:nvPr/>
        </p:nvSpPr>
        <p:spPr>
          <a:xfrm>
            <a:off x="3434477" y="4805363"/>
            <a:ext cx="2708434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인기 카페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"/>
          <p:cNvSpPr/>
          <p:nvPr/>
        </p:nvSpPr>
        <p:spPr>
          <a:xfrm>
            <a:off x="3557588" y="5157788"/>
            <a:ext cx="1193006" cy="238125"/>
          </a:xfrm>
          <a:prstGeom prst="rect">
            <a:avLst/>
          </a:prstGeom>
          <a:noFill/>
          <a:ln cap="flat" cmpd="sng" w="9525">
            <a:solidFill>
              <a:srgbClr val="E9B85C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2"/>
          <p:cNvSpPr/>
          <p:nvPr/>
        </p:nvSpPr>
        <p:spPr>
          <a:xfrm>
            <a:off x="3529013" y="5214938"/>
            <a:ext cx="1250156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낮 인기 카페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2"/>
          <p:cNvSpPr/>
          <p:nvPr/>
        </p:nvSpPr>
        <p:spPr>
          <a:xfrm>
            <a:off x="4826794" y="5157788"/>
            <a:ext cx="1193006" cy="238125"/>
          </a:xfrm>
          <a:prstGeom prst="rect">
            <a:avLst/>
          </a:prstGeom>
          <a:noFill/>
          <a:ln cap="flat" cmpd="sng" w="9525">
            <a:solidFill>
              <a:srgbClr val="7CAFD9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2"/>
          <p:cNvSpPr/>
          <p:nvPr/>
        </p:nvSpPr>
        <p:spPr>
          <a:xfrm>
            <a:off x="4798219" y="5214938"/>
            <a:ext cx="1250156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AFD9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7CAFD9"/>
                </a:solidFill>
                <a:latin typeface="Arial"/>
                <a:ea typeface="Arial"/>
                <a:cs typeface="Arial"/>
                <a:sym typeface="Arial"/>
              </a:rPr>
              <a:t>밤 야행성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"/>
          <p:cNvSpPr/>
          <p:nvPr/>
        </p:nvSpPr>
        <p:spPr>
          <a:xfrm>
            <a:off x="3424238" y="1200150"/>
            <a:ext cx="2728913" cy="4329113"/>
          </a:xfrm>
          <a:prstGeom prst="rect">
            <a:avLst/>
          </a:prstGeom>
          <a:solidFill>
            <a:srgbClr val="080503">
              <a:alpha val="6588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"/>
          <p:cNvSpPr/>
          <p:nvPr/>
        </p:nvSpPr>
        <p:spPr>
          <a:xfrm>
            <a:off x="6315075" y="1190625"/>
            <a:ext cx="2747963" cy="4348163"/>
          </a:xfrm>
          <a:prstGeom prst="rect">
            <a:avLst/>
          </a:prstGeom>
          <a:solidFill>
            <a:srgbClr val="0E0905">
              <a:alpha val="70196"/>
            </a:srgbClr>
          </a:solidFill>
          <a:ln cap="flat" cmpd="sng" w="9525">
            <a:solidFill>
              <a:srgbClr val="C6974A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"/>
          <p:cNvSpPr/>
          <p:nvPr/>
        </p:nvSpPr>
        <p:spPr>
          <a:xfrm>
            <a:off x="6457950" y="1333500"/>
            <a:ext cx="2462213" cy="3376613"/>
          </a:xfrm>
          <a:prstGeom prst="rect">
            <a:avLst/>
          </a:prstGeom>
          <a:solidFill>
            <a:srgbClr val="F2E3CB">
              <a:alpha val="10196"/>
            </a:srgbClr>
          </a:solidFill>
          <a:ln cap="flat" cmpd="sng" w="9525">
            <a:solidFill>
              <a:srgbClr val="F2E3CB">
                <a:alpha val="1607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"/>
          <p:cNvSpPr/>
          <p:nvPr/>
        </p:nvSpPr>
        <p:spPr>
          <a:xfrm>
            <a:off x="6334839" y="4805363"/>
            <a:ext cx="2708434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깔끔쟁이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"/>
          <p:cNvSpPr/>
          <p:nvPr/>
        </p:nvSpPr>
        <p:spPr>
          <a:xfrm>
            <a:off x="6457950" y="5157788"/>
            <a:ext cx="1193006" cy="238125"/>
          </a:xfrm>
          <a:prstGeom prst="rect">
            <a:avLst/>
          </a:prstGeom>
          <a:noFill/>
          <a:ln cap="flat" cmpd="sng" w="9525">
            <a:solidFill>
              <a:srgbClr val="E9B85C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2"/>
          <p:cNvSpPr/>
          <p:nvPr/>
        </p:nvSpPr>
        <p:spPr>
          <a:xfrm>
            <a:off x="6429375" y="5214938"/>
            <a:ext cx="1250156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낮 깔끔쟁이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"/>
          <p:cNvSpPr/>
          <p:nvPr/>
        </p:nvSpPr>
        <p:spPr>
          <a:xfrm>
            <a:off x="7727156" y="5157788"/>
            <a:ext cx="1193006" cy="238125"/>
          </a:xfrm>
          <a:prstGeom prst="rect">
            <a:avLst/>
          </a:prstGeom>
          <a:noFill/>
          <a:ln cap="flat" cmpd="sng" w="9525">
            <a:solidFill>
              <a:srgbClr val="7CAFD9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2"/>
          <p:cNvSpPr/>
          <p:nvPr/>
        </p:nvSpPr>
        <p:spPr>
          <a:xfrm>
            <a:off x="7698581" y="5214938"/>
            <a:ext cx="1250156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AFD9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7CAFD9"/>
                </a:solidFill>
                <a:latin typeface="Arial"/>
                <a:ea typeface="Arial"/>
                <a:cs typeface="Arial"/>
                <a:sym typeface="Arial"/>
              </a:rPr>
              <a:t>밤 빠른 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"/>
          <p:cNvSpPr/>
          <p:nvPr/>
        </p:nvSpPr>
        <p:spPr>
          <a:xfrm>
            <a:off x="9215438" y="1190625"/>
            <a:ext cx="2747963" cy="4348163"/>
          </a:xfrm>
          <a:prstGeom prst="rect">
            <a:avLst/>
          </a:prstGeom>
          <a:solidFill>
            <a:srgbClr val="0E0905">
              <a:alpha val="70196"/>
            </a:srgbClr>
          </a:solidFill>
          <a:ln cap="flat" cmpd="sng" w="9525">
            <a:solidFill>
              <a:srgbClr val="C6974A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2"/>
          <p:cNvSpPr/>
          <p:nvPr/>
        </p:nvSpPr>
        <p:spPr>
          <a:xfrm>
            <a:off x="9358313" y="1333500"/>
            <a:ext cx="2462213" cy="3376613"/>
          </a:xfrm>
          <a:prstGeom prst="rect">
            <a:avLst/>
          </a:prstGeom>
          <a:solidFill>
            <a:srgbClr val="F2E3CB">
              <a:alpha val="10196"/>
            </a:srgbClr>
          </a:solidFill>
          <a:ln cap="flat" cmpd="sng" w="9525">
            <a:solidFill>
              <a:srgbClr val="F2E3CB">
                <a:alpha val="1607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"/>
          <p:cNvSpPr/>
          <p:nvPr/>
        </p:nvSpPr>
        <p:spPr>
          <a:xfrm>
            <a:off x="9235202" y="4805363"/>
            <a:ext cx="2708434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양손잡이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"/>
          <p:cNvSpPr/>
          <p:nvPr/>
        </p:nvSpPr>
        <p:spPr>
          <a:xfrm>
            <a:off x="9358313" y="5157788"/>
            <a:ext cx="1193006" cy="238125"/>
          </a:xfrm>
          <a:prstGeom prst="rect">
            <a:avLst/>
          </a:prstGeom>
          <a:noFill/>
          <a:ln cap="flat" cmpd="sng" w="9525">
            <a:solidFill>
              <a:srgbClr val="E9B85C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2"/>
          <p:cNvSpPr/>
          <p:nvPr/>
        </p:nvSpPr>
        <p:spPr>
          <a:xfrm>
            <a:off x="9329738" y="5214938"/>
            <a:ext cx="1250156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낮 양손잡이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"/>
          <p:cNvSpPr/>
          <p:nvPr/>
        </p:nvSpPr>
        <p:spPr>
          <a:xfrm>
            <a:off x="10627519" y="5157788"/>
            <a:ext cx="1193006" cy="238125"/>
          </a:xfrm>
          <a:prstGeom prst="rect">
            <a:avLst/>
          </a:prstGeom>
          <a:noFill/>
          <a:ln cap="flat" cmpd="sng" w="9525">
            <a:solidFill>
              <a:srgbClr val="7CAFD9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"/>
          <p:cNvSpPr/>
          <p:nvPr/>
        </p:nvSpPr>
        <p:spPr>
          <a:xfrm>
            <a:off x="10598944" y="5214938"/>
            <a:ext cx="1250156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AFD9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7CAFD9"/>
                </a:solidFill>
                <a:latin typeface="Arial"/>
                <a:ea typeface="Arial"/>
                <a:cs typeface="Arial"/>
                <a:sym typeface="Arial"/>
              </a:rPr>
              <a:t>밤 개코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"/>
          <p:cNvSpPr/>
          <p:nvPr/>
        </p:nvSpPr>
        <p:spPr>
          <a:xfrm>
            <a:off x="514350" y="5691188"/>
            <a:ext cx="2747963" cy="4348163"/>
          </a:xfrm>
          <a:prstGeom prst="rect">
            <a:avLst/>
          </a:prstGeom>
          <a:solidFill>
            <a:srgbClr val="0E0905">
              <a:alpha val="70196"/>
            </a:srgbClr>
          </a:solidFill>
          <a:ln cap="flat" cmpd="sng" w="9525">
            <a:solidFill>
              <a:srgbClr val="E9B85C">
                <a:alpha val="8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2"/>
          <p:cNvSpPr/>
          <p:nvPr/>
        </p:nvSpPr>
        <p:spPr>
          <a:xfrm>
            <a:off x="657225" y="5834063"/>
            <a:ext cx="2462213" cy="3376613"/>
          </a:xfrm>
          <a:prstGeom prst="rect">
            <a:avLst/>
          </a:prstGeom>
          <a:solidFill>
            <a:srgbClr val="F2E3CB">
              <a:alpha val="10196"/>
            </a:srgbClr>
          </a:solidFill>
          <a:ln cap="flat" cmpd="sng" w="9525">
            <a:solidFill>
              <a:srgbClr val="F2E3CB">
                <a:alpha val="1607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2"/>
          <p:cNvSpPr/>
          <p:nvPr/>
        </p:nvSpPr>
        <p:spPr>
          <a:xfrm>
            <a:off x="534114" y="9305925"/>
            <a:ext cx="2708434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얼음 장인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"/>
          <p:cNvSpPr/>
          <p:nvPr/>
        </p:nvSpPr>
        <p:spPr>
          <a:xfrm>
            <a:off x="657225" y="9658350"/>
            <a:ext cx="1193006" cy="238125"/>
          </a:xfrm>
          <a:prstGeom prst="rect">
            <a:avLst/>
          </a:prstGeom>
          <a:noFill/>
          <a:ln cap="flat" cmpd="sng" w="9525">
            <a:solidFill>
              <a:srgbClr val="E9B85C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2"/>
          <p:cNvSpPr/>
          <p:nvPr/>
        </p:nvSpPr>
        <p:spPr>
          <a:xfrm>
            <a:off x="628650" y="9715500"/>
            <a:ext cx="1250156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낮 얼음 장인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2"/>
          <p:cNvSpPr/>
          <p:nvPr/>
        </p:nvSpPr>
        <p:spPr>
          <a:xfrm>
            <a:off x="1926431" y="9658350"/>
            <a:ext cx="1193006" cy="238125"/>
          </a:xfrm>
          <a:prstGeom prst="rect">
            <a:avLst/>
          </a:prstGeom>
          <a:noFill/>
          <a:ln cap="flat" cmpd="sng" w="9525">
            <a:solidFill>
              <a:srgbClr val="7CAFD9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2"/>
          <p:cNvSpPr/>
          <p:nvPr/>
        </p:nvSpPr>
        <p:spPr>
          <a:xfrm>
            <a:off x="1897856" y="9715500"/>
            <a:ext cx="1250156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AFD9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7CAFD9"/>
                </a:solidFill>
                <a:latin typeface="Arial"/>
                <a:ea typeface="Arial"/>
                <a:cs typeface="Arial"/>
                <a:sym typeface="Arial"/>
              </a:rPr>
              <a:t>밤 짐꾼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"/>
          <p:cNvSpPr/>
          <p:nvPr/>
        </p:nvSpPr>
        <p:spPr>
          <a:xfrm>
            <a:off x="3414713" y="5691188"/>
            <a:ext cx="2747963" cy="4348163"/>
          </a:xfrm>
          <a:prstGeom prst="rect">
            <a:avLst/>
          </a:prstGeom>
          <a:solidFill>
            <a:srgbClr val="0E0905">
              <a:alpha val="70196"/>
            </a:srgbClr>
          </a:solidFill>
          <a:ln cap="flat" cmpd="sng" w="9525">
            <a:solidFill>
              <a:srgbClr val="C6974A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2"/>
          <p:cNvSpPr/>
          <p:nvPr/>
        </p:nvSpPr>
        <p:spPr>
          <a:xfrm>
            <a:off x="3557588" y="5834063"/>
            <a:ext cx="2462213" cy="3376613"/>
          </a:xfrm>
          <a:prstGeom prst="rect">
            <a:avLst/>
          </a:prstGeom>
          <a:solidFill>
            <a:srgbClr val="F2E3CB">
              <a:alpha val="10196"/>
            </a:srgbClr>
          </a:solidFill>
          <a:ln cap="flat" cmpd="sng" w="9525">
            <a:solidFill>
              <a:srgbClr val="F2E3CB">
                <a:alpha val="1607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2"/>
          <p:cNvSpPr/>
          <p:nvPr/>
        </p:nvSpPr>
        <p:spPr>
          <a:xfrm>
            <a:off x="3434477" y="9305925"/>
            <a:ext cx="2708434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붙임성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"/>
          <p:cNvSpPr/>
          <p:nvPr/>
        </p:nvSpPr>
        <p:spPr>
          <a:xfrm>
            <a:off x="3557588" y="9658350"/>
            <a:ext cx="1193006" cy="238125"/>
          </a:xfrm>
          <a:prstGeom prst="rect">
            <a:avLst/>
          </a:prstGeom>
          <a:noFill/>
          <a:ln cap="flat" cmpd="sng" w="9525">
            <a:solidFill>
              <a:srgbClr val="E9B85C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"/>
          <p:cNvSpPr/>
          <p:nvPr/>
        </p:nvSpPr>
        <p:spPr>
          <a:xfrm>
            <a:off x="3529013" y="9715500"/>
            <a:ext cx="1250156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낮 붙임성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"/>
          <p:cNvSpPr/>
          <p:nvPr/>
        </p:nvSpPr>
        <p:spPr>
          <a:xfrm>
            <a:off x="4826794" y="9658350"/>
            <a:ext cx="1193006" cy="238125"/>
          </a:xfrm>
          <a:prstGeom prst="rect">
            <a:avLst/>
          </a:prstGeom>
          <a:noFill/>
          <a:ln cap="flat" cmpd="sng" w="9525">
            <a:solidFill>
              <a:srgbClr val="7CAFD9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2"/>
          <p:cNvSpPr/>
          <p:nvPr/>
        </p:nvSpPr>
        <p:spPr>
          <a:xfrm>
            <a:off x="4798219" y="9715500"/>
            <a:ext cx="1250156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AFD9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7CAFD9"/>
                </a:solidFill>
                <a:latin typeface="Arial"/>
                <a:ea typeface="Arial"/>
                <a:cs typeface="Arial"/>
                <a:sym typeface="Arial"/>
              </a:rPr>
              <a:t>밤 손버릇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"/>
          <p:cNvSpPr/>
          <p:nvPr/>
        </p:nvSpPr>
        <p:spPr>
          <a:xfrm>
            <a:off x="6315075" y="5691188"/>
            <a:ext cx="2747963" cy="4348163"/>
          </a:xfrm>
          <a:prstGeom prst="rect">
            <a:avLst/>
          </a:prstGeom>
          <a:solidFill>
            <a:srgbClr val="0E0905">
              <a:alpha val="70196"/>
            </a:srgbClr>
          </a:solidFill>
          <a:ln cap="flat" cmpd="sng" w="9525">
            <a:solidFill>
              <a:srgbClr val="C6974A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2"/>
          <p:cNvSpPr/>
          <p:nvPr/>
        </p:nvSpPr>
        <p:spPr>
          <a:xfrm>
            <a:off x="6457950" y="5834063"/>
            <a:ext cx="2462213" cy="3376613"/>
          </a:xfrm>
          <a:prstGeom prst="rect">
            <a:avLst/>
          </a:prstGeom>
          <a:solidFill>
            <a:srgbClr val="F2E3CB">
              <a:alpha val="10196"/>
            </a:srgbClr>
          </a:solidFill>
          <a:ln cap="flat" cmpd="sng" w="9525">
            <a:solidFill>
              <a:srgbClr val="F2E3CB">
                <a:alpha val="1607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"/>
          <p:cNvSpPr/>
          <p:nvPr/>
        </p:nvSpPr>
        <p:spPr>
          <a:xfrm>
            <a:off x="6334839" y="9305925"/>
            <a:ext cx="2708434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강심장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"/>
          <p:cNvSpPr/>
          <p:nvPr/>
        </p:nvSpPr>
        <p:spPr>
          <a:xfrm>
            <a:off x="6457950" y="9658350"/>
            <a:ext cx="1193006" cy="238125"/>
          </a:xfrm>
          <a:prstGeom prst="rect">
            <a:avLst/>
          </a:prstGeom>
          <a:noFill/>
          <a:ln cap="flat" cmpd="sng" w="9525">
            <a:solidFill>
              <a:srgbClr val="E9B85C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2"/>
          <p:cNvSpPr/>
          <p:nvPr/>
        </p:nvSpPr>
        <p:spPr>
          <a:xfrm>
            <a:off x="6429375" y="9715500"/>
            <a:ext cx="1250156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낮 강심장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"/>
          <p:cNvSpPr/>
          <p:nvPr/>
        </p:nvSpPr>
        <p:spPr>
          <a:xfrm>
            <a:off x="7727156" y="9658350"/>
            <a:ext cx="1193006" cy="238125"/>
          </a:xfrm>
          <a:prstGeom prst="rect">
            <a:avLst/>
          </a:prstGeom>
          <a:noFill/>
          <a:ln cap="flat" cmpd="sng" w="9525">
            <a:solidFill>
              <a:srgbClr val="7CAFD9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2"/>
          <p:cNvSpPr/>
          <p:nvPr/>
        </p:nvSpPr>
        <p:spPr>
          <a:xfrm>
            <a:off x="7698581" y="9715500"/>
            <a:ext cx="1250156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AFD9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7CAFD9"/>
                </a:solidFill>
                <a:latin typeface="Arial"/>
                <a:ea typeface="Arial"/>
                <a:cs typeface="Arial"/>
                <a:sym typeface="Arial"/>
              </a:rPr>
              <a:t>밤 뚝심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"/>
          <p:cNvSpPr/>
          <p:nvPr/>
        </p:nvSpPr>
        <p:spPr>
          <a:xfrm>
            <a:off x="6324600" y="5700713"/>
            <a:ext cx="2728913" cy="4329113"/>
          </a:xfrm>
          <a:prstGeom prst="rect">
            <a:avLst/>
          </a:prstGeom>
          <a:solidFill>
            <a:srgbClr val="080503">
              <a:alpha val="6588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2"/>
          <p:cNvSpPr/>
          <p:nvPr/>
        </p:nvSpPr>
        <p:spPr>
          <a:xfrm>
            <a:off x="9215438" y="5691188"/>
            <a:ext cx="2747963" cy="4348163"/>
          </a:xfrm>
          <a:prstGeom prst="rect">
            <a:avLst/>
          </a:prstGeom>
          <a:solidFill>
            <a:srgbClr val="0E0905">
              <a:alpha val="70196"/>
            </a:srgbClr>
          </a:solidFill>
          <a:ln cap="flat" cmpd="sng" w="9525">
            <a:solidFill>
              <a:srgbClr val="C6974A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2"/>
          <p:cNvSpPr/>
          <p:nvPr/>
        </p:nvSpPr>
        <p:spPr>
          <a:xfrm>
            <a:off x="9358313" y="5834063"/>
            <a:ext cx="2462213" cy="3376613"/>
          </a:xfrm>
          <a:prstGeom prst="rect">
            <a:avLst/>
          </a:prstGeom>
          <a:solidFill>
            <a:srgbClr val="F2E3CB">
              <a:alpha val="10196"/>
            </a:srgbClr>
          </a:solidFill>
          <a:ln cap="flat" cmpd="sng" w="9525">
            <a:solidFill>
              <a:srgbClr val="F2E3CB">
                <a:alpha val="1607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2"/>
          <p:cNvSpPr/>
          <p:nvPr/>
        </p:nvSpPr>
        <p:spPr>
          <a:xfrm>
            <a:off x="9235202" y="9305925"/>
            <a:ext cx="2708434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제빵사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"/>
          <p:cNvSpPr/>
          <p:nvPr/>
        </p:nvSpPr>
        <p:spPr>
          <a:xfrm>
            <a:off x="9358313" y="9658350"/>
            <a:ext cx="1193006" cy="238125"/>
          </a:xfrm>
          <a:prstGeom prst="rect">
            <a:avLst/>
          </a:prstGeom>
          <a:noFill/>
          <a:ln cap="flat" cmpd="sng" w="9525">
            <a:solidFill>
              <a:srgbClr val="E9B85C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2"/>
          <p:cNvSpPr/>
          <p:nvPr/>
        </p:nvSpPr>
        <p:spPr>
          <a:xfrm>
            <a:off x="9329738" y="9715500"/>
            <a:ext cx="1250156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낮 제빵사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"/>
          <p:cNvSpPr/>
          <p:nvPr/>
        </p:nvSpPr>
        <p:spPr>
          <a:xfrm>
            <a:off x="10627519" y="9658350"/>
            <a:ext cx="1193006" cy="238125"/>
          </a:xfrm>
          <a:prstGeom prst="rect">
            <a:avLst/>
          </a:prstGeom>
          <a:noFill/>
          <a:ln cap="flat" cmpd="sng" w="9525">
            <a:solidFill>
              <a:srgbClr val="7CAFD9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2"/>
          <p:cNvSpPr/>
          <p:nvPr/>
        </p:nvSpPr>
        <p:spPr>
          <a:xfrm>
            <a:off x="10598944" y="9715500"/>
            <a:ext cx="1250156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AFD9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7CAFD9"/>
                </a:solidFill>
                <a:latin typeface="Arial"/>
                <a:ea typeface="Arial"/>
                <a:cs typeface="Arial"/>
                <a:sym typeface="Arial"/>
              </a:rPr>
              <a:t>밤 야행성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"/>
          <p:cNvSpPr/>
          <p:nvPr/>
        </p:nvSpPr>
        <p:spPr>
          <a:xfrm>
            <a:off x="12249150" y="1190625"/>
            <a:ext cx="5524500" cy="8077200"/>
          </a:xfrm>
          <a:prstGeom prst="rect">
            <a:avLst/>
          </a:prstGeom>
          <a:solidFill>
            <a:srgbClr val="0E0905">
              <a:alpha val="72157"/>
            </a:srgbClr>
          </a:solidFill>
          <a:ln cap="flat" cmpd="sng" w="9525">
            <a:solidFill>
              <a:srgbClr val="C697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2"/>
          <p:cNvSpPr/>
          <p:nvPr/>
        </p:nvSpPr>
        <p:spPr>
          <a:xfrm>
            <a:off x="12449175" y="1390650"/>
            <a:ext cx="2019300" cy="7677150"/>
          </a:xfrm>
          <a:prstGeom prst="rect">
            <a:avLst/>
          </a:prstGeom>
          <a:solidFill>
            <a:srgbClr val="F2E3CB">
              <a:alpha val="7843"/>
            </a:srgbClr>
          </a:solidFill>
          <a:ln cap="flat" cmpd="sng" w="9525">
            <a:solidFill>
              <a:srgbClr val="F2E3CB">
                <a:alpha val="1607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2"/>
          <p:cNvSpPr/>
          <p:nvPr/>
        </p:nvSpPr>
        <p:spPr>
          <a:xfrm>
            <a:off x="13287375" y="4966395"/>
            <a:ext cx="4191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5714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캐릭터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"/>
          <p:cNvSpPr/>
          <p:nvPr/>
        </p:nvSpPr>
        <p:spPr>
          <a:xfrm>
            <a:off x="13214300" y="5160615"/>
            <a:ext cx="56524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5714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전신 렌더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"/>
          <p:cNvSpPr/>
          <p:nvPr/>
        </p:nvSpPr>
        <p:spPr>
          <a:xfrm>
            <a:off x="13234690" y="5354836"/>
            <a:ext cx="5244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5714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420×760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"/>
          <p:cNvSpPr/>
          <p:nvPr/>
        </p:nvSpPr>
        <p:spPr>
          <a:xfrm>
            <a:off x="14658975" y="1428750"/>
            <a:ext cx="316420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SELECTED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"/>
          <p:cNvSpPr/>
          <p:nvPr/>
        </p:nvSpPr>
        <p:spPr>
          <a:xfrm>
            <a:off x="14658975" y="1581150"/>
            <a:ext cx="316420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78571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얼음 장인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"/>
          <p:cNvSpPr/>
          <p:nvPr/>
        </p:nvSpPr>
        <p:spPr>
          <a:xfrm>
            <a:off x="14658975" y="2171700"/>
            <a:ext cx="2876550" cy="9525"/>
          </a:xfrm>
          <a:prstGeom prst="rect">
            <a:avLst/>
          </a:prstGeom>
          <a:solidFill>
            <a:srgbClr val="E9B85C">
              <a:alpha val="3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2"/>
          <p:cNvSpPr/>
          <p:nvPr/>
        </p:nvSpPr>
        <p:spPr>
          <a:xfrm>
            <a:off x="14658975" y="2314575"/>
            <a:ext cx="316420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DAY PASSIVE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"/>
          <p:cNvSpPr/>
          <p:nvPr/>
        </p:nvSpPr>
        <p:spPr>
          <a:xfrm>
            <a:off x="14658975" y="2486025"/>
            <a:ext cx="3164205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얼음 장인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"/>
          <p:cNvSpPr/>
          <p:nvPr/>
        </p:nvSpPr>
        <p:spPr>
          <a:xfrm>
            <a:off x="14658975" y="2809875"/>
            <a:ext cx="2962847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Temp.Cold 메뉴는 완성 게이지가 항상 Perfect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"/>
          <p:cNvSpPr/>
          <p:nvPr/>
        </p:nvSpPr>
        <p:spPr>
          <a:xfrm>
            <a:off x="14658975" y="3438525"/>
            <a:ext cx="2876550" cy="9525"/>
          </a:xfrm>
          <a:prstGeom prst="rect">
            <a:avLst/>
          </a:prstGeom>
          <a:solidFill>
            <a:srgbClr val="7CAFD9">
              <a:alpha val="3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2"/>
          <p:cNvSpPr/>
          <p:nvPr/>
        </p:nvSpPr>
        <p:spPr>
          <a:xfrm>
            <a:off x="14658975" y="3581400"/>
            <a:ext cx="316420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AFD9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7CAFD9"/>
                </a:solidFill>
                <a:latin typeface="Arial"/>
                <a:ea typeface="Arial"/>
                <a:cs typeface="Arial"/>
                <a:sym typeface="Arial"/>
              </a:rPr>
              <a:t>NIGHT PASSIVE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"/>
          <p:cNvSpPr/>
          <p:nvPr/>
        </p:nvSpPr>
        <p:spPr>
          <a:xfrm>
            <a:off x="14658975" y="3752850"/>
            <a:ext cx="3164205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짐꾼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"/>
          <p:cNvSpPr/>
          <p:nvPr/>
        </p:nvSpPr>
        <p:spPr>
          <a:xfrm>
            <a:off x="14658975" y="4076700"/>
            <a:ext cx="2962847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무게 감속 구간이 한 단계 유리하게 계산된다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"/>
          <p:cNvSpPr/>
          <p:nvPr/>
        </p:nvSpPr>
        <p:spPr>
          <a:xfrm>
            <a:off x="14658975" y="8608814"/>
            <a:ext cx="2962847" cy="45898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7333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낮이 강하면 밤은 무난하게 구성한다. 패시브 폭 +25~40%.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"/>
          <p:cNvSpPr/>
          <p:nvPr/>
        </p:nvSpPr>
        <p:spPr>
          <a:xfrm>
            <a:off x="12249150" y="9439275"/>
            <a:ext cx="1714500" cy="600075"/>
          </a:xfrm>
          <a:prstGeom prst="rect">
            <a:avLst/>
          </a:prstGeom>
          <a:noFill/>
          <a:ln cap="flat" cmpd="sng" w="9525">
            <a:solidFill>
              <a:srgbClr val="F2E3CB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2"/>
          <p:cNvSpPr/>
          <p:nvPr/>
        </p:nvSpPr>
        <p:spPr>
          <a:xfrm>
            <a:off x="12646223" y="9625013"/>
            <a:ext cx="482203" cy="228600"/>
          </a:xfrm>
          <a:prstGeom prst="rect">
            <a:avLst/>
          </a:prstGeom>
          <a:noFill/>
          <a:ln cap="flat" cmpd="sng" w="19050">
            <a:solidFill>
              <a:srgbClr val="F2E3CB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2"/>
          <p:cNvSpPr/>
          <p:nvPr/>
        </p:nvSpPr>
        <p:spPr>
          <a:xfrm>
            <a:off x="12712898" y="9682163"/>
            <a:ext cx="348853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ESC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"/>
          <p:cNvSpPr/>
          <p:nvPr/>
        </p:nvSpPr>
        <p:spPr>
          <a:xfrm>
            <a:off x="13185577" y="9620250"/>
            <a:ext cx="41910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뒤로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"/>
          <p:cNvSpPr/>
          <p:nvPr/>
        </p:nvSpPr>
        <p:spPr>
          <a:xfrm>
            <a:off x="14097000" y="9439275"/>
            <a:ext cx="3676650" cy="600075"/>
          </a:xfrm>
          <a:prstGeom prst="rect">
            <a:avLst/>
          </a:prstGeom>
          <a:solidFill>
            <a:srgbClr val="C697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2"/>
          <p:cNvSpPr/>
          <p:nvPr/>
        </p:nvSpPr>
        <p:spPr>
          <a:xfrm>
            <a:off x="15176897" y="9577388"/>
            <a:ext cx="323850" cy="323850"/>
          </a:xfrm>
          <a:prstGeom prst="rect">
            <a:avLst/>
          </a:prstGeom>
          <a:noFill/>
          <a:ln cap="flat" cmpd="sng" w="19050">
            <a:solidFill>
              <a:srgbClr val="170F0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2"/>
          <p:cNvSpPr/>
          <p:nvPr/>
        </p:nvSpPr>
        <p:spPr>
          <a:xfrm>
            <a:off x="15157847" y="9596438"/>
            <a:ext cx="3619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0F07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170F07"/>
                </a:solidFill>
                <a:latin typeface="Arial"/>
                <a:ea typeface="Arial"/>
                <a:cs typeface="Arial"/>
                <a:sym typeface="Arial"/>
              </a:rPr>
              <a:t>↵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"/>
          <p:cNvSpPr/>
          <p:nvPr/>
        </p:nvSpPr>
        <p:spPr>
          <a:xfrm>
            <a:off x="15634097" y="9572625"/>
            <a:ext cx="1135707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0F07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170F07"/>
                </a:solidFill>
                <a:latin typeface="Arial"/>
                <a:ea typeface="Arial"/>
                <a:cs typeface="Arial"/>
                <a:sym typeface="Arial"/>
              </a:rPr>
              <a:t>선택 완료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805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80C1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22303D"/>
              </a:gs>
              <a:gs pos="46000">
                <a:srgbClr val="141C26"/>
              </a:gs>
              <a:gs pos="100000">
                <a:srgbClr val="080C1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3"/>
          <p:cNvSpPr/>
          <p:nvPr/>
        </p:nvSpPr>
        <p:spPr>
          <a:xfrm>
            <a:off x="8384530" y="4937820"/>
            <a:ext cx="1594991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66250"/>
              </a:lnSpc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게임 뷰 — 안개 숲 탑다운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3"/>
          <p:cNvSpPr/>
          <p:nvPr/>
        </p:nvSpPr>
        <p:spPr>
          <a:xfrm>
            <a:off x="7680722" y="5191125"/>
            <a:ext cx="30142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66250"/>
              </a:lnSpc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걷힌 영역과 안 걷힌 영역의 대비가 화면의 주인공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3"/>
          <p:cNvSpPr/>
          <p:nvPr/>
        </p:nvSpPr>
        <p:spPr>
          <a:xfrm>
            <a:off x="5334000" y="3143250"/>
            <a:ext cx="2095500" cy="2095500"/>
          </a:xfrm>
          <a:prstGeom prst="ellipse">
            <a:avLst/>
          </a:prstGeom>
          <a:gradFill>
            <a:gsLst>
              <a:gs pos="0">
                <a:srgbClr val="E9B85C">
                  <a:alpha val="14118"/>
                </a:srgbClr>
              </a:gs>
              <a:gs pos="70000">
                <a:srgbClr val="E9B85C">
                  <a:alpha val="0"/>
                </a:srgbClr>
              </a:gs>
              <a:gs pos="100000">
                <a:srgbClr val="E9B85C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3"/>
          <p:cNvSpPr/>
          <p:nvPr/>
        </p:nvSpPr>
        <p:spPr>
          <a:xfrm>
            <a:off x="11430000" y="4095750"/>
            <a:ext cx="2667000" cy="2667000"/>
          </a:xfrm>
          <a:prstGeom prst="ellipse">
            <a:avLst/>
          </a:prstGeom>
          <a:gradFill>
            <a:gsLst>
              <a:gs pos="0">
                <a:srgbClr val="A46EE8">
                  <a:alpha val="16078"/>
                </a:srgbClr>
              </a:gs>
              <a:gs pos="70000">
                <a:srgbClr val="A46EE8">
                  <a:alpha val="0"/>
                </a:srgbClr>
              </a:gs>
              <a:gs pos="100000">
                <a:srgbClr val="A46EE8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3"/>
          <p:cNvSpPr/>
          <p:nvPr/>
        </p:nvSpPr>
        <p:spPr>
          <a:xfrm>
            <a:off x="6096000" y="3924300"/>
            <a:ext cx="726132" cy="228600"/>
          </a:xfrm>
          <a:prstGeom prst="rect">
            <a:avLst/>
          </a:prstGeom>
          <a:solidFill>
            <a:srgbClr val="080C11">
              <a:alpha val="80000"/>
            </a:srgbClr>
          </a:solidFill>
          <a:ln cap="flat" cmpd="sng" w="9525">
            <a:solidFill>
              <a:srgbClr val="C6974A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3"/>
          <p:cNvSpPr/>
          <p:nvPr/>
        </p:nvSpPr>
        <p:spPr>
          <a:xfrm>
            <a:off x="6210300" y="3981450"/>
            <a:ext cx="573732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TIER 1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3"/>
          <p:cNvSpPr/>
          <p:nvPr/>
        </p:nvSpPr>
        <p:spPr>
          <a:xfrm>
            <a:off x="8572500" y="5391150"/>
            <a:ext cx="1807964" cy="228600"/>
          </a:xfrm>
          <a:prstGeom prst="rect">
            <a:avLst/>
          </a:prstGeom>
          <a:solidFill>
            <a:srgbClr val="080C11">
              <a:alpha val="80000"/>
            </a:srgbClr>
          </a:solidFill>
          <a:ln cap="flat" cmpd="sng" w="9525">
            <a:solidFill>
              <a:srgbClr val="C8D6E4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3"/>
          <p:cNvSpPr/>
          <p:nvPr/>
        </p:nvSpPr>
        <p:spPr>
          <a:xfrm>
            <a:off x="8686800" y="5448300"/>
            <a:ext cx="1655564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D6E4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C8D6E4"/>
                </a:solidFill>
                <a:latin typeface="Arial"/>
                <a:ea typeface="Arial"/>
                <a:cs typeface="Arial"/>
                <a:sym typeface="Arial"/>
              </a:rPr>
              <a:t>TIER 2 · 2/4 OPENED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3"/>
          <p:cNvSpPr/>
          <p:nvPr/>
        </p:nvSpPr>
        <p:spPr>
          <a:xfrm>
            <a:off x="12382500" y="5086350"/>
            <a:ext cx="726132" cy="228600"/>
          </a:xfrm>
          <a:prstGeom prst="rect">
            <a:avLst/>
          </a:prstGeom>
          <a:solidFill>
            <a:srgbClr val="080C11">
              <a:alpha val="80000"/>
            </a:srgbClr>
          </a:solidFill>
          <a:ln cap="flat" cmpd="sng" w="9525">
            <a:solidFill>
              <a:srgbClr val="A46EE8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209550" rotWithShape="0" algn="bl" dir="16200000" dist="50800">
              <a:srgbClr val="A46EE8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3"/>
          <p:cNvSpPr/>
          <p:nvPr/>
        </p:nvSpPr>
        <p:spPr>
          <a:xfrm>
            <a:off x="12496800" y="5143500"/>
            <a:ext cx="573732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8CF0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B98CF0"/>
                </a:solidFill>
                <a:latin typeface="Arial"/>
                <a:ea typeface="Arial"/>
                <a:cs typeface="Arial"/>
                <a:sym typeface="Arial"/>
              </a:rPr>
              <a:t>TIER 3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3"/>
          <p:cNvSpPr/>
          <p:nvPr/>
        </p:nvSpPr>
        <p:spPr>
          <a:xfrm>
            <a:off x="9620250" y="2914650"/>
            <a:ext cx="1912441" cy="276225"/>
          </a:xfrm>
          <a:prstGeom prst="rect">
            <a:avLst/>
          </a:prstGeom>
          <a:solidFill>
            <a:srgbClr val="080C11">
              <a:alpha val="8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3"/>
          <p:cNvSpPr/>
          <p:nvPr/>
        </p:nvSpPr>
        <p:spPr>
          <a:xfrm>
            <a:off x="9620250" y="2914650"/>
            <a:ext cx="19050" cy="276225"/>
          </a:xfrm>
          <a:prstGeom prst="rect">
            <a:avLst/>
          </a:prstGeom>
          <a:solidFill>
            <a:srgbClr val="7CD9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3"/>
          <p:cNvSpPr/>
          <p:nvPr/>
        </p:nvSpPr>
        <p:spPr>
          <a:xfrm>
            <a:off x="9753600" y="2971800"/>
            <a:ext cx="1740991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묻어둔 가방 · 아군에게만 표시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 rotWithShape="1">
            <a:blip r:embed="rId3">
              <a:alphaModFix/>
            </a:blip>
            <a:tile algn="tl" flip="none" tx="0" sx="100000" ty="0" sy="10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3"/>
          <p:cNvSpPr/>
          <p:nvPr/>
        </p:nvSpPr>
        <p:spPr>
          <a:xfrm>
            <a:off x="0" y="0"/>
            <a:ext cx="18288000" cy="885825"/>
          </a:xfrm>
          <a:prstGeom prst="rect">
            <a:avLst/>
          </a:prstGeom>
          <a:gradFill>
            <a:gsLst>
              <a:gs pos="0">
                <a:srgbClr val="06090D">
                  <a:alpha val="94902"/>
                </a:srgbClr>
              </a:gs>
              <a:gs pos="65000">
                <a:srgbClr val="06090D">
                  <a:alpha val="54902"/>
                </a:srgbClr>
              </a:gs>
              <a:gs pos="100000">
                <a:srgbClr val="06090D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3"/>
          <p:cNvSpPr/>
          <p:nvPr/>
        </p:nvSpPr>
        <p:spPr>
          <a:xfrm>
            <a:off x="0" y="876300"/>
            <a:ext cx="18288000" cy="9525"/>
          </a:xfrm>
          <a:prstGeom prst="rect">
            <a:avLst/>
          </a:prstGeom>
          <a:solidFill>
            <a:srgbClr val="C6974A">
              <a:alpha val="3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3"/>
          <p:cNvSpPr/>
          <p:nvPr/>
        </p:nvSpPr>
        <p:spPr>
          <a:xfrm>
            <a:off x="8118425" y="476250"/>
            <a:ext cx="104581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AFD9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7CAFD9"/>
                </a:solidFill>
                <a:latin typeface="Arial"/>
                <a:ea typeface="Arial"/>
                <a:cs typeface="Arial"/>
                <a:sym typeface="Arial"/>
              </a:rPr>
              <a:t>NIGHT 04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3"/>
          <p:cNvSpPr/>
          <p:nvPr/>
        </p:nvSpPr>
        <p:spPr>
          <a:xfrm>
            <a:off x="9240441" y="209550"/>
            <a:ext cx="928985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85185"/>
              </a:lnSpc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3450"/>
              <a:buFont typeface="Arial"/>
              <a:buNone/>
            </a:pPr>
            <a:r>
              <a:rPr b="1" i="0" lang="en-US" sz="34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1:12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3"/>
          <p:cNvSpPr/>
          <p:nvPr/>
        </p:nvSpPr>
        <p:spPr>
          <a:xfrm>
            <a:off x="6000750" y="742950"/>
            <a:ext cx="781050" cy="57150"/>
          </a:xfrm>
          <a:prstGeom prst="rect">
            <a:avLst/>
          </a:prstGeom>
          <a:solidFill>
            <a:srgbClr val="7CD9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3"/>
          <p:cNvSpPr/>
          <p:nvPr/>
        </p:nvSpPr>
        <p:spPr>
          <a:xfrm>
            <a:off x="6800850" y="742950"/>
            <a:ext cx="3905250" cy="57150"/>
          </a:xfrm>
          <a:prstGeom prst="rect">
            <a:avLst/>
          </a:prstGeom>
          <a:solidFill>
            <a:srgbClr val="7CAF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3"/>
          <p:cNvSpPr/>
          <p:nvPr/>
        </p:nvSpPr>
        <p:spPr>
          <a:xfrm>
            <a:off x="10725150" y="742950"/>
            <a:ext cx="1562100" cy="57150"/>
          </a:xfrm>
          <a:prstGeom prst="rect">
            <a:avLst/>
          </a:prstGeom>
          <a:solidFill>
            <a:srgbClr val="E6EEF5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3"/>
          <p:cNvSpPr/>
          <p:nvPr/>
        </p:nvSpPr>
        <p:spPr>
          <a:xfrm>
            <a:off x="5962650" y="866775"/>
            <a:ext cx="893266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ENTRY 0:15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3"/>
          <p:cNvSpPr/>
          <p:nvPr/>
        </p:nvSpPr>
        <p:spPr>
          <a:xfrm>
            <a:off x="7893546" y="866775"/>
            <a:ext cx="455116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FARM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3"/>
          <p:cNvSpPr/>
          <p:nvPr/>
        </p:nvSpPr>
        <p:spPr>
          <a:xfrm>
            <a:off x="9386441" y="866775"/>
            <a:ext cx="902047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ALARM 1:30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3"/>
          <p:cNvSpPr/>
          <p:nvPr/>
        </p:nvSpPr>
        <p:spPr>
          <a:xfrm>
            <a:off x="11326118" y="866775"/>
            <a:ext cx="999232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RETURN 2:00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3"/>
          <p:cNvSpPr/>
          <p:nvPr/>
        </p:nvSpPr>
        <p:spPr>
          <a:xfrm>
            <a:off x="323850" y="1143000"/>
            <a:ext cx="3086100" cy="3476625"/>
          </a:xfrm>
          <a:prstGeom prst="rect">
            <a:avLst/>
          </a:prstGeom>
          <a:solidFill>
            <a:srgbClr val="06090D">
              <a:alpha val="81961"/>
            </a:srgbClr>
          </a:solidFill>
          <a:ln cap="flat" cmpd="sng" w="9525">
            <a:solidFill>
              <a:srgbClr val="C6974A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3"/>
          <p:cNvSpPr/>
          <p:nvPr/>
        </p:nvSpPr>
        <p:spPr>
          <a:xfrm>
            <a:off x="333375" y="1533525"/>
            <a:ext cx="3067050" cy="9525"/>
          </a:xfrm>
          <a:prstGeom prst="rect">
            <a:avLst/>
          </a:prstGeom>
          <a:solidFill>
            <a:srgbClr val="E6EEF5">
              <a:alpha val="1411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3"/>
          <p:cNvSpPr/>
          <p:nvPr/>
        </p:nvSpPr>
        <p:spPr>
          <a:xfrm>
            <a:off x="485775" y="1285875"/>
            <a:ext cx="89862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MINIMAP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3"/>
          <p:cNvSpPr/>
          <p:nvPr/>
        </p:nvSpPr>
        <p:spPr>
          <a:xfrm>
            <a:off x="2285851" y="1266825"/>
            <a:ext cx="1038374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걷힌 안개 = 발자국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3"/>
          <p:cNvSpPr/>
          <p:nvPr/>
        </p:nvSpPr>
        <p:spPr>
          <a:xfrm>
            <a:off x="466725" y="1676400"/>
            <a:ext cx="2800350" cy="2800350"/>
          </a:xfrm>
          <a:prstGeom prst="rect">
            <a:avLst/>
          </a:prstGeom>
          <a:solidFill>
            <a:srgbClr val="050810"/>
          </a:solidFill>
          <a:ln cap="flat" cmpd="sng" w="9525">
            <a:solidFill>
              <a:srgbClr val="E6EEF5">
                <a:alpha val="12157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3"/>
          <p:cNvSpPr/>
          <p:nvPr/>
        </p:nvSpPr>
        <p:spPr>
          <a:xfrm>
            <a:off x="476250" y="1685925"/>
            <a:ext cx="2781300" cy="2781300"/>
          </a:xfrm>
          <a:prstGeom prst="rect">
            <a:avLst/>
          </a:prstGeom>
          <a:gradFill>
            <a:gsLst>
              <a:gs pos="0">
                <a:srgbClr val="7CAFD9">
                  <a:alpha val="5098"/>
                </a:srgbClr>
              </a:gs>
              <a:gs pos="30000">
                <a:srgbClr val="7CAFD9">
                  <a:alpha val="5098"/>
                </a:srgbClr>
              </a:gs>
              <a:gs pos="31000">
                <a:srgbClr val="7CAFD9">
                  <a:alpha val="0"/>
                </a:srgbClr>
              </a:gs>
              <a:gs pos="100000">
                <a:srgbClr val="7CAFD9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3"/>
          <p:cNvSpPr/>
          <p:nvPr/>
        </p:nvSpPr>
        <p:spPr>
          <a:xfrm>
            <a:off x="1088082" y="2464594"/>
            <a:ext cx="1123950" cy="1009650"/>
          </a:xfrm>
          <a:prstGeom prst="ellipse">
            <a:avLst/>
          </a:prstGeom>
          <a:solidFill>
            <a:srgbClr val="E9B85C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3"/>
          <p:cNvSpPr/>
          <p:nvPr/>
        </p:nvSpPr>
        <p:spPr>
          <a:xfrm>
            <a:off x="1922413" y="2130921"/>
            <a:ext cx="876300" cy="838200"/>
          </a:xfrm>
          <a:prstGeom prst="ellipse">
            <a:avLst/>
          </a:prstGeom>
          <a:solidFill>
            <a:srgbClr val="7CD9A8">
              <a:alpha val="1411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"/>
          <p:cNvSpPr/>
          <p:nvPr/>
        </p:nvSpPr>
        <p:spPr>
          <a:xfrm>
            <a:off x="1533079" y="3132088"/>
            <a:ext cx="1200150" cy="1085850"/>
          </a:xfrm>
          <a:prstGeom prst="ellipse">
            <a:avLst/>
          </a:prstGeom>
          <a:solidFill>
            <a:srgbClr val="7CAFD9">
              <a:alpha val="1411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3"/>
          <p:cNvSpPr/>
          <p:nvPr/>
        </p:nvSpPr>
        <p:spPr>
          <a:xfrm>
            <a:off x="1783407" y="2993082"/>
            <a:ext cx="133350" cy="133350"/>
          </a:xfrm>
          <a:prstGeom prst="rect">
            <a:avLst/>
          </a:prstGeom>
          <a:solidFill>
            <a:srgbClr val="E9B8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3"/>
          <p:cNvSpPr/>
          <p:nvPr/>
        </p:nvSpPr>
        <p:spPr>
          <a:xfrm>
            <a:off x="1310580" y="2631430"/>
            <a:ext cx="95250" cy="95250"/>
          </a:xfrm>
          <a:prstGeom prst="rect">
            <a:avLst/>
          </a:prstGeom>
          <a:solidFill>
            <a:srgbClr val="7CD9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3"/>
          <p:cNvSpPr/>
          <p:nvPr/>
        </p:nvSpPr>
        <p:spPr>
          <a:xfrm>
            <a:off x="2200573" y="3410248"/>
            <a:ext cx="85725" cy="85725"/>
          </a:xfrm>
          <a:prstGeom prst="rect">
            <a:avLst/>
          </a:prstGeom>
          <a:solidFill>
            <a:srgbClr val="B98CF0"/>
          </a:solidFill>
          <a:ln>
            <a:noFill/>
          </a:ln>
          <a:effectLst>
            <a:outerShdw blurRad="114300" rotWithShape="0" algn="bl" dir="16200000" dist="50800">
              <a:srgbClr val="B98CF0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3"/>
          <p:cNvSpPr/>
          <p:nvPr/>
        </p:nvSpPr>
        <p:spPr>
          <a:xfrm>
            <a:off x="1032421" y="3632746"/>
            <a:ext cx="76200" cy="76200"/>
          </a:xfrm>
          <a:prstGeom prst="rect">
            <a:avLst/>
          </a:prstGeom>
          <a:solidFill>
            <a:srgbClr val="C697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3"/>
          <p:cNvSpPr/>
          <p:nvPr/>
        </p:nvSpPr>
        <p:spPr>
          <a:xfrm>
            <a:off x="2534394" y="2408932"/>
            <a:ext cx="76200" cy="76200"/>
          </a:xfrm>
          <a:prstGeom prst="rect">
            <a:avLst/>
          </a:prstGeom>
          <a:solidFill>
            <a:srgbClr val="C8D6E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3"/>
          <p:cNvSpPr/>
          <p:nvPr/>
        </p:nvSpPr>
        <p:spPr>
          <a:xfrm>
            <a:off x="2245668" y="4286250"/>
            <a:ext cx="1002357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CORE = TIER 3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3"/>
          <p:cNvSpPr/>
          <p:nvPr/>
        </p:nvSpPr>
        <p:spPr>
          <a:xfrm>
            <a:off x="14820900" y="1143000"/>
            <a:ext cx="3143250" cy="1219200"/>
          </a:xfrm>
          <a:prstGeom prst="rect">
            <a:avLst/>
          </a:prstGeom>
          <a:solidFill>
            <a:srgbClr val="06090D">
              <a:alpha val="81961"/>
            </a:srgbClr>
          </a:solidFill>
          <a:ln cap="flat" cmpd="sng" w="9525">
            <a:solidFill>
              <a:srgbClr val="C6974A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3"/>
          <p:cNvSpPr/>
          <p:nvPr/>
        </p:nvSpPr>
        <p:spPr>
          <a:xfrm>
            <a:off x="14700885" y="1285875"/>
            <a:ext cx="310134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PARTNER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3"/>
          <p:cNvSpPr/>
          <p:nvPr/>
        </p:nvSpPr>
        <p:spPr>
          <a:xfrm>
            <a:off x="14982825" y="1533525"/>
            <a:ext cx="438150" cy="438150"/>
          </a:xfrm>
          <a:prstGeom prst="rect">
            <a:avLst/>
          </a:prstGeom>
          <a:solidFill>
            <a:srgbClr val="E6EEF5">
              <a:alpha val="12157"/>
            </a:srgbClr>
          </a:solidFill>
          <a:ln cap="flat" cmpd="sng" w="9525">
            <a:solidFill>
              <a:srgbClr val="E6EEF5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3"/>
          <p:cNvSpPr/>
          <p:nvPr/>
        </p:nvSpPr>
        <p:spPr>
          <a:xfrm>
            <a:off x="15535275" y="1581150"/>
            <a:ext cx="1906414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늑대 소굴 · 짝꿍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3"/>
          <p:cNvSpPr/>
          <p:nvPr/>
        </p:nvSpPr>
        <p:spPr>
          <a:xfrm>
            <a:off x="15535275" y="1876425"/>
            <a:ext cx="1733104" cy="47625"/>
          </a:xfrm>
          <a:prstGeom prst="rect">
            <a:avLst/>
          </a:prstGeom>
          <a:solidFill>
            <a:srgbClr val="E6EEF5">
              <a:alpha val="1411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3"/>
          <p:cNvSpPr/>
          <p:nvPr/>
        </p:nvSpPr>
        <p:spPr>
          <a:xfrm>
            <a:off x="15535275" y="1876425"/>
            <a:ext cx="797123" cy="47625"/>
          </a:xfrm>
          <a:prstGeom prst="rect">
            <a:avLst/>
          </a:prstGeom>
          <a:solidFill>
            <a:srgbClr val="7CD9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3"/>
          <p:cNvSpPr/>
          <p:nvPr/>
        </p:nvSpPr>
        <p:spPr>
          <a:xfrm>
            <a:off x="17382679" y="1628775"/>
            <a:ext cx="495746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3"/>
          <p:cNvSpPr/>
          <p:nvPr/>
        </p:nvSpPr>
        <p:spPr>
          <a:xfrm>
            <a:off x="14982825" y="2066925"/>
            <a:ext cx="310134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중간 고리 · 북동 방향 파밍 중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3"/>
          <p:cNvSpPr/>
          <p:nvPr/>
        </p:nvSpPr>
        <p:spPr>
          <a:xfrm>
            <a:off x="14820900" y="2514600"/>
            <a:ext cx="3143250" cy="1065014"/>
          </a:xfrm>
          <a:prstGeom prst="rect">
            <a:avLst/>
          </a:prstGeom>
          <a:solidFill>
            <a:srgbClr val="06090D">
              <a:alpha val="81961"/>
            </a:srgbClr>
          </a:solidFill>
          <a:ln cap="flat" cmpd="sng" w="9525">
            <a:solidFill>
              <a:srgbClr val="C6974A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3"/>
          <p:cNvSpPr/>
          <p:nvPr/>
        </p:nvSpPr>
        <p:spPr>
          <a:xfrm>
            <a:off x="14982825" y="2686050"/>
            <a:ext cx="46047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BAG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3"/>
          <p:cNvSpPr/>
          <p:nvPr/>
        </p:nvSpPr>
        <p:spPr>
          <a:xfrm>
            <a:off x="16811327" y="2657475"/>
            <a:ext cx="1067098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종류 5 · 무게 78%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3"/>
          <p:cNvSpPr/>
          <p:nvPr/>
        </p:nvSpPr>
        <p:spPr>
          <a:xfrm>
            <a:off x="14982825" y="2933700"/>
            <a:ext cx="502890" cy="503039"/>
          </a:xfrm>
          <a:prstGeom prst="rect">
            <a:avLst/>
          </a:prstGeom>
          <a:solidFill>
            <a:srgbClr val="E6EEF5">
              <a:alpha val="10196"/>
            </a:srgbClr>
          </a:solidFill>
          <a:ln cap="flat" cmpd="sng" w="9525">
            <a:solidFill>
              <a:srgbClr val="E6EEF5">
                <a:alpha val="1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3"/>
          <p:cNvSpPr/>
          <p:nvPr/>
        </p:nvSpPr>
        <p:spPr>
          <a:xfrm>
            <a:off x="15138946" y="3032820"/>
            <a:ext cx="2667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우유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3"/>
          <p:cNvSpPr/>
          <p:nvPr/>
        </p:nvSpPr>
        <p:spPr>
          <a:xfrm>
            <a:off x="15194459" y="3175695"/>
            <a:ext cx="155674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3"/>
          <p:cNvSpPr/>
          <p:nvPr/>
        </p:nvSpPr>
        <p:spPr>
          <a:xfrm>
            <a:off x="15561915" y="2933700"/>
            <a:ext cx="503039" cy="503039"/>
          </a:xfrm>
          <a:prstGeom prst="rect">
            <a:avLst/>
          </a:prstGeom>
          <a:solidFill>
            <a:srgbClr val="E6EEF5">
              <a:alpha val="10196"/>
            </a:srgbClr>
          </a:solidFill>
          <a:ln cap="flat" cmpd="sng" w="9525">
            <a:solidFill>
              <a:srgbClr val="E6EEF5">
                <a:alpha val="1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3"/>
          <p:cNvSpPr/>
          <p:nvPr/>
        </p:nvSpPr>
        <p:spPr>
          <a:xfrm>
            <a:off x="15670560" y="3032820"/>
            <a:ext cx="3619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초콜렛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3"/>
          <p:cNvSpPr/>
          <p:nvPr/>
        </p:nvSpPr>
        <p:spPr>
          <a:xfrm>
            <a:off x="15773698" y="3175695"/>
            <a:ext cx="155674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3"/>
          <p:cNvSpPr/>
          <p:nvPr/>
        </p:nvSpPr>
        <p:spPr>
          <a:xfrm>
            <a:off x="16141154" y="2933700"/>
            <a:ext cx="502890" cy="503039"/>
          </a:xfrm>
          <a:prstGeom prst="rect">
            <a:avLst/>
          </a:prstGeom>
          <a:solidFill>
            <a:srgbClr val="E6EEF5">
              <a:alpha val="10196"/>
            </a:srgbClr>
          </a:solidFill>
          <a:ln cap="flat" cmpd="sng" w="9525">
            <a:solidFill>
              <a:srgbClr val="E6EEF5">
                <a:alpha val="1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3"/>
          <p:cNvSpPr/>
          <p:nvPr/>
        </p:nvSpPr>
        <p:spPr>
          <a:xfrm>
            <a:off x="16297275" y="3032820"/>
            <a:ext cx="2667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얼음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3"/>
          <p:cNvSpPr/>
          <p:nvPr/>
        </p:nvSpPr>
        <p:spPr>
          <a:xfrm>
            <a:off x="16352788" y="3175695"/>
            <a:ext cx="155674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3"/>
          <p:cNvSpPr/>
          <p:nvPr/>
        </p:nvSpPr>
        <p:spPr>
          <a:xfrm>
            <a:off x="16720245" y="2933700"/>
            <a:ext cx="502890" cy="503039"/>
          </a:xfrm>
          <a:prstGeom prst="rect">
            <a:avLst/>
          </a:prstGeom>
          <a:solidFill>
            <a:srgbClr val="E6EEF5">
              <a:alpha val="10196"/>
            </a:srgbClr>
          </a:solidFill>
          <a:ln cap="flat" cmpd="sng" w="9525">
            <a:solidFill>
              <a:srgbClr val="E6EEF5">
                <a:alpha val="1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3"/>
          <p:cNvSpPr/>
          <p:nvPr/>
        </p:nvSpPr>
        <p:spPr>
          <a:xfrm>
            <a:off x="16876365" y="3032820"/>
            <a:ext cx="2667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업글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3"/>
          <p:cNvSpPr/>
          <p:nvPr/>
        </p:nvSpPr>
        <p:spPr>
          <a:xfrm>
            <a:off x="16931878" y="3175695"/>
            <a:ext cx="155674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3"/>
          <p:cNvSpPr/>
          <p:nvPr/>
        </p:nvSpPr>
        <p:spPr>
          <a:xfrm>
            <a:off x="17299335" y="2933700"/>
            <a:ext cx="502890" cy="503039"/>
          </a:xfrm>
          <a:prstGeom prst="rect">
            <a:avLst/>
          </a:prstGeom>
          <a:solidFill>
            <a:srgbClr val="E6EEF5">
              <a:alpha val="10196"/>
            </a:srgbClr>
          </a:solidFill>
          <a:ln cap="flat" cmpd="sng" w="9525">
            <a:solidFill>
              <a:srgbClr val="E6EEF5">
                <a:alpha val="1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3"/>
          <p:cNvSpPr/>
          <p:nvPr/>
        </p:nvSpPr>
        <p:spPr>
          <a:xfrm>
            <a:off x="17455455" y="3032820"/>
            <a:ext cx="2667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베리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3"/>
          <p:cNvSpPr/>
          <p:nvPr/>
        </p:nvSpPr>
        <p:spPr>
          <a:xfrm>
            <a:off x="17510968" y="3175695"/>
            <a:ext cx="155674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3"/>
          <p:cNvSpPr/>
          <p:nvPr/>
        </p:nvSpPr>
        <p:spPr>
          <a:xfrm>
            <a:off x="4857750" y="8439150"/>
            <a:ext cx="133686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CARRY LOAD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3"/>
          <p:cNvSpPr/>
          <p:nvPr/>
        </p:nvSpPr>
        <p:spPr>
          <a:xfrm>
            <a:off x="11107192" y="8267700"/>
            <a:ext cx="724495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87179"/>
              </a:lnSpc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3"/>
          <p:cNvSpPr/>
          <p:nvPr/>
        </p:nvSpPr>
        <p:spPr>
          <a:xfrm>
            <a:off x="11888837" y="8401050"/>
            <a:ext cx="1695554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이동속도 92% · 귀환 27초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3"/>
          <p:cNvSpPr/>
          <p:nvPr/>
        </p:nvSpPr>
        <p:spPr>
          <a:xfrm>
            <a:off x="4857750" y="8686800"/>
            <a:ext cx="8572500" cy="285750"/>
          </a:xfrm>
          <a:prstGeom prst="rect">
            <a:avLst/>
          </a:prstGeom>
          <a:solidFill>
            <a:srgbClr val="06090D">
              <a:alpha val="85098"/>
            </a:srgbClr>
          </a:solidFill>
          <a:ln cap="flat" cmpd="sng" w="9525">
            <a:solidFill>
              <a:srgbClr val="C6974A">
                <a:alpha val="3490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3"/>
          <p:cNvSpPr/>
          <p:nvPr/>
        </p:nvSpPr>
        <p:spPr>
          <a:xfrm>
            <a:off x="4895850" y="8724900"/>
            <a:ext cx="2100263" cy="209550"/>
          </a:xfrm>
          <a:prstGeom prst="rect">
            <a:avLst/>
          </a:prstGeom>
          <a:solidFill>
            <a:srgbClr val="7CD9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3"/>
          <p:cNvSpPr/>
          <p:nvPr/>
        </p:nvSpPr>
        <p:spPr>
          <a:xfrm>
            <a:off x="7015163" y="8724900"/>
            <a:ext cx="1260128" cy="209550"/>
          </a:xfrm>
          <a:prstGeom prst="rect">
            <a:avLst/>
          </a:prstGeom>
          <a:solidFill>
            <a:srgbClr val="B8D9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3"/>
          <p:cNvSpPr/>
          <p:nvPr/>
        </p:nvSpPr>
        <p:spPr>
          <a:xfrm>
            <a:off x="8294340" y="8724900"/>
            <a:ext cx="840135" cy="209550"/>
          </a:xfrm>
          <a:prstGeom prst="rect">
            <a:avLst/>
          </a:prstGeom>
          <a:solidFill>
            <a:srgbClr val="E9B8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3"/>
          <p:cNvSpPr/>
          <p:nvPr/>
        </p:nvSpPr>
        <p:spPr>
          <a:xfrm>
            <a:off x="9153525" y="8724900"/>
            <a:ext cx="1260128" cy="209550"/>
          </a:xfrm>
          <a:prstGeom prst="rect">
            <a:avLst/>
          </a:prstGeom>
          <a:solidFill>
            <a:srgbClr val="DE8A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3"/>
          <p:cNvSpPr/>
          <p:nvPr/>
        </p:nvSpPr>
        <p:spPr>
          <a:xfrm>
            <a:off x="10432703" y="8724900"/>
            <a:ext cx="1260128" cy="209550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3"/>
          <p:cNvSpPr/>
          <p:nvPr/>
        </p:nvSpPr>
        <p:spPr>
          <a:xfrm>
            <a:off x="11711880" y="8724900"/>
            <a:ext cx="1680270" cy="209550"/>
          </a:xfrm>
          <a:prstGeom prst="rect">
            <a:avLst/>
          </a:prstGeom>
          <a:solidFill>
            <a:srgbClr val="7A2A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3"/>
          <p:cNvSpPr/>
          <p:nvPr/>
        </p:nvSpPr>
        <p:spPr>
          <a:xfrm>
            <a:off x="8203109" y="8620125"/>
            <a:ext cx="38100" cy="4191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rotWithShape="0" algn="bl" dir="16200000" dist="50800">
              <a:srgbClr val="FFFFFF">
                <a:alpha val="9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3"/>
          <p:cNvSpPr/>
          <p:nvPr/>
        </p:nvSpPr>
        <p:spPr>
          <a:xfrm>
            <a:off x="4857750" y="9039225"/>
            <a:ext cx="148233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3"/>
          <p:cNvSpPr/>
          <p:nvPr/>
        </p:nvSpPr>
        <p:spPr>
          <a:xfrm>
            <a:off x="6137225" y="9039225"/>
            <a:ext cx="220266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3"/>
          <p:cNvSpPr/>
          <p:nvPr/>
        </p:nvSpPr>
        <p:spPr>
          <a:xfrm>
            <a:off x="7488585" y="9039225"/>
            <a:ext cx="220266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3"/>
          <p:cNvSpPr/>
          <p:nvPr/>
        </p:nvSpPr>
        <p:spPr>
          <a:xfrm>
            <a:off x="8840093" y="9039225"/>
            <a:ext cx="292298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3"/>
          <p:cNvSpPr/>
          <p:nvPr/>
        </p:nvSpPr>
        <p:spPr>
          <a:xfrm>
            <a:off x="10263485" y="9039225"/>
            <a:ext cx="292298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3"/>
          <p:cNvSpPr/>
          <p:nvPr/>
        </p:nvSpPr>
        <p:spPr>
          <a:xfrm>
            <a:off x="11687026" y="9039225"/>
            <a:ext cx="292298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160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3"/>
          <p:cNvSpPr/>
          <p:nvPr/>
        </p:nvSpPr>
        <p:spPr>
          <a:xfrm>
            <a:off x="13110418" y="9039225"/>
            <a:ext cx="396032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200%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3"/>
          <p:cNvSpPr/>
          <p:nvPr/>
        </p:nvSpPr>
        <p:spPr>
          <a:xfrm>
            <a:off x="0" y="9496425"/>
            <a:ext cx="18288000" cy="790575"/>
          </a:xfrm>
          <a:prstGeom prst="rect">
            <a:avLst/>
          </a:prstGeom>
          <a:gradFill>
            <a:gsLst>
              <a:gs pos="0">
                <a:srgbClr val="06090D">
                  <a:alpha val="94902"/>
                </a:srgbClr>
              </a:gs>
              <a:gs pos="60000">
                <a:srgbClr val="06090D">
                  <a:alpha val="50196"/>
                </a:srgbClr>
              </a:gs>
              <a:gs pos="100000">
                <a:srgbClr val="06090D">
                  <a:alpha val="0"/>
                </a:srgbClr>
              </a:gs>
            </a:gsLst>
            <a:lin ang="162000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3"/>
          <p:cNvSpPr/>
          <p:nvPr/>
        </p:nvSpPr>
        <p:spPr>
          <a:xfrm>
            <a:off x="0" y="9496425"/>
            <a:ext cx="18288000" cy="9525"/>
          </a:xfrm>
          <a:prstGeom prst="rect">
            <a:avLst/>
          </a:prstGeom>
          <a:solidFill>
            <a:srgbClr val="C6974A">
              <a:alpha val="2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3"/>
          <p:cNvSpPr/>
          <p:nvPr/>
        </p:nvSpPr>
        <p:spPr>
          <a:xfrm>
            <a:off x="419100" y="9725025"/>
            <a:ext cx="342900" cy="342900"/>
          </a:xfrm>
          <a:prstGeom prst="rect">
            <a:avLst/>
          </a:prstGeom>
          <a:noFill/>
          <a:ln cap="flat" cmpd="sng" w="19050">
            <a:solidFill>
              <a:srgbClr val="E6EEF5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"/>
          <p:cNvSpPr/>
          <p:nvPr/>
        </p:nvSpPr>
        <p:spPr>
          <a:xfrm>
            <a:off x="400050" y="9744075"/>
            <a:ext cx="381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F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3"/>
          <p:cNvSpPr/>
          <p:nvPr/>
        </p:nvSpPr>
        <p:spPr>
          <a:xfrm>
            <a:off x="857250" y="9810750"/>
            <a:ext cx="1572935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홀드 — 박스 개봉 · 담기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3"/>
          <p:cNvSpPr/>
          <p:nvPr/>
        </p:nvSpPr>
        <p:spPr>
          <a:xfrm>
            <a:off x="2534841" y="9744075"/>
            <a:ext cx="741015" cy="304800"/>
          </a:xfrm>
          <a:prstGeom prst="rect">
            <a:avLst/>
          </a:prstGeom>
          <a:noFill/>
          <a:ln cap="flat" cmpd="sng" w="19050">
            <a:solidFill>
              <a:srgbClr val="E6EEF5">
                <a:alpha val="3490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3"/>
          <p:cNvSpPr/>
          <p:nvPr/>
        </p:nvSpPr>
        <p:spPr>
          <a:xfrm>
            <a:off x="2668191" y="9829800"/>
            <a:ext cx="55051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SPACE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3"/>
          <p:cNvSpPr/>
          <p:nvPr/>
        </p:nvSpPr>
        <p:spPr>
          <a:xfrm>
            <a:off x="3371106" y="9810750"/>
            <a:ext cx="181751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E8A3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DE8A3F"/>
                </a:solidFill>
                <a:latin typeface="Arial"/>
                <a:ea typeface="Arial"/>
                <a:cs typeface="Arial"/>
                <a:sym typeface="Arial"/>
              </a:rPr>
              <a:t>대시 잠김 — 무게 70% 초과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3"/>
          <p:cNvSpPr/>
          <p:nvPr/>
        </p:nvSpPr>
        <p:spPr>
          <a:xfrm>
            <a:off x="13994011" y="9815513"/>
            <a:ext cx="2243822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버리기 = 임시 상자 드롭 (5종씩 분할)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3"/>
          <p:cNvSpPr/>
          <p:nvPr/>
        </p:nvSpPr>
        <p:spPr>
          <a:xfrm>
            <a:off x="16262449" y="9815513"/>
            <a:ext cx="1767096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묻기 = 무게 비우고 견제 전환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805"/>
        </a:solid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80C1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4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22303D"/>
              </a:gs>
              <a:gs pos="72000">
                <a:srgbClr val="0A0F16"/>
              </a:gs>
              <a:gs pos="100000">
                <a:srgbClr val="0A0F16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4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4070B">
              <a:alpha val="6588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4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 rotWithShape="1">
            <a:blip r:embed="rId3">
              <a:alphaModFix/>
            </a:blip>
            <a:tile algn="tl" flip="none" tx="0" sx="100000" ty="0" sy="10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4"/>
          <p:cNvSpPr/>
          <p:nvPr/>
        </p:nvSpPr>
        <p:spPr>
          <a:xfrm>
            <a:off x="15923419" y="514350"/>
            <a:ext cx="992981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BAG LOAD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4"/>
          <p:cNvSpPr/>
          <p:nvPr/>
        </p:nvSpPr>
        <p:spPr>
          <a:xfrm>
            <a:off x="15923419" y="628650"/>
            <a:ext cx="992981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86486"/>
              </a:lnSpc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4"/>
          <p:cNvSpPr/>
          <p:nvPr/>
        </p:nvSpPr>
        <p:spPr>
          <a:xfrm>
            <a:off x="17068800" y="323850"/>
            <a:ext cx="800100" cy="800100"/>
          </a:xfrm>
          <a:prstGeom prst="rect">
            <a:avLst/>
          </a:prstGeom>
          <a:solidFill>
            <a:srgbClr val="E6EEF5">
              <a:alpha val="10196"/>
            </a:srgbClr>
          </a:solidFill>
          <a:ln cap="flat" cmpd="sng" w="9525">
            <a:solidFill>
              <a:srgbClr val="E9B85C">
                <a:alpha val="54902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247650" rotWithShape="0" algn="bl" dir="16200000" dist="50800">
              <a:srgbClr val="E9B85C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4"/>
          <p:cNvSpPr/>
          <p:nvPr/>
        </p:nvSpPr>
        <p:spPr>
          <a:xfrm>
            <a:off x="14585603" y="1238250"/>
            <a:ext cx="3527807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획득 시 가방 아이콘으로 날아가는 연출 · DoTween 스케일 펀치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4"/>
          <p:cNvSpPr/>
          <p:nvPr/>
        </p:nvSpPr>
        <p:spPr>
          <a:xfrm>
            <a:off x="4086225" y="2717527"/>
            <a:ext cx="10115550" cy="4851946"/>
          </a:xfrm>
          <a:prstGeom prst="rect">
            <a:avLst/>
          </a:prstGeom>
          <a:solidFill>
            <a:srgbClr val="080C12">
              <a:alpha val="94118"/>
            </a:srgbClr>
          </a:solidFill>
          <a:ln cap="flat" cmpd="sng" w="9525">
            <a:solidFill>
              <a:srgbClr val="C6974A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857250" rotWithShape="0" algn="bl" dir="16200000" dist="50800">
              <a:srgbClr val="A46EE8">
                <a:alpha val="1607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4"/>
          <p:cNvSpPr/>
          <p:nvPr/>
        </p:nvSpPr>
        <p:spPr>
          <a:xfrm>
            <a:off x="4095750" y="3624188"/>
            <a:ext cx="10096500" cy="9525"/>
          </a:xfrm>
          <a:prstGeom prst="rect">
            <a:avLst/>
          </a:prstGeom>
          <a:solidFill>
            <a:srgbClr val="C6974A">
              <a:alpha val="3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4"/>
          <p:cNvSpPr/>
          <p:nvPr/>
        </p:nvSpPr>
        <p:spPr>
          <a:xfrm>
            <a:off x="4419600" y="2947020"/>
            <a:ext cx="457200" cy="457200"/>
          </a:xfrm>
          <a:prstGeom prst="rect">
            <a:avLst/>
          </a:prstGeom>
          <a:solidFill>
            <a:srgbClr val="A46EE8">
              <a:alpha val="14118"/>
            </a:srgbClr>
          </a:solidFill>
          <a:ln cap="flat" cmpd="sng" w="9525">
            <a:solidFill>
              <a:srgbClr val="A46EE8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209550" rotWithShape="0" algn="bl" dir="16200000" dist="50800">
              <a:srgbClr val="A46EE8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4"/>
          <p:cNvSpPr/>
          <p:nvPr/>
        </p:nvSpPr>
        <p:spPr>
          <a:xfrm>
            <a:off x="5048250" y="2936602"/>
            <a:ext cx="3140139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8CF0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B98CF0"/>
                </a:solidFill>
                <a:latin typeface="Arial"/>
                <a:ea typeface="Arial"/>
                <a:cs typeface="Arial"/>
                <a:sym typeface="Arial"/>
              </a:rPr>
              <a:t>TIER 3 · RUNE CHEST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4"/>
          <p:cNvSpPr/>
          <p:nvPr/>
        </p:nvSpPr>
        <p:spPr>
          <a:xfrm>
            <a:off x="5048250" y="3079477"/>
            <a:ext cx="3140139" cy="3732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78222"/>
              </a:lnSpc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슬롯 5 · 가려진 슬롯 3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4"/>
          <p:cNvSpPr/>
          <p:nvPr/>
        </p:nvSpPr>
        <p:spPr>
          <a:xfrm>
            <a:off x="13092857" y="2975595"/>
            <a:ext cx="775543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REVEAL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4"/>
          <p:cNvSpPr/>
          <p:nvPr/>
        </p:nvSpPr>
        <p:spPr>
          <a:xfrm>
            <a:off x="13092857" y="3089895"/>
            <a:ext cx="775543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88235"/>
              </a:lnSpc>
              <a:spcBef>
                <a:spcPts val="0"/>
              </a:spcBef>
              <a:spcAft>
                <a:spcPts val="0"/>
              </a:spcAft>
              <a:buClr>
                <a:srgbClr val="B98CF0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B98CF0"/>
                </a:solidFill>
                <a:latin typeface="Arial"/>
                <a:ea typeface="Arial"/>
                <a:cs typeface="Arial"/>
                <a:sym typeface="Arial"/>
              </a:rPr>
              <a:t>3.0s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4"/>
          <p:cNvSpPr/>
          <p:nvPr/>
        </p:nvSpPr>
        <p:spPr>
          <a:xfrm>
            <a:off x="4095750" y="3633713"/>
            <a:ext cx="10096500" cy="2678460"/>
          </a:xfrm>
          <a:prstGeom prst="rect">
            <a:avLst/>
          </a:prstGeom>
          <a:solidFill>
            <a:srgbClr val="C6974A">
              <a:alpha val="2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4"/>
          <p:cNvSpPr/>
          <p:nvPr/>
        </p:nvSpPr>
        <p:spPr>
          <a:xfrm>
            <a:off x="4095750" y="3633713"/>
            <a:ext cx="2011561" cy="2678460"/>
          </a:xfrm>
          <a:prstGeom prst="rect">
            <a:avLst/>
          </a:prstGeom>
          <a:solidFill>
            <a:srgbClr val="0A101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4"/>
          <p:cNvSpPr/>
          <p:nvPr/>
        </p:nvSpPr>
        <p:spPr>
          <a:xfrm>
            <a:off x="4286250" y="3824213"/>
            <a:ext cx="1630561" cy="1630561"/>
          </a:xfrm>
          <a:prstGeom prst="rect">
            <a:avLst/>
          </a:prstGeom>
          <a:solidFill>
            <a:srgbClr val="E6EEF5">
              <a:alpha val="10196"/>
            </a:srgbClr>
          </a:solidFill>
          <a:ln cap="flat" cmpd="sng" w="9525">
            <a:solidFill>
              <a:srgbClr val="E6EEF5">
                <a:alpha val="1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4"/>
          <p:cNvSpPr/>
          <p:nvPr/>
        </p:nvSpPr>
        <p:spPr>
          <a:xfrm>
            <a:off x="4286250" y="5569074"/>
            <a:ext cx="1793617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우유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4"/>
          <p:cNvSpPr/>
          <p:nvPr/>
        </p:nvSpPr>
        <p:spPr>
          <a:xfrm>
            <a:off x="4286250" y="5969124"/>
            <a:ext cx="247352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×3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4"/>
          <p:cNvSpPr/>
          <p:nvPr/>
        </p:nvSpPr>
        <p:spPr>
          <a:xfrm>
            <a:off x="5444430" y="5969124"/>
            <a:ext cx="54858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1.2 KG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4"/>
          <p:cNvSpPr/>
          <p:nvPr/>
        </p:nvSpPr>
        <p:spPr>
          <a:xfrm>
            <a:off x="6116836" y="3633713"/>
            <a:ext cx="2011710" cy="2678460"/>
          </a:xfrm>
          <a:prstGeom prst="rect">
            <a:avLst/>
          </a:prstGeom>
          <a:solidFill>
            <a:srgbClr val="0A101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4"/>
          <p:cNvSpPr/>
          <p:nvPr/>
        </p:nvSpPr>
        <p:spPr>
          <a:xfrm>
            <a:off x="6307336" y="3824213"/>
            <a:ext cx="1630710" cy="1630710"/>
          </a:xfrm>
          <a:prstGeom prst="rect">
            <a:avLst/>
          </a:prstGeom>
          <a:solidFill>
            <a:srgbClr val="E6EEF5">
              <a:alpha val="10196"/>
            </a:srgbClr>
          </a:solidFill>
          <a:ln cap="flat" cmpd="sng" w="9525">
            <a:solidFill>
              <a:srgbClr val="E6EEF5">
                <a:alpha val="1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4"/>
          <p:cNvSpPr/>
          <p:nvPr/>
        </p:nvSpPr>
        <p:spPr>
          <a:xfrm>
            <a:off x="6307336" y="5569223"/>
            <a:ext cx="1793781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얼음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4"/>
          <p:cNvSpPr/>
          <p:nvPr/>
        </p:nvSpPr>
        <p:spPr>
          <a:xfrm>
            <a:off x="6307336" y="5969273"/>
            <a:ext cx="247352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×5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4"/>
          <p:cNvSpPr/>
          <p:nvPr/>
        </p:nvSpPr>
        <p:spPr>
          <a:xfrm>
            <a:off x="7465665" y="5969273"/>
            <a:ext cx="54858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0.2 KG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4"/>
          <p:cNvSpPr/>
          <p:nvPr/>
        </p:nvSpPr>
        <p:spPr>
          <a:xfrm>
            <a:off x="8138071" y="3633713"/>
            <a:ext cx="2011710" cy="2678460"/>
          </a:xfrm>
          <a:prstGeom prst="rect">
            <a:avLst/>
          </a:prstGeom>
          <a:solidFill>
            <a:srgbClr val="120B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4"/>
          <p:cNvSpPr/>
          <p:nvPr/>
        </p:nvSpPr>
        <p:spPr>
          <a:xfrm>
            <a:off x="8328571" y="3824213"/>
            <a:ext cx="1630710" cy="1630710"/>
          </a:xfrm>
          <a:prstGeom prst="rect">
            <a:avLst/>
          </a:prstGeom>
          <a:noFill/>
          <a:ln cap="flat" cmpd="sng" w="9525">
            <a:solidFill>
              <a:srgbClr val="A46EE8">
                <a:alpha val="38824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4"/>
          <p:cNvSpPr/>
          <p:nvPr/>
        </p:nvSpPr>
        <p:spPr>
          <a:xfrm>
            <a:off x="8299996" y="3833738"/>
            <a:ext cx="1687860" cy="1649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98CF0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rgbClr val="B98CF0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4"/>
          <p:cNvSpPr/>
          <p:nvPr/>
        </p:nvSpPr>
        <p:spPr>
          <a:xfrm>
            <a:off x="8328571" y="5569223"/>
            <a:ext cx="1793781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8CF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B98CF0"/>
                </a:solidFill>
                <a:latin typeface="Arial"/>
                <a:ea typeface="Arial"/>
                <a:cs typeface="Arial"/>
                <a:sym typeface="Arial"/>
              </a:rPr>
              <a:t>공개 중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4"/>
          <p:cNvSpPr/>
          <p:nvPr/>
        </p:nvSpPr>
        <p:spPr>
          <a:xfrm>
            <a:off x="8328571" y="5969273"/>
            <a:ext cx="1793781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IN 1.0s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4"/>
          <p:cNvSpPr/>
          <p:nvPr/>
        </p:nvSpPr>
        <p:spPr>
          <a:xfrm>
            <a:off x="10159305" y="3633713"/>
            <a:ext cx="2011710" cy="2678460"/>
          </a:xfrm>
          <a:prstGeom prst="rect">
            <a:avLst/>
          </a:prstGeom>
          <a:solidFill>
            <a:srgbClr val="0A1017">
              <a:alpha val="7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4"/>
          <p:cNvSpPr/>
          <p:nvPr/>
        </p:nvSpPr>
        <p:spPr>
          <a:xfrm>
            <a:off x="10349805" y="3824213"/>
            <a:ext cx="1630710" cy="1630710"/>
          </a:xfrm>
          <a:prstGeom prst="rect">
            <a:avLst/>
          </a:prstGeom>
          <a:noFill/>
          <a:ln cap="flat" cmpd="sng" w="9525">
            <a:solidFill>
              <a:srgbClr val="E6EEF5">
                <a:alpha val="1411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4"/>
          <p:cNvSpPr/>
          <p:nvPr/>
        </p:nvSpPr>
        <p:spPr>
          <a:xfrm>
            <a:off x="10321230" y="3833738"/>
            <a:ext cx="1687860" cy="1649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4"/>
          <p:cNvSpPr/>
          <p:nvPr/>
        </p:nvSpPr>
        <p:spPr>
          <a:xfrm>
            <a:off x="10349805" y="5569223"/>
            <a:ext cx="1793781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— — —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4"/>
          <p:cNvSpPr/>
          <p:nvPr/>
        </p:nvSpPr>
        <p:spPr>
          <a:xfrm>
            <a:off x="10349805" y="5931173"/>
            <a:ext cx="1793781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IN 2.0s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4"/>
          <p:cNvSpPr/>
          <p:nvPr/>
        </p:nvSpPr>
        <p:spPr>
          <a:xfrm>
            <a:off x="12180540" y="3633713"/>
            <a:ext cx="2011561" cy="2678460"/>
          </a:xfrm>
          <a:prstGeom prst="rect">
            <a:avLst/>
          </a:prstGeom>
          <a:solidFill>
            <a:srgbClr val="0A1017">
              <a:alpha val="5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4"/>
          <p:cNvSpPr/>
          <p:nvPr/>
        </p:nvSpPr>
        <p:spPr>
          <a:xfrm>
            <a:off x="12371040" y="3824213"/>
            <a:ext cx="1630561" cy="1630561"/>
          </a:xfrm>
          <a:prstGeom prst="rect">
            <a:avLst/>
          </a:prstGeom>
          <a:noFill/>
          <a:ln cap="flat" cmpd="sng" w="9525">
            <a:solidFill>
              <a:srgbClr val="E6EEF5">
                <a:alpha val="1098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4"/>
          <p:cNvSpPr/>
          <p:nvPr/>
        </p:nvSpPr>
        <p:spPr>
          <a:xfrm>
            <a:off x="12342465" y="3833738"/>
            <a:ext cx="1687711" cy="1649611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4"/>
          <p:cNvSpPr/>
          <p:nvPr/>
        </p:nvSpPr>
        <p:spPr>
          <a:xfrm>
            <a:off x="12371040" y="5569074"/>
            <a:ext cx="179361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— — —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4"/>
          <p:cNvSpPr/>
          <p:nvPr/>
        </p:nvSpPr>
        <p:spPr>
          <a:xfrm>
            <a:off x="12371040" y="5931024"/>
            <a:ext cx="179361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IN 3.0s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4"/>
          <p:cNvSpPr/>
          <p:nvPr/>
        </p:nvSpPr>
        <p:spPr>
          <a:xfrm>
            <a:off x="4095750" y="6312173"/>
            <a:ext cx="10096500" cy="9525"/>
          </a:xfrm>
          <a:prstGeom prst="rect">
            <a:avLst/>
          </a:prstGeom>
          <a:solidFill>
            <a:srgbClr val="C6974A">
              <a:alpha val="3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4"/>
          <p:cNvSpPr/>
          <p:nvPr/>
        </p:nvSpPr>
        <p:spPr>
          <a:xfrm>
            <a:off x="4419600" y="6531248"/>
            <a:ext cx="213937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HOLD F — 담기 (개당 0.2초)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4"/>
          <p:cNvSpPr/>
          <p:nvPr/>
        </p:nvSpPr>
        <p:spPr>
          <a:xfrm>
            <a:off x="11037540" y="6531248"/>
            <a:ext cx="915888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78% → 84%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4"/>
          <p:cNvSpPr/>
          <p:nvPr/>
        </p:nvSpPr>
        <p:spPr>
          <a:xfrm>
            <a:off x="4419600" y="6750323"/>
            <a:ext cx="7457629" cy="152400"/>
          </a:xfrm>
          <a:prstGeom prst="rect">
            <a:avLst/>
          </a:prstGeom>
          <a:solidFill>
            <a:srgbClr val="E6EEF5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4"/>
          <p:cNvSpPr/>
          <p:nvPr/>
        </p:nvSpPr>
        <p:spPr>
          <a:xfrm>
            <a:off x="4438650" y="6769373"/>
            <a:ext cx="4599980" cy="114300"/>
          </a:xfrm>
          <a:prstGeom prst="rect">
            <a:avLst/>
          </a:prstGeom>
          <a:gradFill>
            <a:gsLst>
              <a:gs pos="0">
                <a:srgbClr val="7CD9A8"/>
              </a:gs>
              <a:gs pos="100000">
                <a:srgbClr val="E9B85C"/>
              </a:gs>
            </a:gsLst>
            <a:lin ang="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4"/>
          <p:cNvSpPr/>
          <p:nvPr/>
        </p:nvSpPr>
        <p:spPr>
          <a:xfrm>
            <a:off x="12105829" y="6545535"/>
            <a:ext cx="342900" cy="342900"/>
          </a:xfrm>
          <a:prstGeom prst="rect">
            <a:avLst/>
          </a:prstGeom>
          <a:noFill/>
          <a:ln cap="flat" cmpd="sng" w="19050">
            <a:solidFill>
              <a:srgbClr val="E6EEF5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4"/>
          <p:cNvSpPr/>
          <p:nvPr/>
        </p:nvSpPr>
        <p:spPr>
          <a:xfrm>
            <a:off x="12086779" y="6564585"/>
            <a:ext cx="381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F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4"/>
          <p:cNvSpPr/>
          <p:nvPr/>
        </p:nvSpPr>
        <p:spPr>
          <a:xfrm>
            <a:off x="12543979" y="6636023"/>
            <a:ext cx="1456864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슬롯 선택 = 즉시 가방행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4"/>
          <p:cNvSpPr/>
          <p:nvPr/>
        </p:nvSpPr>
        <p:spPr>
          <a:xfrm>
            <a:off x="4095750" y="7112273"/>
            <a:ext cx="10096500" cy="447675"/>
          </a:xfrm>
          <a:prstGeom prst="rect">
            <a:avLst/>
          </a:prstGeom>
          <a:solidFill>
            <a:srgbClr val="D9563F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4"/>
          <p:cNvSpPr/>
          <p:nvPr/>
        </p:nvSpPr>
        <p:spPr>
          <a:xfrm>
            <a:off x="4095750" y="7112273"/>
            <a:ext cx="10096500" cy="9525"/>
          </a:xfrm>
          <a:prstGeom prst="rect">
            <a:avLst/>
          </a:prstGeom>
          <a:solidFill>
            <a:srgbClr val="D9563F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4"/>
          <p:cNvSpPr/>
          <p:nvPr/>
        </p:nvSpPr>
        <p:spPr>
          <a:xfrm>
            <a:off x="4419600" y="7302773"/>
            <a:ext cx="76200" cy="76200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4"/>
          <p:cNvSpPr/>
          <p:nvPr/>
        </p:nvSpPr>
        <p:spPr>
          <a:xfrm>
            <a:off x="4610100" y="7255148"/>
            <a:ext cx="4449663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A79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0A79A"/>
                </a:solidFill>
                <a:latin typeface="Arial"/>
                <a:ea typeface="Arial"/>
                <a:cs typeface="Arial"/>
                <a:sym typeface="Arial"/>
              </a:rPr>
              <a:t>피격 또는 이동 입력 시 UI 즉시 닫힘 — 개봉 로딩부터 처음부터 다시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4"/>
          <p:cNvSpPr/>
          <p:nvPr/>
        </p:nvSpPr>
        <p:spPr>
          <a:xfrm>
            <a:off x="5426497" y="9791700"/>
            <a:ext cx="3602132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NO PERSONAL INVENTORY — WEIGHT ONLY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4"/>
          <p:cNvSpPr/>
          <p:nvPr/>
        </p:nvSpPr>
        <p:spPr>
          <a:xfrm>
            <a:off x="9025012" y="9791700"/>
            <a:ext cx="4220141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EEF5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E6EEF5"/>
                </a:solidFill>
                <a:latin typeface="Arial"/>
                <a:ea typeface="Arial"/>
                <a:cs typeface="Arial"/>
                <a:sym typeface="Arial"/>
              </a:rPr>
              <a:t>REVEALED SLOTS STAY REVEALED FOR EVERYONE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805"/>
        </a:solidFill>
      </p:bgPr>
    </p:bg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5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20C0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5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8A5F38"/>
              </a:gs>
              <a:gs pos="42000">
                <a:srgbClr val="5A3B22"/>
              </a:gs>
              <a:gs pos="78000">
                <a:srgbClr val="2A1A0E"/>
              </a:gs>
              <a:gs pos="100000">
                <a:srgbClr val="150D07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5"/>
          <p:cNvSpPr/>
          <p:nvPr/>
        </p:nvSpPr>
        <p:spPr>
          <a:xfrm>
            <a:off x="7554813" y="4937820"/>
            <a:ext cx="3273571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66250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게임 뷰 — 카페 내부 탑다운 · 카운터 위 스포트라이트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5"/>
          <p:cNvSpPr/>
          <p:nvPr/>
        </p:nvSpPr>
        <p:spPr>
          <a:xfrm>
            <a:off x="7651105" y="5191125"/>
            <a:ext cx="307521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66250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조리대가 위아래를 가르고 서빙 카운터는 위쪽에만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5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 rotWithShape="1">
            <a:blip r:embed="rId3">
              <a:alphaModFix/>
            </a:blip>
            <a:tile algn="tl" flip="none" tx="0" sx="100000" ty="0" sy="10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5"/>
          <p:cNvSpPr/>
          <p:nvPr/>
        </p:nvSpPr>
        <p:spPr>
          <a:xfrm>
            <a:off x="0" y="0"/>
            <a:ext cx="18288000" cy="923925"/>
          </a:xfrm>
          <a:prstGeom prst="rect">
            <a:avLst/>
          </a:prstGeom>
          <a:gradFill>
            <a:gsLst>
              <a:gs pos="0">
                <a:srgbClr val="0C0804">
                  <a:alpha val="94118"/>
                </a:srgbClr>
              </a:gs>
              <a:gs pos="62000">
                <a:srgbClr val="0C0804">
                  <a:alpha val="70196"/>
                </a:srgbClr>
              </a:gs>
              <a:gs pos="100000">
                <a:srgbClr val="0C0804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5"/>
          <p:cNvSpPr/>
          <p:nvPr/>
        </p:nvSpPr>
        <p:spPr>
          <a:xfrm>
            <a:off x="0" y="914400"/>
            <a:ext cx="18288000" cy="9525"/>
          </a:xfrm>
          <a:prstGeom prst="rect">
            <a:avLst/>
          </a:prstGeom>
          <a:solidFill>
            <a:srgbClr val="C6974A">
              <a:alpha val="3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5"/>
          <p:cNvSpPr/>
          <p:nvPr/>
        </p:nvSpPr>
        <p:spPr>
          <a:xfrm>
            <a:off x="419100" y="495300"/>
            <a:ext cx="1256407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DAY 04 / 07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5"/>
          <p:cNvSpPr/>
          <p:nvPr/>
        </p:nvSpPr>
        <p:spPr>
          <a:xfrm>
            <a:off x="1732657" y="238125"/>
            <a:ext cx="928985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85185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3450"/>
              <a:buFont typeface="Arial"/>
              <a:buNone/>
            </a:pPr>
            <a:r>
              <a:rPr b="1" i="0" lang="en-US" sz="34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1:47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5"/>
          <p:cNvSpPr/>
          <p:nvPr/>
        </p:nvSpPr>
        <p:spPr>
          <a:xfrm>
            <a:off x="2966442" y="247650"/>
            <a:ext cx="9525" cy="419100"/>
          </a:xfrm>
          <a:prstGeom prst="rect">
            <a:avLst/>
          </a:prstGeom>
          <a:solidFill>
            <a:srgbClr val="C6974A">
              <a:alpha val="3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p5"/>
          <p:cNvSpPr/>
          <p:nvPr/>
        </p:nvSpPr>
        <p:spPr>
          <a:xfrm>
            <a:off x="3356967" y="423863"/>
            <a:ext cx="27116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5"/>
          <p:cNvSpPr/>
          <p:nvPr/>
        </p:nvSpPr>
        <p:spPr>
          <a:xfrm>
            <a:off x="3647182" y="385763"/>
            <a:ext cx="687437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늑대 소굴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5"/>
          <p:cNvSpPr/>
          <p:nvPr/>
        </p:nvSpPr>
        <p:spPr>
          <a:xfrm>
            <a:off x="4353669" y="309563"/>
            <a:ext cx="696069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8,420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5"/>
          <p:cNvSpPr/>
          <p:nvPr/>
        </p:nvSpPr>
        <p:spPr>
          <a:xfrm>
            <a:off x="5297388" y="423863"/>
            <a:ext cx="27116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5"/>
          <p:cNvSpPr/>
          <p:nvPr/>
        </p:nvSpPr>
        <p:spPr>
          <a:xfrm>
            <a:off x="5587603" y="385763"/>
            <a:ext cx="687437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안개 등대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5"/>
          <p:cNvSpPr/>
          <p:nvPr/>
        </p:nvSpPr>
        <p:spPr>
          <a:xfrm>
            <a:off x="6294090" y="309563"/>
            <a:ext cx="696069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7,960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5"/>
          <p:cNvSpPr/>
          <p:nvPr/>
        </p:nvSpPr>
        <p:spPr>
          <a:xfrm>
            <a:off x="7237809" y="423863"/>
            <a:ext cx="27116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5"/>
          <p:cNvSpPr/>
          <p:nvPr/>
        </p:nvSpPr>
        <p:spPr>
          <a:xfrm>
            <a:off x="7528024" y="385763"/>
            <a:ext cx="83031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뼈다귀 클럽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5"/>
          <p:cNvSpPr/>
          <p:nvPr/>
        </p:nvSpPr>
        <p:spPr>
          <a:xfrm>
            <a:off x="8377386" y="309563"/>
            <a:ext cx="696069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6,310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5"/>
          <p:cNvSpPr/>
          <p:nvPr/>
        </p:nvSpPr>
        <p:spPr>
          <a:xfrm>
            <a:off x="9321105" y="423863"/>
            <a:ext cx="27116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5"/>
          <p:cNvSpPr/>
          <p:nvPr/>
        </p:nvSpPr>
        <p:spPr>
          <a:xfrm>
            <a:off x="9611320" y="385763"/>
            <a:ext cx="687437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달빛 여관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5"/>
          <p:cNvSpPr/>
          <p:nvPr/>
        </p:nvSpPr>
        <p:spPr>
          <a:xfrm>
            <a:off x="10317807" y="309563"/>
            <a:ext cx="696069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4,180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5"/>
          <p:cNvSpPr/>
          <p:nvPr/>
        </p:nvSpPr>
        <p:spPr>
          <a:xfrm>
            <a:off x="16858208" y="228600"/>
            <a:ext cx="101069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RENT DUE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5"/>
          <p:cNvSpPr/>
          <p:nvPr/>
        </p:nvSpPr>
        <p:spPr>
          <a:xfrm>
            <a:off x="16858208" y="361950"/>
            <a:ext cx="553045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5"/>
          <p:cNvSpPr/>
          <p:nvPr/>
        </p:nvSpPr>
        <p:spPr>
          <a:xfrm>
            <a:off x="17411254" y="466725"/>
            <a:ext cx="457646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/ 250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5"/>
          <p:cNvSpPr/>
          <p:nvPr/>
        </p:nvSpPr>
        <p:spPr>
          <a:xfrm>
            <a:off x="323850" y="1219200"/>
            <a:ext cx="3124200" cy="4114800"/>
          </a:xfrm>
          <a:prstGeom prst="rect">
            <a:avLst/>
          </a:prstGeom>
          <a:solidFill>
            <a:srgbClr val="0E0905">
              <a:alpha val="78039"/>
            </a:srgbClr>
          </a:solidFill>
          <a:ln cap="flat" cmpd="sng" w="9525">
            <a:solidFill>
              <a:srgbClr val="C6974A">
                <a:alpha val="32157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5"/>
          <p:cNvSpPr/>
          <p:nvPr/>
        </p:nvSpPr>
        <p:spPr>
          <a:xfrm>
            <a:off x="333375" y="1619250"/>
            <a:ext cx="3105150" cy="9525"/>
          </a:xfrm>
          <a:prstGeom prst="rect">
            <a:avLst/>
          </a:prstGeom>
          <a:solidFill>
            <a:srgbClr val="C6974A">
              <a:alpha val="2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5"/>
          <p:cNvSpPr/>
          <p:nvPr/>
        </p:nvSpPr>
        <p:spPr>
          <a:xfrm>
            <a:off x="485775" y="1357313"/>
            <a:ext cx="151236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ORDER QUEUE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5"/>
          <p:cNvSpPr/>
          <p:nvPr/>
        </p:nvSpPr>
        <p:spPr>
          <a:xfrm>
            <a:off x="2849166" y="1343025"/>
            <a:ext cx="513159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04 / 06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5"/>
          <p:cNvSpPr/>
          <p:nvPr/>
        </p:nvSpPr>
        <p:spPr>
          <a:xfrm>
            <a:off x="485775" y="2552700"/>
            <a:ext cx="2800350" cy="9525"/>
          </a:xfrm>
          <a:prstGeom prst="rect">
            <a:avLst/>
          </a:prstGeom>
          <a:solidFill>
            <a:srgbClr val="F2E3CB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5"/>
          <p:cNvSpPr/>
          <p:nvPr/>
        </p:nvSpPr>
        <p:spPr>
          <a:xfrm>
            <a:off x="485775" y="1828800"/>
            <a:ext cx="400050" cy="400050"/>
          </a:xfrm>
          <a:prstGeom prst="rect">
            <a:avLst/>
          </a:prstGeom>
          <a:solidFill>
            <a:srgbClr val="F2E3CB">
              <a:alpha val="14118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5"/>
          <p:cNvSpPr/>
          <p:nvPr/>
        </p:nvSpPr>
        <p:spPr>
          <a:xfrm>
            <a:off x="614363" y="1933575"/>
            <a:ext cx="2190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뱀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5"/>
          <p:cNvSpPr/>
          <p:nvPr/>
        </p:nvSpPr>
        <p:spPr>
          <a:xfrm>
            <a:off x="1000125" y="1819275"/>
            <a:ext cx="1846987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아이스모카</a:t>
            </a:r>
            <a:endParaRPr b="0" i="0" sz="15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5"/>
          <p:cNvSpPr/>
          <p:nvPr/>
        </p:nvSpPr>
        <p:spPr>
          <a:xfrm>
            <a:off x="1000125" y="2085975"/>
            <a:ext cx="1846987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원두 · 우유 · 초콜렛 · 얼음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5"/>
          <p:cNvSpPr/>
          <p:nvPr/>
        </p:nvSpPr>
        <p:spPr>
          <a:xfrm>
            <a:off x="2793504" y="1919288"/>
            <a:ext cx="568821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+60%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5"/>
          <p:cNvSpPr/>
          <p:nvPr/>
        </p:nvSpPr>
        <p:spPr>
          <a:xfrm>
            <a:off x="485775" y="2352675"/>
            <a:ext cx="254198" cy="66675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5"/>
          <p:cNvSpPr/>
          <p:nvPr/>
        </p:nvSpPr>
        <p:spPr>
          <a:xfrm>
            <a:off x="768548" y="2352675"/>
            <a:ext cx="254347" cy="66675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5"/>
          <p:cNvSpPr/>
          <p:nvPr/>
        </p:nvSpPr>
        <p:spPr>
          <a:xfrm>
            <a:off x="1051471" y="2352675"/>
            <a:ext cx="254198" cy="66675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5"/>
          <p:cNvSpPr/>
          <p:nvPr/>
        </p:nvSpPr>
        <p:spPr>
          <a:xfrm>
            <a:off x="1334244" y="2352675"/>
            <a:ext cx="254347" cy="66675"/>
          </a:xfrm>
          <a:prstGeom prst="rect">
            <a:avLst/>
          </a:prstGeom>
          <a:solidFill>
            <a:srgbClr val="F2E3CB">
              <a:alpha val="1411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5"/>
          <p:cNvSpPr/>
          <p:nvPr/>
        </p:nvSpPr>
        <p:spPr>
          <a:xfrm>
            <a:off x="1617166" y="2352675"/>
            <a:ext cx="254347" cy="66675"/>
          </a:xfrm>
          <a:prstGeom prst="rect">
            <a:avLst/>
          </a:prstGeom>
          <a:solidFill>
            <a:srgbClr val="F2E3CB">
              <a:alpha val="1411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5"/>
          <p:cNvSpPr/>
          <p:nvPr/>
        </p:nvSpPr>
        <p:spPr>
          <a:xfrm>
            <a:off x="1900089" y="2352675"/>
            <a:ext cx="254347" cy="66675"/>
          </a:xfrm>
          <a:prstGeom prst="rect">
            <a:avLst/>
          </a:prstGeom>
          <a:solidFill>
            <a:srgbClr val="F2E3CB">
              <a:alpha val="1411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5"/>
          <p:cNvSpPr/>
          <p:nvPr/>
        </p:nvSpPr>
        <p:spPr>
          <a:xfrm>
            <a:off x="2183011" y="2352675"/>
            <a:ext cx="254347" cy="66675"/>
          </a:xfrm>
          <a:prstGeom prst="rect">
            <a:avLst/>
          </a:prstGeom>
          <a:solidFill>
            <a:srgbClr val="F2E3CB">
              <a:alpha val="1411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5"/>
          <p:cNvSpPr/>
          <p:nvPr/>
        </p:nvSpPr>
        <p:spPr>
          <a:xfrm>
            <a:off x="2465933" y="2352675"/>
            <a:ext cx="254347" cy="66675"/>
          </a:xfrm>
          <a:prstGeom prst="rect">
            <a:avLst/>
          </a:prstGeom>
          <a:solidFill>
            <a:srgbClr val="F2E3CB">
              <a:alpha val="1411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5"/>
          <p:cNvSpPr/>
          <p:nvPr/>
        </p:nvSpPr>
        <p:spPr>
          <a:xfrm>
            <a:off x="2748855" y="2352675"/>
            <a:ext cx="254347" cy="66675"/>
          </a:xfrm>
          <a:prstGeom prst="rect">
            <a:avLst/>
          </a:prstGeom>
          <a:solidFill>
            <a:srgbClr val="F2E3CB">
              <a:alpha val="1411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5"/>
          <p:cNvSpPr/>
          <p:nvPr/>
        </p:nvSpPr>
        <p:spPr>
          <a:xfrm>
            <a:off x="3031778" y="2352675"/>
            <a:ext cx="254347" cy="66675"/>
          </a:xfrm>
          <a:prstGeom prst="rect">
            <a:avLst/>
          </a:prstGeom>
          <a:solidFill>
            <a:srgbClr val="F2E3CB">
              <a:alpha val="1411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5"/>
          <p:cNvSpPr/>
          <p:nvPr/>
        </p:nvSpPr>
        <p:spPr>
          <a:xfrm>
            <a:off x="485775" y="3429000"/>
            <a:ext cx="2800350" cy="9525"/>
          </a:xfrm>
          <a:prstGeom prst="rect">
            <a:avLst/>
          </a:prstGeom>
          <a:solidFill>
            <a:srgbClr val="F2E3CB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5"/>
          <p:cNvSpPr/>
          <p:nvPr/>
        </p:nvSpPr>
        <p:spPr>
          <a:xfrm>
            <a:off x="485775" y="2705100"/>
            <a:ext cx="400050" cy="400050"/>
          </a:xfrm>
          <a:prstGeom prst="rect">
            <a:avLst/>
          </a:prstGeom>
          <a:solidFill>
            <a:srgbClr val="F2E3CB">
              <a:alpha val="14118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5"/>
          <p:cNvSpPr/>
          <p:nvPr/>
        </p:nvSpPr>
        <p:spPr>
          <a:xfrm>
            <a:off x="614363" y="2809875"/>
            <a:ext cx="2190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유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5"/>
          <p:cNvSpPr/>
          <p:nvPr/>
        </p:nvSpPr>
        <p:spPr>
          <a:xfrm>
            <a:off x="1000125" y="2695575"/>
            <a:ext cx="1846987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아이스라떼</a:t>
            </a:r>
            <a:endParaRPr b="0" i="0" sz="15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5"/>
          <p:cNvSpPr/>
          <p:nvPr/>
        </p:nvSpPr>
        <p:spPr>
          <a:xfrm>
            <a:off x="1000125" y="2962275"/>
            <a:ext cx="1846987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원두 · 우유 · 얼음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5"/>
          <p:cNvSpPr/>
          <p:nvPr/>
        </p:nvSpPr>
        <p:spPr>
          <a:xfrm>
            <a:off x="2793504" y="2795588"/>
            <a:ext cx="568821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+30%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5"/>
          <p:cNvSpPr/>
          <p:nvPr/>
        </p:nvSpPr>
        <p:spPr>
          <a:xfrm>
            <a:off x="485775" y="3228975"/>
            <a:ext cx="254198" cy="66675"/>
          </a:xfrm>
          <a:prstGeom prst="rect">
            <a:avLst/>
          </a:prstGeom>
          <a:solidFill>
            <a:srgbClr val="E9B8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5"/>
          <p:cNvSpPr/>
          <p:nvPr/>
        </p:nvSpPr>
        <p:spPr>
          <a:xfrm>
            <a:off x="768548" y="3228975"/>
            <a:ext cx="254347" cy="66675"/>
          </a:xfrm>
          <a:prstGeom prst="rect">
            <a:avLst/>
          </a:prstGeom>
          <a:solidFill>
            <a:srgbClr val="E9B8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5"/>
          <p:cNvSpPr/>
          <p:nvPr/>
        </p:nvSpPr>
        <p:spPr>
          <a:xfrm>
            <a:off x="1051471" y="3228975"/>
            <a:ext cx="254198" cy="66675"/>
          </a:xfrm>
          <a:prstGeom prst="rect">
            <a:avLst/>
          </a:prstGeom>
          <a:solidFill>
            <a:srgbClr val="E9B8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5"/>
          <p:cNvSpPr/>
          <p:nvPr/>
        </p:nvSpPr>
        <p:spPr>
          <a:xfrm>
            <a:off x="1334244" y="3228975"/>
            <a:ext cx="254347" cy="66675"/>
          </a:xfrm>
          <a:prstGeom prst="rect">
            <a:avLst/>
          </a:prstGeom>
          <a:solidFill>
            <a:srgbClr val="E9B8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5"/>
          <p:cNvSpPr/>
          <p:nvPr/>
        </p:nvSpPr>
        <p:spPr>
          <a:xfrm>
            <a:off x="1617166" y="3228975"/>
            <a:ext cx="254347" cy="66675"/>
          </a:xfrm>
          <a:prstGeom prst="rect">
            <a:avLst/>
          </a:prstGeom>
          <a:solidFill>
            <a:srgbClr val="E9B8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5"/>
          <p:cNvSpPr/>
          <p:nvPr/>
        </p:nvSpPr>
        <p:spPr>
          <a:xfrm>
            <a:off x="1900089" y="3228975"/>
            <a:ext cx="254347" cy="66675"/>
          </a:xfrm>
          <a:prstGeom prst="rect">
            <a:avLst/>
          </a:prstGeom>
          <a:solidFill>
            <a:srgbClr val="E9B8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5"/>
          <p:cNvSpPr/>
          <p:nvPr/>
        </p:nvSpPr>
        <p:spPr>
          <a:xfrm>
            <a:off x="2183011" y="3228975"/>
            <a:ext cx="254347" cy="66675"/>
          </a:xfrm>
          <a:prstGeom prst="rect">
            <a:avLst/>
          </a:prstGeom>
          <a:solidFill>
            <a:srgbClr val="F2E3CB">
              <a:alpha val="1411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5"/>
          <p:cNvSpPr/>
          <p:nvPr/>
        </p:nvSpPr>
        <p:spPr>
          <a:xfrm>
            <a:off x="2465933" y="3228975"/>
            <a:ext cx="254347" cy="66675"/>
          </a:xfrm>
          <a:prstGeom prst="rect">
            <a:avLst/>
          </a:prstGeom>
          <a:solidFill>
            <a:srgbClr val="F2E3CB">
              <a:alpha val="1411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5"/>
          <p:cNvSpPr/>
          <p:nvPr/>
        </p:nvSpPr>
        <p:spPr>
          <a:xfrm>
            <a:off x="2748855" y="3228975"/>
            <a:ext cx="254347" cy="66675"/>
          </a:xfrm>
          <a:prstGeom prst="rect">
            <a:avLst/>
          </a:prstGeom>
          <a:solidFill>
            <a:srgbClr val="F2E3CB">
              <a:alpha val="1411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5"/>
          <p:cNvSpPr/>
          <p:nvPr/>
        </p:nvSpPr>
        <p:spPr>
          <a:xfrm>
            <a:off x="3031778" y="3228975"/>
            <a:ext cx="254347" cy="66675"/>
          </a:xfrm>
          <a:prstGeom prst="rect">
            <a:avLst/>
          </a:prstGeom>
          <a:solidFill>
            <a:srgbClr val="F2E3CB">
              <a:alpha val="1411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5"/>
          <p:cNvSpPr/>
          <p:nvPr/>
        </p:nvSpPr>
        <p:spPr>
          <a:xfrm>
            <a:off x="485775" y="4305300"/>
            <a:ext cx="2800350" cy="9525"/>
          </a:xfrm>
          <a:prstGeom prst="rect">
            <a:avLst/>
          </a:prstGeom>
          <a:solidFill>
            <a:srgbClr val="F2E3CB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5"/>
          <p:cNvSpPr/>
          <p:nvPr/>
        </p:nvSpPr>
        <p:spPr>
          <a:xfrm>
            <a:off x="485775" y="3581400"/>
            <a:ext cx="400050" cy="400050"/>
          </a:xfrm>
          <a:prstGeom prst="rect">
            <a:avLst/>
          </a:prstGeom>
          <a:solidFill>
            <a:srgbClr val="F2E3CB">
              <a:alpha val="14118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5"/>
          <p:cNvSpPr/>
          <p:nvPr/>
        </p:nvSpPr>
        <p:spPr>
          <a:xfrm>
            <a:off x="614363" y="3686175"/>
            <a:ext cx="2190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마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5"/>
          <p:cNvSpPr/>
          <p:nvPr/>
        </p:nvSpPr>
        <p:spPr>
          <a:xfrm>
            <a:off x="1000125" y="3571875"/>
            <a:ext cx="1846987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카페모카</a:t>
            </a:r>
            <a:endParaRPr b="0" i="0" sz="15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5"/>
          <p:cNvSpPr/>
          <p:nvPr/>
        </p:nvSpPr>
        <p:spPr>
          <a:xfrm>
            <a:off x="1000125" y="3838575"/>
            <a:ext cx="1846987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원두 · 우유 · 초콜렛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5"/>
          <p:cNvSpPr/>
          <p:nvPr/>
        </p:nvSpPr>
        <p:spPr>
          <a:xfrm>
            <a:off x="2793504" y="3671888"/>
            <a:ext cx="568821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+30%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5"/>
          <p:cNvSpPr/>
          <p:nvPr/>
        </p:nvSpPr>
        <p:spPr>
          <a:xfrm>
            <a:off x="485775" y="4105275"/>
            <a:ext cx="254198" cy="66675"/>
          </a:xfrm>
          <a:prstGeom prst="rect">
            <a:avLst/>
          </a:prstGeom>
          <a:solidFill>
            <a:srgbClr val="7CD9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5"/>
          <p:cNvSpPr/>
          <p:nvPr/>
        </p:nvSpPr>
        <p:spPr>
          <a:xfrm>
            <a:off x="768548" y="4105275"/>
            <a:ext cx="254347" cy="66675"/>
          </a:xfrm>
          <a:prstGeom prst="rect">
            <a:avLst/>
          </a:prstGeom>
          <a:solidFill>
            <a:srgbClr val="7CD9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5"/>
          <p:cNvSpPr/>
          <p:nvPr/>
        </p:nvSpPr>
        <p:spPr>
          <a:xfrm>
            <a:off x="1051471" y="4105275"/>
            <a:ext cx="254198" cy="66675"/>
          </a:xfrm>
          <a:prstGeom prst="rect">
            <a:avLst/>
          </a:prstGeom>
          <a:solidFill>
            <a:srgbClr val="7CD9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5"/>
          <p:cNvSpPr/>
          <p:nvPr/>
        </p:nvSpPr>
        <p:spPr>
          <a:xfrm>
            <a:off x="1334244" y="4105275"/>
            <a:ext cx="254347" cy="66675"/>
          </a:xfrm>
          <a:prstGeom prst="rect">
            <a:avLst/>
          </a:prstGeom>
          <a:solidFill>
            <a:srgbClr val="7CD9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p5"/>
          <p:cNvSpPr/>
          <p:nvPr/>
        </p:nvSpPr>
        <p:spPr>
          <a:xfrm>
            <a:off x="1617166" y="4105275"/>
            <a:ext cx="254347" cy="66675"/>
          </a:xfrm>
          <a:prstGeom prst="rect">
            <a:avLst/>
          </a:prstGeom>
          <a:solidFill>
            <a:srgbClr val="7CD9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5"/>
          <p:cNvSpPr/>
          <p:nvPr/>
        </p:nvSpPr>
        <p:spPr>
          <a:xfrm>
            <a:off x="1900089" y="4105275"/>
            <a:ext cx="254347" cy="66675"/>
          </a:xfrm>
          <a:prstGeom prst="rect">
            <a:avLst/>
          </a:prstGeom>
          <a:solidFill>
            <a:srgbClr val="7CD9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5"/>
          <p:cNvSpPr/>
          <p:nvPr/>
        </p:nvSpPr>
        <p:spPr>
          <a:xfrm>
            <a:off x="2183011" y="4105275"/>
            <a:ext cx="254347" cy="66675"/>
          </a:xfrm>
          <a:prstGeom prst="rect">
            <a:avLst/>
          </a:prstGeom>
          <a:solidFill>
            <a:srgbClr val="7CD9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5"/>
          <p:cNvSpPr/>
          <p:nvPr/>
        </p:nvSpPr>
        <p:spPr>
          <a:xfrm>
            <a:off x="2465933" y="4105275"/>
            <a:ext cx="254347" cy="66675"/>
          </a:xfrm>
          <a:prstGeom prst="rect">
            <a:avLst/>
          </a:prstGeom>
          <a:solidFill>
            <a:srgbClr val="7CD9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5"/>
          <p:cNvSpPr/>
          <p:nvPr/>
        </p:nvSpPr>
        <p:spPr>
          <a:xfrm>
            <a:off x="2748855" y="4105275"/>
            <a:ext cx="254347" cy="66675"/>
          </a:xfrm>
          <a:prstGeom prst="rect">
            <a:avLst/>
          </a:prstGeom>
          <a:solidFill>
            <a:srgbClr val="F2E3CB">
              <a:alpha val="1411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5"/>
          <p:cNvSpPr/>
          <p:nvPr/>
        </p:nvSpPr>
        <p:spPr>
          <a:xfrm>
            <a:off x="3031778" y="4105275"/>
            <a:ext cx="254347" cy="66675"/>
          </a:xfrm>
          <a:prstGeom prst="rect">
            <a:avLst/>
          </a:prstGeom>
          <a:solidFill>
            <a:srgbClr val="F2E3CB">
              <a:alpha val="1411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5"/>
          <p:cNvSpPr/>
          <p:nvPr/>
        </p:nvSpPr>
        <p:spPr>
          <a:xfrm>
            <a:off x="485775" y="5181600"/>
            <a:ext cx="2800350" cy="9525"/>
          </a:xfrm>
          <a:prstGeom prst="rect">
            <a:avLst/>
          </a:prstGeom>
          <a:solidFill>
            <a:srgbClr val="F2E3CB">
              <a:alpha val="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5"/>
          <p:cNvSpPr/>
          <p:nvPr/>
        </p:nvSpPr>
        <p:spPr>
          <a:xfrm>
            <a:off x="485775" y="4457700"/>
            <a:ext cx="400050" cy="400050"/>
          </a:xfrm>
          <a:prstGeom prst="rect">
            <a:avLst/>
          </a:prstGeom>
          <a:solidFill>
            <a:srgbClr val="F2E3CB">
              <a:alpha val="7059"/>
            </a:srgbClr>
          </a:solidFill>
          <a:ln cap="flat" cmpd="sng" w="9525">
            <a:solidFill>
              <a:srgbClr val="F2E3CB">
                <a:alpha val="1098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5"/>
          <p:cNvSpPr/>
          <p:nvPr/>
        </p:nvSpPr>
        <p:spPr>
          <a:xfrm>
            <a:off x="614363" y="4562475"/>
            <a:ext cx="2190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좀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5"/>
          <p:cNvSpPr/>
          <p:nvPr/>
        </p:nvSpPr>
        <p:spPr>
          <a:xfrm>
            <a:off x="1000125" y="4448175"/>
            <a:ext cx="1963549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핫 아메리카노</a:t>
            </a:r>
            <a:endParaRPr b="0" i="0" sz="15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5"/>
          <p:cNvSpPr/>
          <p:nvPr/>
        </p:nvSpPr>
        <p:spPr>
          <a:xfrm>
            <a:off x="1000125" y="4714875"/>
            <a:ext cx="1963549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원두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5"/>
          <p:cNvSpPr/>
          <p:nvPr/>
        </p:nvSpPr>
        <p:spPr>
          <a:xfrm>
            <a:off x="2899470" y="4548188"/>
            <a:ext cx="462855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+0%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5"/>
          <p:cNvSpPr/>
          <p:nvPr/>
        </p:nvSpPr>
        <p:spPr>
          <a:xfrm>
            <a:off x="485775" y="4981575"/>
            <a:ext cx="254198" cy="66675"/>
          </a:xfrm>
          <a:prstGeom prst="rect">
            <a:avLst/>
          </a:prstGeom>
          <a:solidFill>
            <a:srgbClr val="7CD9A8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5"/>
          <p:cNvSpPr/>
          <p:nvPr/>
        </p:nvSpPr>
        <p:spPr>
          <a:xfrm>
            <a:off x="768548" y="4981575"/>
            <a:ext cx="254347" cy="66675"/>
          </a:xfrm>
          <a:prstGeom prst="rect">
            <a:avLst/>
          </a:prstGeom>
          <a:solidFill>
            <a:srgbClr val="7CD9A8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2" name="Google Shape;452;p5"/>
          <p:cNvSpPr/>
          <p:nvPr/>
        </p:nvSpPr>
        <p:spPr>
          <a:xfrm>
            <a:off x="1051471" y="4981575"/>
            <a:ext cx="254198" cy="66675"/>
          </a:xfrm>
          <a:prstGeom prst="rect">
            <a:avLst/>
          </a:prstGeom>
          <a:solidFill>
            <a:srgbClr val="7CD9A8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5"/>
          <p:cNvSpPr/>
          <p:nvPr/>
        </p:nvSpPr>
        <p:spPr>
          <a:xfrm>
            <a:off x="1334244" y="4981575"/>
            <a:ext cx="254347" cy="66675"/>
          </a:xfrm>
          <a:prstGeom prst="rect">
            <a:avLst/>
          </a:prstGeom>
          <a:solidFill>
            <a:srgbClr val="7CD9A8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5"/>
          <p:cNvSpPr/>
          <p:nvPr/>
        </p:nvSpPr>
        <p:spPr>
          <a:xfrm>
            <a:off x="1617166" y="4981575"/>
            <a:ext cx="254347" cy="66675"/>
          </a:xfrm>
          <a:prstGeom prst="rect">
            <a:avLst/>
          </a:prstGeom>
          <a:solidFill>
            <a:srgbClr val="7CD9A8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5"/>
          <p:cNvSpPr/>
          <p:nvPr/>
        </p:nvSpPr>
        <p:spPr>
          <a:xfrm>
            <a:off x="1900089" y="4981575"/>
            <a:ext cx="254347" cy="66675"/>
          </a:xfrm>
          <a:prstGeom prst="rect">
            <a:avLst/>
          </a:prstGeom>
          <a:solidFill>
            <a:srgbClr val="7CD9A8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5"/>
          <p:cNvSpPr/>
          <p:nvPr/>
        </p:nvSpPr>
        <p:spPr>
          <a:xfrm>
            <a:off x="2183011" y="4981575"/>
            <a:ext cx="254347" cy="66675"/>
          </a:xfrm>
          <a:prstGeom prst="rect">
            <a:avLst/>
          </a:prstGeom>
          <a:solidFill>
            <a:srgbClr val="7CD9A8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7" name="Google Shape;457;p5"/>
          <p:cNvSpPr/>
          <p:nvPr/>
        </p:nvSpPr>
        <p:spPr>
          <a:xfrm>
            <a:off x="2465933" y="4981575"/>
            <a:ext cx="254347" cy="66675"/>
          </a:xfrm>
          <a:prstGeom prst="rect">
            <a:avLst/>
          </a:prstGeom>
          <a:solidFill>
            <a:srgbClr val="7CD9A8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5"/>
          <p:cNvSpPr/>
          <p:nvPr/>
        </p:nvSpPr>
        <p:spPr>
          <a:xfrm>
            <a:off x="2748855" y="4981575"/>
            <a:ext cx="254347" cy="66675"/>
          </a:xfrm>
          <a:prstGeom prst="rect">
            <a:avLst/>
          </a:prstGeom>
          <a:solidFill>
            <a:srgbClr val="7CD9A8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5"/>
          <p:cNvSpPr/>
          <p:nvPr/>
        </p:nvSpPr>
        <p:spPr>
          <a:xfrm>
            <a:off x="3031778" y="4981575"/>
            <a:ext cx="254347" cy="66675"/>
          </a:xfrm>
          <a:prstGeom prst="rect">
            <a:avLst/>
          </a:prstGeom>
          <a:solidFill>
            <a:srgbClr val="F2E3CB">
              <a:alpha val="705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5"/>
          <p:cNvSpPr/>
          <p:nvPr/>
        </p:nvSpPr>
        <p:spPr>
          <a:xfrm>
            <a:off x="15392400" y="1219200"/>
            <a:ext cx="2571750" cy="2202061"/>
          </a:xfrm>
          <a:prstGeom prst="rect">
            <a:avLst/>
          </a:prstGeom>
          <a:solidFill>
            <a:srgbClr val="0E0905">
              <a:alpha val="78039"/>
            </a:srgbClr>
          </a:solidFill>
          <a:ln cap="flat" cmpd="sng" w="9525">
            <a:solidFill>
              <a:srgbClr val="C6974A">
                <a:alpha val="32157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5"/>
          <p:cNvSpPr/>
          <p:nvPr/>
        </p:nvSpPr>
        <p:spPr>
          <a:xfrm>
            <a:off x="15401925" y="1590675"/>
            <a:ext cx="2552700" cy="9525"/>
          </a:xfrm>
          <a:prstGeom prst="rect">
            <a:avLst/>
          </a:prstGeom>
          <a:solidFill>
            <a:srgbClr val="C6974A">
              <a:alpha val="2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5"/>
          <p:cNvSpPr/>
          <p:nvPr/>
        </p:nvSpPr>
        <p:spPr>
          <a:xfrm>
            <a:off x="15477744" y="1343025"/>
            <a:ext cx="2324481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TODAY’S DEMAND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5"/>
          <p:cNvSpPr/>
          <p:nvPr/>
        </p:nvSpPr>
        <p:spPr>
          <a:xfrm>
            <a:off x="15554325" y="1733550"/>
            <a:ext cx="304800" cy="304800"/>
          </a:xfrm>
          <a:prstGeom prst="rect">
            <a:avLst/>
          </a:prstGeom>
          <a:solidFill>
            <a:srgbClr val="F2E3CB">
              <a:alpha val="16078"/>
            </a:srgbClr>
          </a:solidFill>
          <a:ln cap="flat" cmpd="sng" w="9525">
            <a:solidFill>
              <a:srgbClr val="F2E3CB">
                <a:alpha val="2392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5"/>
          <p:cNvSpPr/>
          <p:nvPr/>
        </p:nvSpPr>
        <p:spPr>
          <a:xfrm>
            <a:off x="15973425" y="1762125"/>
            <a:ext cx="61912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초콜렛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5"/>
          <p:cNvSpPr/>
          <p:nvPr/>
        </p:nvSpPr>
        <p:spPr>
          <a:xfrm>
            <a:off x="17334309" y="1781175"/>
            <a:ext cx="544116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+30%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5"/>
          <p:cNvSpPr/>
          <p:nvPr/>
        </p:nvSpPr>
        <p:spPr>
          <a:xfrm>
            <a:off x="15554325" y="2152650"/>
            <a:ext cx="304800" cy="304800"/>
          </a:xfrm>
          <a:prstGeom prst="rect">
            <a:avLst/>
          </a:prstGeom>
          <a:solidFill>
            <a:srgbClr val="F2E3CB">
              <a:alpha val="16078"/>
            </a:srgbClr>
          </a:solidFill>
          <a:ln cap="flat" cmpd="sng" w="9525">
            <a:solidFill>
              <a:srgbClr val="F2E3CB">
                <a:alpha val="2392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p5"/>
          <p:cNvSpPr/>
          <p:nvPr/>
        </p:nvSpPr>
        <p:spPr>
          <a:xfrm>
            <a:off x="15973425" y="2181225"/>
            <a:ext cx="4381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얼음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5"/>
          <p:cNvSpPr/>
          <p:nvPr/>
        </p:nvSpPr>
        <p:spPr>
          <a:xfrm>
            <a:off x="17334309" y="2200275"/>
            <a:ext cx="544116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+30%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5"/>
          <p:cNvSpPr/>
          <p:nvPr/>
        </p:nvSpPr>
        <p:spPr>
          <a:xfrm>
            <a:off x="15554325" y="2571750"/>
            <a:ext cx="304800" cy="304800"/>
          </a:xfrm>
          <a:prstGeom prst="rect">
            <a:avLst/>
          </a:prstGeom>
          <a:solidFill>
            <a:srgbClr val="F2E3CB">
              <a:alpha val="16078"/>
            </a:srgbClr>
          </a:solidFill>
          <a:ln cap="flat" cmpd="sng" w="9525">
            <a:solidFill>
              <a:srgbClr val="F2E3CB">
                <a:alpha val="2392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5"/>
          <p:cNvSpPr/>
          <p:nvPr/>
        </p:nvSpPr>
        <p:spPr>
          <a:xfrm>
            <a:off x="15973425" y="2600325"/>
            <a:ext cx="4381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베리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5"/>
          <p:cNvSpPr/>
          <p:nvPr/>
        </p:nvSpPr>
        <p:spPr>
          <a:xfrm>
            <a:off x="17334309" y="2619375"/>
            <a:ext cx="544116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+30%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5"/>
          <p:cNvSpPr/>
          <p:nvPr/>
        </p:nvSpPr>
        <p:spPr>
          <a:xfrm>
            <a:off x="15554325" y="2990850"/>
            <a:ext cx="2247900" cy="9525"/>
          </a:xfrm>
          <a:prstGeom prst="rect">
            <a:avLst/>
          </a:prstGeom>
          <a:solidFill>
            <a:srgbClr val="F2E3CB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5"/>
          <p:cNvSpPr/>
          <p:nvPr/>
        </p:nvSpPr>
        <p:spPr>
          <a:xfrm>
            <a:off x="15554325" y="3095625"/>
            <a:ext cx="2324100" cy="2208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7143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재료 1개당 +30% 중첩 · 합산 후 1회 적용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5"/>
          <p:cNvSpPr/>
          <p:nvPr/>
        </p:nvSpPr>
        <p:spPr>
          <a:xfrm>
            <a:off x="7448996" y="7610475"/>
            <a:ext cx="1545431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아이스모카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5"/>
          <p:cNvSpPr/>
          <p:nvPr/>
        </p:nvSpPr>
        <p:spPr>
          <a:xfrm>
            <a:off x="9038481" y="7791450"/>
            <a:ext cx="121860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HOLD TIMER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5"/>
          <p:cNvSpPr/>
          <p:nvPr/>
        </p:nvSpPr>
        <p:spPr>
          <a:xfrm>
            <a:off x="10333286" y="7667625"/>
            <a:ext cx="473571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563F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D9563F"/>
                </a:solidFill>
                <a:latin typeface="Arial"/>
                <a:ea typeface="Arial"/>
                <a:cs typeface="Arial"/>
                <a:sym typeface="Arial"/>
              </a:rPr>
              <a:t>6.2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5"/>
          <p:cNvSpPr/>
          <p:nvPr/>
        </p:nvSpPr>
        <p:spPr>
          <a:xfrm>
            <a:off x="5276850" y="8124825"/>
            <a:ext cx="7734300" cy="419100"/>
          </a:xfrm>
          <a:prstGeom prst="rect">
            <a:avLst/>
          </a:prstGeom>
          <a:solidFill>
            <a:srgbClr val="0C0804">
              <a:alpha val="81961"/>
            </a:srgbClr>
          </a:solidFill>
          <a:ln cap="flat" cmpd="sng" w="9525">
            <a:solidFill>
              <a:srgbClr val="C6974A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p5"/>
          <p:cNvSpPr/>
          <p:nvPr/>
        </p:nvSpPr>
        <p:spPr>
          <a:xfrm>
            <a:off x="5324475" y="8172450"/>
            <a:ext cx="2673697" cy="323850"/>
          </a:xfrm>
          <a:prstGeom prst="rect">
            <a:avLst/>
          </a:prstGeom>
          <a:blipFill rotWithShape="1">
            <a:blip r:embed="rId4">
              <a:alphaModFix/>
            </a:blip>
            <a:tile algn="tl" flip="none" tx="0" sx="100000" ty="0" sy="10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5"/>
          <p:cNvSpPr/>
          <p:nvPr/>
        </p:nvSpPr>
        <p:spPr>
          <a:xfrm>
            <a:off x="7998172" y="8172450"/>
            <a:ext cx="916632" cy="323850"/>
          </a:xfrm>
          <a:prstGeom prst="rect">
            <a:avLst/>
          </a:prstGeom>
          <a:solidFill>
            <a:srgbClr val="E9B85C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5"/>
          <p:cNvSpPr/>
          <p:nvPr/>
        </p:nvSpPr>
        <p:spPr>
          <a:xfrm>
            <a:off x="8914805" y="8172450"/>
            <a:ext cx="458391" cy="323850"/>
          </a:xfrm>
          <a:prstGeom prst="rect">
            <a:avLst/>
          </a:prstGeom>
          <a:solidFill>
            <a:srgbClr val="7CD9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5"/>
          <p:cNvSpPr/>
          <p:nvPr/>
        </p:nvSpPr>
        <p:spPr>
          <a:xfrm>
            <a:off x="9373195" y="8172450"/>
            <a:ext cx="916632" cy="323850"/>
          </a:xfrm>
          <a:prstGeom prst="rect">
            <a:avLst/>
          </a:prstGeom>
          <a:solidFill>
            <a:srgbClr val="E9B85C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5"/>
          <p:cNvSpPr/>
          <p:nvPr/>
        </p:nvSpPr>
        <p:spPr>
          <a:xfrm>
            <a:off x="10289828" y="8172450"/>
            <a:ext cx="2673697" cy="323850"/>
          </a:xfrm>
          <a:prstGeom prst="rect">
            <a:avLst/>
          </a:prstGeom>
          <a:blipFill rotWithShape="1">
            <a:blip r:embed="rId4">
              <a:alphaModFix/>
            </a:blip>
            <a:tile algn="tl" flip="none" tx="0" sx="100000" ty="0" sy="10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5"/>
          <p:cNvSpPr/>
          <p:nvPr/>
        </p:nvSpPr>
        <p:spPr>
          <a:xfrm>
            <a:off x="8912423" y="8048625"/>
            <a:ext cx="38100" cy="571500"/>
          </a:xfrm>
          <a:prstGeom prst="rect">
            <a:avLst/>
          </a:prstGeom>
          <a:solidFill>
            <a:srgbClr val="FFF6E6"/>
          </a:solidFill>
          <a:ln>
            <a:noFill/>
          </a:ln>
          <a:effectLst>
            <a:outerShdw blurRad="114300" rotWithShape="0" algn="bl" dir="16200000" dist="50800">
              <a:srgbClr val="FFF6E6">
                <a:alpha val="8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5"/>
          <p:cNvSpPr/>
          <p:nvPr/>
        </p:nvSpPr>
        <p:spPr>
          <a:xfrm>
            <a:off x="5238750" y="8639175"/>
            <a:ext cx="91499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MISS ×0.7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5"/>
          <p:cNvSpPr/>
          <p:nvPr/>
        </p:nvSpPr>
        <p:spPr>
          <a:xfrm>
            <a:off x="6835229" y="8639175"/>
            <a:ext cx="99060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GOOD ×1.0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5"/>
          <p:cNvSpPr/>
          <p:nvPr/>
        </p:nvSpPr>
        <p:spPr>
          <a:xfrm>
            <a:off x="8485391" y="8639175"/>
            <a:ext cx="1317218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PERFECT ×1.3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5"/>
          <p:cNvSpPr/>
          <p:nvPr/>
        </p:nvSpPr>
        <p:spPr>
          <a:xfrm>
            <a:off x="10462320" y="8639175"/>
            <a:ext cx="99060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GOOD ×1.0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5"/>
          <p:cNvSpPr/>
          <p:nvPr/>
        </p:nvSpPr>
        <p:spPr>
          <a:xfrm>
            <a:off x="12134255" y="8639175"/>
            <a:ext cx="91499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MISS ×0.7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5"/>
          <p:cNvSpPr/>
          <p:nvPr/>
        </p:nvSpPr>
        <p:spPr>
          <a:xfrm>
            <a:off x="0" y="9439275"/>
            <a:ext cx="18288000" cy="847725"/>
          </a:xfrm>
          <a:prstGeom prst="rect">
            <a:avLst/>
          </a:prstGeom>
          <a:gradFill>
            <a:gsLst>
              <a:gs pos="0">
                <a:srgbClr val="0C0804">
                  <a:alpha val="94118"/>
                </a:srgbClr>
              </a:gs>
              <a:gs pos="60000">
                <a:srgbClr val="0C0804">
                  <a:alpha val="60000"/>
                </a:srgbClr>
              </a:gs>
              <a:gs pos="100000">
                <a:srgbClr val="0C0804">
                  <a:alpha val="0"/>
                </a:srgbClr>
              </a:gs>
            </a:gsLst>
            <a:lin ang="162000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0" name="Google Shape;490;p5"/>
          <p:cNvSpPr/>
          <p:nvPr/>
        </p:nvSpPr>
        <p:spPr>
          <a:xfrm>
            <a:off x="0" y="9439275"/>
            <a:ext cx="18288000" cy="9525"/>
          </a:xfrm>
          <a:prstGeom prst="rect">
            <a:avLst/>
          </a:prstGeom>
          <a:solidFill>
            <a:srgbClr val="C6974A">
              <a:alpha val="3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p5"/>
          <p:cNvSpPr/>
          <p:nvPr/>
        </p:nvSpPr>
        <p:spPr>
          <a:xfrm>
            <a:off x="419100" y="9801225"/>
            <a:ext cx="73044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DISHES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5"/>
          <p:cNvSpPr/>
          <p:nvPr/>
        </p:nvSpPr>
        <p:spPr>
          <a:xfrm>
            <a:off x="1187648" y="9725025"/>
            <a:ext cx="285750" cy="285750"/>
          </a:xfrm>
          <a:prstGeom prst="ellipse">
            <a:avLst/>
          </a:prstGeom>
          <a:noFill/>
          <a:ln cap="flat" cmpd="sng" w="19050">
            <a:solidFill>
              <a:srgbClr val="F2E3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5"/>
          <p:cNvSpPr/>
          <p:nvPr/>
        </p:nvSpPr>
        <p:spPr>
          <a:xfrm>
            <a:off x="1540073" y="9725025"/>
            <a:ext cx="285750" cy="285750"/>
          </a:xfrm>
          <a:prstGeom prst="ellipse">
            <a:avLst/>
          </a:prstGeom>
          <a:noFill/>
          <a:ln cap="flat" cmpd="sng" w="19050">
            <a:solidFill>
              <a:srgbClr val="F2E3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5"/>
          <p:cNvSpPr/>
          <p:nvPr/>
        </p:nvSpPr>
        <p:spPr>
          <a:xfrm>
            <a:off x="1892498" y="9725025"/>
            <a:ext cx="285750" cy="285750"/>
          </a:xfrm>
          <a:prstGeom prst="ellipse">
            <a:avLst/>
          </a:prstGeom>
          <a:solidFill>
            <a:srgbClr val="F2E3CB">
              <a:alpha val="16078"/>
            </a:srgbClr>
          </a:solidFill>
          <a:ln cap="flat" cmpd="sng" w="19050">
            <a:solidFill>
              <a:srgbClr val="F2E3CB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5"/>
          <p:cNvSpPr/>
          <p:nvPr/>
        </p:nvSpPr>
        <p:spPr>
          <a:xfrm>
            <a:off x="2244923" y="9725025"/>
            <a:ext cx="285750" cy="285750"/>
          </a:xfrm>
          <a:prstGeom prst="ellipse">
            <a:avLst/>
          </a:prstGeom>
          <a:solidFill>
            <a:srgbClr val="F2E3CB">
              <a:alpha val="16078"/>
            </a:srgbClr>
          </a:solidFill>
          <a:ln cap="flat" cmpd="sng" w="19050">
            <a:solidFill>
              <a:srgbClr val="F2E3CB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5"/>
          <p:cNvSpPr/>
          <p:nvPr/>
        </p:nvSpPr>
        <p:spPr>
          <a:xfrm>
            <a:off x="2644973" y="9782175"/>
            <a:ext cx="372814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2 / 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5"/>
          <p:cNvSpPr/>
          <p:nvPr/>
        </p:nvSpPr>
        <p:spPr>
          <a:xfrm>
            <a:off x="3189238" y="9696450"/>
            <a:ext cx="9525" cy="342900"/>
          </a:xfrm>
          <a:prstGeom prst="rect">
            <a:avLst/>
          </a:prstGeom>
          <a:solidFill>
            <a:srgbClr val="C6974A">
              <a:alpha val="2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8" name="Google Shape;498;p5"/>
          <p:cNvSpPr/>
          <p:nvPr/>
        </p:nvSpPr>
        <p:spPr>
          <a:xfrm>
            <a:off x="3446413" y="9801225"/>
            <a:ext cx="86379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HOLDING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5"/>
          <p:cNvSpPr/>
          <p:nvPr/>
        </p:nvSpPr>
        <p:spPr>
          <a:xfrm>
            <a:off x="4329261" y="9696450"/>
            <a:ext cx="342900" cy="342900"/>
          </a:xfrm>
          <a:prstGeom prst="rect">
            <a:avLst/>
          </a:prstGeom>
          <a:solidFill>
            <a:srgbClr val="F2E3CB">
              <a:alpha val="16078"/>
            </a:srgbClr>
          </a:solidFill>
          <a:ln cap="flat" cmpd="sng" w="9525">
            <a:solidFill>
              <a:srgbClr val="F2E3CB">
                <a:alpha val="2588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0" name="Google Shape;500;p5"/>
          <p:cNvSpPr/>
          <p:nvPr/>
        </p:nvSpPr>
        <p:spPr>
          <a:xfrm>
            <a:off x="4767411" y="9753600"/>
            <a:ext cx="56197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초콜렛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5"/>
          <p:cNvSpPr/>
          <p:nvPr/>
        </p:nvSpPr>
        <p:spPr>
          <a:xfrm>
            <a:off x="14378583" y="9686925"/>
            <a:ext cx="361950" cy="361950"/>
          </a:xfrm>
          <a:prstGeom prst="rect">
            <a:avLst/>
          </a:prstGeom>
          <a:noFill/>
          <a:ln cap="flat" cmpd="sng" w="19050">
            <a:solidFill>
              <a:srgbClr val="F2E3CB">
                <a:alpha val="7490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" name="Google Shape;502;p5"/>
          <p:cNvSpPr/>
          <p:nvPr/>
        </p:nvSpPr>
        <p:spPr>
          <a:xfrm>
            <a:off x="14359533" y="9705975"/>
            <a:ext cx="4000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F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5"/>
          <p:cNvSpPr/>
          <p:nvPr/>
        </p:nvSpPr>
        <p:spPr>
          <a:xfrm>
            <a:off x="14835783" y="9782175"/>
            <a:ext cx="1857955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꺼내기 · 넣기 · 서빙 · 게이지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5"/>
          <p:cNvSpPr/>
          <p:nvPr/>
        </p:nvSpPr>
        <p:spPr>
          <a:xfrm>
            <a:off x="16734383" y="9710738"/>
            <a:ext cx="772567" cy="314325"/>
          </a:xfrm>
          <a:prstGeom prst="rect">
            <a:avLst/>
          </a:prstGeom>
          <a:noFill/>
          <a:ln cap="flat" cmpd="sng" w="19050">
            <a:solidFill>
              <a:srgbClr val="F2E3CB">
                <a:alpha val="7490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5"/>
          <p:cNvSpPr/>
          <p:nvPr/>
        </p:nvSpPr>
        <p:spPr>
          <a:xfrm>
            <a:off x="16867733" y="9796463"/>
            <a:ext cx="582067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SPACE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5"/>
          <p:cNvSpPr/>
          <p:nvPr/>
        </p:nvSpPr>
        <p:spPr>
          <a:xfrm>
            <a:off x="17602200" y="9782175"/>
            <a:ext cx="3429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대시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805"/>
        </a:solidFill>
      </p:bgPr>
    </p:bg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6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20C0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6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6E4A2B"/>
              </a:gs>
              <a:gs pos="48000">
                <a:srgbClr val="3A2515"/>
              </a:gs>
              <a:gs pos="88000">
                <a:srgbClr val="170E08"/>
              </a:gs>
              <a:gs pos="100000">
                <a:srgbClr val="170E08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6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 rotWithShape="1">
            <a:blip r:embed="rId3">
              <a:alphaModFix/>
            </a:blip>
            <a:tile algn="tl" flip="none" tx="0" sx="100000" ty="0" sy="10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5" name="Google Shape;515;p6"/>
          <p:cNvSpPr/>
          <p:nvPr/>
        </p:nvSpPr>
        <p:spPr>
          <a:xfrm>
            <a:off x="457200" y="954286"/>
            <a:ext cx="17373600" cy="9525"/>
          </a:xfrm>
          <a:prstGeom prst="rect">
            <a:avLst/>
          </a:prstGeom>
          <a:solidFill>
            <a:srgbClr val="C6974A">
              <a:alpha val="3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6" name="Google Shape;516;p6"/>
          <p:cNvSpPr/>
          <p:nvPr/>
        </p:nvSpPr>
        <p:spPr>
          <a:xfrm>
            <a:off x="457200" y="581025"/>
            <a:ext cx="1989743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INTERMISSION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6"/>
          <p:cNvSpPr/>
          <p:nvPr/>
        </p:nvSpPr>
        <p:spPr>
          <a:xfrm>
            <a:off x="2456557" y="342900"/>
            <a:ext cx="2384122" cy="47803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78305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3150"/>
              <a:buFont typeface="Arial"/>
              <a:buNone/>
            </a:pPr>
            <a:r>
              <a:rPr b="1" i="0" lang="en-US" sz="31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DAY 04 정산</a:t>
            </a:r>
            <a:endParaRPr b="0" i="0" sz="3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6"/>
          <p:cNvSpPr/>
          <p:nvPr/>
        </p:nvSpPr>
        <p:spPr>
          <a:xfrm>
            <a:off x="13425636" y="544711"/>
            <a:ext cx="4000500" cy="57150"/>
          </a:xfrm>
          <a:prstGeom prst="rect">
            <a:avLst/>
          </a:prstGeom>
          <a:solidFill>
            <a:srgbClr val="F2E3CB">
              <a:alpha val="1411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p6"/>
          <p:cNvSpPr/>
          <p:nvPr/>
        </p:nvSpPr>
        <p:spPr>
          <a:xfrm>
            <a:off x="13425636" y="544711"/>
            <a:ext cx="2560290" cy="57150"/>
          </a:xfrm>
          <a:prstGeom prst="rect">
            <a:avLst/>
          </a:prstGeom>
          <a:solidFill>
            <a:srgbClr val="C697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" name="Google Shape;520;p6"/>
          <p:cNvSpPr/>
          <p:nvPr/>
        </p:nvSpPr>
        <p:spPr>
          <a:xfrm>
            <a:off x="17597586" y="363736"/>
            <a:ext cx="30941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D9563F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D9563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6"/>
          <p:cNvSpPr/>
          <p:nvPr/>
        </p:nvSpPr>
        <p:spPr>
          <a:xfrm>
            <a:off x="457200" y="1192411"/>
            <a:ext cx="4495800" cy="8865989"/>
          </a:xfrm>
          <a:prstGeom prst="rect">
            <a:avLst/>
          </a:prstGeom>
          <a:solidFill>
            <a:srgbClr val="0E0905">
              <a:alpha val="72157"/>
            </a:srgbClr>
          </a:solidFill>
          <a:ln cap="flat" cmpd="sng" w="9525">
            <a:solidFill>
              <a:srgbClr val="C697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6"/>
          <p:cNvSpPr/>
          <p:nvPr/>
        </p:nvSpPr>
        <p:spPr>
          <a:xfrm>
            <a:off x="466725" y="1601986"/>
            <a:ext cx="4476750" cy="9525"/>
          </a:xfrm>
          <a:prstGeom prst="rect">
            <a:avLst/>
          </a:prstGeom>
          <a:solidFill>
            <a:srgbClr val="C6974A">
              <a:alpha val="2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3" name="Google Shape;523;p6"/>
          <p:cNvSpPr/>
          <p:nvPr/>
        </p:nvSpPr>
        <p:spPr>
          <a:xfrm>
            <a:off x="676275" y="1335286"/>
            <a:ext cx="419195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TODAY’S TRADE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6"/>
          <p:cNvSpPr/>
          <p:nvPr/>
        </p:nvSpPr>
        <p:spPr>
          <a:xfrm>
            <a:off x="676275" y="1802011"/>
            <a:ext cx="1555909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판매 12잔 · Perfect 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6"/>
          <p:cNvSpPr/>
          <p:nvPr/>
        </p:nvSpPr>
        <p:spPr>
          <a:xfrm>
            <a:off x="4326285" y="1802011"/>
            <a:ext cx="48384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+638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6"/>
          <p:cNvSpPr/>
          <p:nvPr/>
        </p:nvSpPr>
        <p:spPr>
          <a:xfrm>
            <a:off x="676275" y="2135386"/>
            <a:ext cx="880616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예보 보너스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6"/>
          <p:cNvSpPr/>
          <p:nvPr/>
        </p:nvSpPr>
        <p:spPr>
          <a:xfrm>
            <a:off x="4426893" y="2135386"/>
            <a:ext cx="383232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+96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6"/>
          <p:cNvSpPr/>
          <p:nvPr/>
        </p:nvSpPr>
        <p:spPr>
          <a:xfrm>
            <a:off x="676275" y="2468761"/>
            <a:ext cx="897582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탄 것 판매 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6"/>
          <p:cNvSpPr/>
          <p:nvPr/>
        </p:nvSpPr>
        <p:spPr>
          <a:xfrm>
            <a:off x="4426893" y="2468761"/>
            <a:ext cx="383232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E8A3F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DE8A3F"/>
                </a:solidFill>
                <a:latin typeface="Arial"/>
                <a:ea typeface="Arial"/>
                <a:cs typeface="Arial"/>
                <a:sym typeface="Arial"/>
              </a:rPr>
              <a:t>+41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6"/>
          <p:cNvSpPr/>
          <p:nvPr/>
        </p:nvSpPr>
        <p:spPr>
          <a:xfrm>
            <a:off x="676275" y="2802136"/>
            <a:ext cx="855315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이탈 손님 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6"/>
          <p:cNvSpPr/>
          <p:nvPr/>
        </p:nvSpPr>
        <p:spPr>
          <a:xfrm>
            <a:off x="4633168" y="2802136"/>
            <a:ext cx="176957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6"/>
          <p:cNvSpPr/>
          <p:nvPr/>
        </p:nvSpPr>
        <p:spPr>
          <a:xfrm>
            <a:off x="676275" y="3173611"/>
            <a:ext cx="4057650" cy="9525"/>
          </a:xfrm>
          <a:prstGeom prst="rect">
            <a:avLst/>
          </a:prstGeom>
          <a:solidFill>
            <a:srgbClr val="C6974A">
              <a:alpha val="3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6"/>
          <p:cNvSpPr/>
          <p:nvPr/>
        </p:nvSpPr>
        <p:spPr>
          <a:xfrm>
            <a:off x="676275" y="3392686"/>
            <a:ext cx="972741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오늘 매출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6"/>
          <p:cNvSpPr/>
          <p:nvPr/>
        </p:nvSpPr>
        <p:spPr>
          <a:xfrm>
            <a:off x="4225379" y="3345061"/>
            <a:ext cx="584746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775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6"/>
          <p:cNvSpPr/>
          <p:nvPr/>
        </p:nvSpPr>
        <p:spPr>
          <a:xfrm>
            <a:off x="676275" y="3868936"/>
            <a:ext cx="7048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임대료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6"/>
          <p:cNvSpPr/>
          <p:nvPr/>
        </p:nvSpPr>
        <p:spPr>
          <a:xfrm>
            <a:off x="4047381" y="3821311"/>
            <a:ext cx="762744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563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D9563F"/>
                </a:solidFill>
                <a:latin typeface="Arial"/>
                <a:ea typeface="Arial"/>
                <a:cs typeface="Arial"/>
                <a:sym typeface="Arial"/>
              </a:rPr>
              <a:t>−250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6"/>
          <p:cNvSpPr/>
          <p:nvPr/>
        </p:nvSpPr>
        <p:spPr>
          <a:xfrm>
            <a:off x="466725" y="9229725"/>
            <a:ext cx="4476750" cy="9525"/>
          </a:xfrm>
          <a:prstGeom prst="rect">
            <a:avLst/>
          </a:prstGeom>
          <a:solidFill>
            <a:srgbClr val="C6974A">
              <a:alpha val="2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6"/>
          <p:cNvSpPr/>
          <p:nvPr/>
        </p:nvSpPr>
        <p:spPr>
          <a:xfrm>
            <a:off x="676275" y="9591675"/>
            <a:ext cx="1687696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563F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D9563F"/>
                </a:solidFill>
                <a:latin typeface="Arial"/>
                <a:ea typeface="Arial"/>
                <a:cs typeface="Arial"/>
                <a:sym typeface="Arial"/>
              </a:rPr>
              <a:t>DEBT CARRIED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6"/>
          <p:cNvSpPr/>
          <p:nvPr/>
        </p:nvSpPr>
        <p:spPr>
          <a:xfrm>
            <a:off x="676275" y="9734550"/>
            <a:ext cx="1687696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이자 없음 · 내일 임대료 380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6"/>
          <p:cNvSpPr/>
          <p:nvPr/>
        </p:nvSpPr>
        <p:spPr>
          <a:xfrm>
            <a:off x="4553694" y="9391650"/>
            <a:ext cx="256431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6"/>
          <p:cNvSpPr/>
          <p:nvPr/>
        </p:nvSpPr>
        <p:spPr>
          <a:xfrm>
            <a:off x="5181600" y="1192411"/>
            <a:ext cx="3924300" cy="8865989"/>
          </a:xfrm>
          <a:prstGeom prst="rect">
            <a:avLst/>
          </a:prstGeom>
          <a:solidFill>
            <a:srgbClr val="0E0905">
              <a:alpha val="72157"/>
            </a:srgbClr>
          </a:solidFill>
          <a:ln cap="flat" cmpd="sng" w="9525">
            <a:solidFill>
              <a:srgbClr val="C697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2" name="Google Shape;542;p6"/>
          <p:cNvSpPr/>
          <p:nvPr/>
        </p:nvSpPr>
        <p:spPr>
          <a:xfrm>
            <a:off x="5191125" y="1601986"/>
            <a:ext cx="3905250" cy="9525"/>
          </a:xfrm>
          <a:prstGeom prst="rect">
            <a:avLst/>
          </a:prstGeom>
          <a:solidFill>
            <a:srgbClr val="C6974A">
              <a:alpha val="2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3" name="Google Shape;543;p6"/>
          <p:cNvSpPr/>
          <p:nvPr/>
        </p:nvSpPr>
        <p:spPr>
          <a:xfrm>
            <a:off x="5400675" y="1335286"/>
            <a:ext cx="360330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STANDINGS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6"/>
          <p:cNvSpPr/>
          <p:nvPr/>
        </p:nvSpPr>
        <p:spPr>
          <a:xfrm>
            <a:off x="5400675" y="1897261"/>
            <a:ext cx="26059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6"/>
          <p:cNvSpPr/>
          <p:nvPr/>
        </p:nvSpPr>
        <p:spPr>
          <a:xfrm>
            <a:off x="5680323" y="1802011"/>
            <a:ext cx="850404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늑대 소굴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6"/>
          <p:cNvSpPr/>
          <p:nvPr/>
        </p:nvSpPr>
        <p:spPr>
          <a:xfrm>
            <a:off x="8362355" y="1811536"/>
            <a:ext cx="60067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8,420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6"/>
          <p:cNvSpPr/>
          <p:nvPr/>
        </p:nvSpPr>
        <p:spPr>
          <a:xfrm>
            <a:off x="5400675" y="2135386"/>
            <a:ext cx="3486150" cy="57150"/>
          </a:xfrm>
          <a:prstGeom prst="rect">
            <a:avLst/>
          </a:prstGeom>
          <a:solidFill>
            <a:srgbClr val="F2E3CB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8" name="Google Shape;548;p6"/>
          <p:cNvSpPr/>
          <p:nvPr/>
        </p:nvSpPr>
        <p:spPr>
          <a:xfrm>
            <a:off x="5400675" y="2135386"/>
            <a:ext cx="3486150" cy="57150"/>
          </a:xfrm>
          <a:prstGeom prst="rect">
            <a:avLst/>
          </a:prstGeom>
          <a:solidFill>
            <a:srgbClr val="E9B8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6"/>
          <p:cNvSpPr/>
          <p:nvPr/>
        </p:nvSpPr>
        <p:spPr>
          <a:xfrm>
            <a:off x="5400675" y="2459236"/>
            <a:ext cx="26059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6"/>
          <p:cNvSpPr/>
          <p:nvPr/>
        </p:nvSpPr>
        <p:spPr>
          <a:xfrm>
            <a:off x="5680323" y="2363986"/>
            <a:ext cx="850404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안개 등대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6"/>
          <p:cNvSpPr/>
          <p:nvPr/>
        </p:nvSpPr>
        <p:spPr>
          <a:xfrm>
            <a:off x="8362355" y="2373511"/>
            <a:ext cx="60067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7,960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6"/>
          <p:cNvSpPr/>
          <p:nvPr/>
        </p:nvSpPr>
        <p:spPr>
          <a:xfrm>
            <a:off x="5400675" y="2697361"/>
            <a:ext cx="3486150" cy="57150"/>
          </a:xfrm>
          <a:prstGeom prst="rect">
            <a:avLst/>
          </a:prstGeom>
          <a:solidFill>
            <a:srgbClr val="F2E3CB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6"/>
          <p:cNvSpPr/>
          <p:nvPr/>
        </p:nvSpPr>
        <p:spPr>
          <a:xfrm>
            <a:off x="5400675" y="2697361"/>
            <a:ext cx="3311723" cy="57150"/>
          </a:xfrm>
          <a:prstGeom prst="rect">
            <a:avLst/>
          </a:prstGeom>
          <a:solidFill>
            <a:srgbClr val="F2E3CB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6"/>
          <p:cNvSpPr/>
          <p:nvPr/>
        </p:nvSpPr>
        <p:spPr>
          <a:xfrm>
            <a:off x="5400675" y="3021211"/>
            <a:ext cx="26059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6"/>
          <p:cNvSpPr/>
          <p:nvPr/>
        </p:nvSpPr>
        <p:spPr>
          <a:xfrm>
            <a:off x="5680323" y="2925961"/>
            <a:ext cx="10313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뼈다귀 클럽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6"/>
          <p:cNvSpPr/>
          <p:nvPr/>
        </p:nvSpPr>
        <p:spPr>
          <a:xfrm>
            <a:off x="8362355" y="2935486"/>
            <a:ext cx="60067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6,310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6"/>
          <p:cNvSpPr/>
          <p:nvPr/>
        </p:nvSpPr>
        <p:spPr>
          <a:xfrm>
            <a:off x="5400675" y="3259336"/>
            <a:ext cx="3486150" cy="57150"/>
          </a:xfrm>
          <a:prstGeom prst="rect">
            <a:avLst/>
          </a:prstGeom>
          <a:solidFill>
            <a:srgbClr val="F2E3CB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6"/>
          <p:cNvSpPr/>
          <p:nvPr/>
        </p:nvSpPr>
        <p:spPr>
          <a:xfrm>
            <a:off x="5400675" y="3259336"/>
            <a:ext cx="2614613" cy="57150"/>
          </a:xfrm>
          <a:prstGeom prst="rect">
            <a:avLst/>
          </a:prstGeom>
          <a:solidFill>
            <a:srgbClr val="F2E3CB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6"/>
          <p:cNvSpPr/>
          <p:nvPr/>
        </p:nvSpPr>
        <p:spPr>
          <a:xfrm>
            <a:off x="5400675" y="3583186"/>
            <a:ext cx="26059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6"/>
          <p:cNvSpPr/>
          <p:nvPr/>
        </p:nvSpPr>
        <p:spPr>
          <a:xfrm>
            <a:off x="5680323" y="3487936"/>
            <a:ext cx="850404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달빛 여관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6"/>
          <p:cNvSpPr/>
          <p:nvPr/>
        </p:nvSpPr>
        <p:spPr>
          <a:xfrm>
            <a:off x="8362355" y="3497461"/>
            <a:ext cx="60067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4,180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6"/>
          <p:cNvSpPr/>
          <p:nvPr/>
        </p:nvSpPr>
        <p:spPr>
          <a:xfrm>
            <a:off x="5400675" y="3821311"/>
            <a:ext cx="3486150" cy="57150"/>
          </a:xfrm>
          <a:prstGeom prst="rect">
            <a:avLst/>
          </a:prstGeom>
          <a:solidFill>
            <a:srgbClr val="F2E3CB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6"/>
          <p:cNvSpPr/>
          <p:nvPr/>
        </p:nvSpPr>
        <p:spPr>
          <a:xfrm>
            <a:off x="5400675" y="3821311"/>
            <a:ext cx="1743075" cy="57150"/>
          </a:xfrm>
          <a:prstGeom prst="rect">
            <a:avLst/>
          </a:prstGeom>
          <a:solidFill>
            <a:srgbClr val="F2E3CB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4" name="Google Shape;564;p6"/>
          <p:cNvSpPr/>
          <p:nvPr/>
        </p:nvSpPr>
        <p:spPr>
          <a:xfrm>
            <a:off x="5191125" y="9524107"/>
            <a:ext cx="3905250" cy="9525"/>
          </a:xfrm>
          <a:prstGeom prst="rect">
            <a:avLst/>
          </a:prstGeom>
          <a:solidFill>
            <a:srgbClr val="C6974A">
              <a:alpha val="2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5" name="Google Shape;565;p6"/>
          <p:cNvSpPr/>
          <p:nvPr/>
        </p:nvSpPr>
        <p:spPr>
          <a:xfrm>
            <a:off x="5400675" y="9686032"/>
            <a:ext cx="3603307" cy="24854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7333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공개되는 것은 매출뿐. 보유 재료 · 설비 · 캐릭터는 비공개.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6"/>
          <p:cNvSpPr/>
          <p:nvPr/>
        </p:nvSpPr>
        <p:spPr>
          <a:xfrm>
            <a:off x="9334500" y="1192411"/>
            <a:ext cx="8496300" cy="7837289"/>
          </a:xfrm>
          <a:prstGeom prst="rect">
            <a:avLst/>
          </a:prstGeom>
          <a:solidFill>
            <a:srgbClr val="0E0905">
              <a:alpha val="72157"/>
            </a:srgbClr>
          </a:solidFill>
          <a:ln cap="flat" cmpd="sng" w="9525">
            <a:solidFill>
              <a:srgbClr val="C697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p6"/>
          <p:cNvSpPr/>
          <p:nvPr/>
        </p:nvSpPr>
        <p:spPr>
          <a:xfrm>
            <a:off x="9344025" y="1621036"/>
            <a:ext cx="8477250" cy="9525"/>
          </a:xfrm>
          <a:prstGeom prst="rect">
            <a:avLst/>
          </a:prstGeom>
          <a:solidFill>
            <a:srgbClr val="C6974A">
              <a:alpha val="2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p6"/>
          <p:cNvSpPr/>
          <p:nvPr/>
        </p:nvSpPr>
        <p:spPr>
          <a:xfrm>
            <a:off x="9572625" y="1354336"/>
            <a:ext cx="232731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TOMORROW’S GUESTS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6"/>
          <p:cNvSpPr/>
          <p:nvPr/>
        </p:nvSpPr>
        <p:spPr>
          <a:xfrm>
            <a:off x="15001726" y="1335286"/>
            <a:ext cx="2850044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어느 박스에 그 재료가 들었는지는 알려주지 않는다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6"/>
          <p:cNvSpPr/>
          <p:nvPr/>
        </p:nvSpPr>
        <p:spPr>
          <a:xfrm>
            <a:off x="9344025" y="1630561"/>
            <a:ext cx="8477250" cy="1781175"/>
          </a:xfrm>
          <a:prstGeom prst="rect">
            <a:avLst/>
          </a:prstGeom>
          <a:solidFill>
            <a:srgbClr val="C6974A">
              <a:alpha val="2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6"/>
          <p:cNvSpPr/>
          <p:nvPr/>
        </p:nvSpPr>
        <p:spPr>
          <a:xfrm>
            <a:off x="9344025" y="1630561"/>
            <a:ext cx="2112169" cy="1781175"/>
          </a:xfrm>
          <a:prstGeom prst="rect">
            <a:avLst/>
          </a:prstGeom>
          <a:solidFill>
            <a:srgbClr val="180F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Google Shape;572;p6"/>
          <p:cNvSpPr/>
          <p:nvPr/>
        </p:nvSpPr>
        <p:spPr>
          <a:xfrm>
            <a:off x="10142934" y="1802011"/>
            <a:ext cx="514350" cy="514350"/>
          </a:xfrm>
          <a:prstGeom prst="rect">
            <a:avLst/>
          </a:prstGeom>
          <a:solidFill>
            <a:srgbClr val="F2E3CB">
              <a:alpha val="14118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3" name="Google Shape;573;p6"/>
          <p:cNvSpPr/>
          <p:nvPr/>
        </p:nvSpPr>
        <p:spPr>
          <a:xfrm>
            <a:off x="10038159" y="2402086"/>
            <a:ext cx="8001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뱀파이어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6"/>
          <p:cNvSpPr/>
          <p:nvPr/>
        </p:nvSpPr>
        <p:spPr>
          <a:xfrm>
            <a:off x="10174635" y="2735461"/>
            <a:ext cx="450949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붉은 것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6"/>
          <p:cNvSpPr/>
          <p:nvPr/>
        </p:nvSpPr>
        <p:spPr>
          <a:xfrm>
            <a:off x="10269736" y="2973586"/>
            <a:ext cx="336947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×2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6"/>
          <p:cNvSpPr/>
          <p:nvPr/>
        </p:nvSpPr>
        <p:spPr>
          <a:xfrm>
            <a:off x="11465719" y="1630561"/>
            <a:ext cx="2112169" cy="1781175"/>
          </a:xfrm>
          <a:prstGeom prst="rect">
            <a:avLst/>
          </a:prstGeom>
          <a:solidFill>
            <a:srgbClr val="180F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7" name="Google Shape;577;p6"/>
          <p:cNvSpPr/>
          <p:nvPr/>
        </p:nvSpPr>
        <p:spPr>
          <a:xfrm>
            <a:off x="12264628" y="1802011"/>
            <a:ext cx="514350" cy="514350"/>
          </a:xfrm>
          <a:prstGeom prst="rect">
            <a:avLst/>
          </a:prstGeom>
          <a:solidFill>
            <a:srgbClr val="F2E3CB">
              <a:alpha val="14118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8" name="Google Shape;578;p6"/>
          <p:cNvSpPr/>
          <p:nvPr/>
        </p:nvSpPr>
        <p:spPr>
          <a:xfrm>
            <a:off x="12340828" y="2402086"/>
            <a:ext cx="4381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유령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6"/>
          <p:cNvSpPr/>
          <p:nvPr/>
        </p:nvSpPr>
        <p:spPr>
          <a:xfrm>
            <a:off x="12210455" y="2735461"/>
            <a:ext cx="62254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Temp.Cold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6"/>
          <p:cNvSpPr/>
          <p:nvPr/>
        </p:nvSpPr>
        <p:spPr>
          <a:xfrm>
            <a:off x="12391430" y="2954536"/>
            <a:ext cx="336947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×2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6"/>
          <p:cNvSpPr/>
          <p:nvPr/>
        </p:nvSpPr>
        <p:spPr>
          <a:xfrm>
            <a:off x="13587413" y="1630561"/>
            <a:ext cx="2112169" cy="1781175"/>
          </a:xfrm>
          <a:prstGeom prst="rect">
            <a:avLst/>
          </a:prstGeom>
          <a:solidFill>
            <a:srgbClr val="180F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2" name="Google Shape;582;p6"/>
          <p:cNvSpPr/>
          <p:nvPr/>
        </p:nvSpPr>
        <p:spPr>
          <a:xfrm>
            <a:off x="14386322" y="1802011"/>
            <a:ext cx="514350" cy="514350"/>
          </a:xfrm>
          <a:prstGeom prst="rect">
            <a:avLst/>
          </a:prstGeom>
          <a:solidFill>
            <a:srgbClr val="F2E3CB">
              <a:alpha val="14118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6"/>
          <p:cNvSpPr/>
          <p:nvPr/>
        </p:nvSpPr>
        <p:spPr>
          <a:xfrm>
            <a:off x="14462522" y="2402086"/>
            <a:ext cx="4381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마녀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6"/>
          <p:cNvSpPr/>
          <p:nvPr/>
        </p:nvSpPr>
        <p:spPr>
          <a:xfrm>
            <a:off x="14256097" y="2735461"/>
            <a:ext cx="774799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재료 3개 조합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6"/>
          <p:cNvSpPr/>
          <p:nvPr/>
        </p:nvSpPr>
        <p:spPr>
          <a:xfrm>
            <a:off x="14513123" y="2973586"/>
            <a:ext cx="336947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×1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6"/>
          <p:cNvSpPr/>
          <p:nvPr/>
        </p:nvSpPr>
        <p:spPr>
          <a:xfrm>
            <a:off x="15709106" y="1630561"/>
            <a:ext cx="2112169" cy="1781175"/>
          </a:xfrm>
          <a:prstGeom prst="rect">
            <a:avLst/>
          </a:prstGeom>
          <a:solidFill>
            <a:srgbClr val="180F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6"/>
          <p:cNvSpPr/>
          <p:nvPr/>
        </p:nvSpPr>
        <p:spPr>
          <a:xfrm>
            <a:off x="16508016" y="1802011"/>
            <a:ext cx="514350" cy="514350"/>
          </a:xfrm>
          <a:prstGeom prst="rect">
            <a:avLst/>
          </a:prstGeom>
          <a:solidFill>
            <a:srgbClr val="F2E3CB">
              <a:alpha val="14118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p6"/>
          <p:cNvSpPr/>
          <p:nvPr/>
        </p:nvSpPr>
        <p:spPr>
          <a:xfrm>
            <a:off x="16584216" y="2402086"/>
            <a:ext cx="4381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425"/>
              <a:buFont typeface="Arial"/>
              <a:buNone/>
            </a:pPr>
            <a:r>
              <a:rPr b="1" i="0" lang="en-US" sz="14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좀비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6"/>
          <p:cNvSpPr/>
          <p:nvPr/>
        </p:nvSpPr>
        <p:spPr>
          <a:xfrm>
            <a:off x="16498491" y="2735461"/>
            <a:ext cx="5334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아무거나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6"/>
          <p:cNvSpPr/>
          <p:nvPr/>
        </p:nvSpPr>
        <p:spPr>
          <a:xfrm>
            <a:off x="16634817" y="2973586"/>
            <a:ext cx="336947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×3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6"/>
          <p:cNvSpPr/>
          <p:nvPr/>
        </p:nvSpPr>
        <p:spPr>
          <a:xfrm>
            <a:off x="9344025" y="3411736"/>
            <a:ext cx="8477250" cy="9525"/>
          </a:xfrm>
          <a:prstGeom prst="rect">
            <a:avLst/>
          </a:prstGeom>
          <a:solidFill>
            <a:srgbClr val="C6974A">
              <a:alpha val="2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2" name="Google Shape;592;p6"/>
          <p:cNvSpPr/>
          <p:nvPr/>
        </p:nvSpPr>
        <p:spPr>
          <a:xfrm>
            <a:off x="9572625" y="3754636"/>
            <a:ext cx="178608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HOT INGREDIENTS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6"/>
          <p:cNvSpPr/>
          <p:nvPr/>
        </p:nvSpPr>
        <p:spPr>
          <a:xfrm>
            <a:off x="11386840" y="3592711"/>
            <a:ext cx="1979712" cy="457200"/>
          </a:xfrm>
          <a:prstGeom prst="rect">
            <a:avLst/>
          </a:prstGeom>
          <a:noFill/>
          <a:ln cap="flat" cmpd="sng" w="9525">
            <a:solidFill>
              <a:srgbClr val="7CD9A8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4" name="Google Shape;594;p6"/>
          <p:cNvSpPr/>
          <p:nvPr/>
        </p:nvSpPr>
        <p:spPr>
          <a:xfrm>
            <a:off x="11510665" y="3687961"/>
            <a:ext cx="266700" cy="266700"/>
          </a:xfrm>
          <a:prstGeom prst="rect">
            <a:avLst/>
          </a:prstGeom>
          <a:solidFill>
            <a:srgbClr val="F2E3CB">
              <a:alpha val="14118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5" name="Google Shape;595;p6"/>
          <p:cNvSpPr/>
          <p:nvPr/>
        </p:nvSpPr>
        <p:spPr>
          <a:xfrm>
            <a:off x="11872615" y="3702248"/>
            <a:ext cx="59055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초콜렛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6"/>
          <p:cNvSpPr/>
          <p:nvPr/>
        </p:nvSpPr>
        <p:spPr>
          <a:xfrm>
            <a:off x="12799368" y="3721298"/>
            <a:ext cx="519559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+30%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6"/>
          <p:cNvSpPr/>
          <p:nvPr/>
        </p:nvSpPr>
        <p:spPr>
          <a:xfrm>
            <a:off x="13499902" y="3592711"/>
            <a:ext cx="1979712" cy="457200"/>
          </a:xfrm>
          <a:prstGeom prst="rect">
            <a:avLst/>
          </a:prstGeom>
          <a:noFill/>
          <a:ln cap="flat" cmpd="sng" w="9525">
            <a:solidFill>
              <a:srgbClr val="7CD9A8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8" name="Google Shape;598;p6"/>
          <p:cNvSpPr/>
          <p:nvPr/>
        </p:nvSpPr>
        <p:spPr>
          <a:xfrm>
            <a:off x="13623727" y="3687961"/>
            <a:ext cx="266700" cy="266700"/>
          </a:xfrm>
          <a:prstGeom prst="rect">
            <a:avLst/>
          </a:prstGeom>
          <a:solidFill>
            <a:srgbClr val="F2E3CB">
              <a:alpha val="14118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9" name="Google Shape;599;p6"/>
          <p:cNvSpPr/>
          <p:nvPr/>
        </p:nvSpPr>
        <p:spPr>
          <a:xfrm>
            <a:off x="13985677" y="3702248"/>
            <a:ext cx="41910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얼음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6"/>
          <p:cNvSpPr/>
          <p:nvPr/>
        </p:nvSpPr>
        <p:spPr>
          <a:xfrm>
            <a:off x="14912429" y="3721298"/>
            <a:ext cx="519559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+30%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6"/>
          <p:cNvSpPr/>
          <p:nvPr/>
        </p:nvSpPr>
        <p:spPr>
          <a:xfrm>
            <a:off x="15612963" y="3592711"/>
            <a:ext cx="1979712" cy="457200"/>
          </a:xfrm>
          <a:prstGeom prst="rect">
            <a:avLst/>
          </a:prstGeom>
          <a:noFill/>
          <a:ln cap="flat" cmpd="sng" w="9525">
            <a:solidFill>
              <a:srgbClr val="7CD9A8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2" name="Google Shape;602;p6"/>
          <p:cNvSpPr/>
          <p:nvPr/>
        </p:nvSpPr>
        <p:spPr>
          <a:xfrm>
            <a:off x="15736788" y="3687961"/>
            <a:ext cx="266700" cy="266700"/>
          </a:xfrm>
          <a:prstGeom prst="rect">
            <a:avLst/>
          </a:prstGeom>
          <a:solidFill>
            <a:srgbClr val="F2E3CB">
              <a:alpha val="14118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3" name="Google Shape;603;p6"/>
          <p:cNvSpPr/>
          <p:nvPr/>
        </p:nvSpPr>
        <p:spPr>
          <a:xfrm>
            <a:off x="16098738" y="3702248"/>
            <a:ext cx="41910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베리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6"/>
          <p:cNvSpPr/>
          <p:nvPr/>
        </p:nvSpPr>
        <p:spPr>
          <a:xfrm>
            <a:off x="17025491" y="3721298"/>
            <a:ext cx="519559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+30%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6"/>
          <p:cNvSpPr/>
          <p:nvPr/>
        </p:nvSpPr>
        <p:spPr>
          <a:xfrm>
            <a:off x="9572625" y="4221361"/>
            <a:ext cx="8274368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아이스모카 = 초콜렛 + 얼음 → </a:t>
            </a:r>
            <a:r>
              <a:rPr b="1" i="0" lang="en-US" sz="975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+60% </a:t>
            </a:r>
            <a:r>
              <a:rPr b="1" i="0" lang="en-US" sz="9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· 판매가 = 기본가 × 게이지 × 원두등급 × (1 + 보너스 합)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6"/>
          <p:cNvSpPr/>
          <p:nvPr/>
        </p:nvSpPr>
        <p:spPr>
          <a:xfrm>
            <a:off x="9334500" y="9201150"/>
            <a:ext cx="8496300" cy="857250"/>
          </a:xfrm>
          <a:prstGeom prst="rect">
            <a:avLst/>
          </a:prstGeom>
          <a:solidFill>
            <a:srgbClr val="0E0905">
              <a:alpha val="72157"/>
            </a:srgbClr>
          </a:solidFill>
          <a:ln cap="flat" cmpd="sng" w="9525">
            <a:solidFill>
              <a:srgbClr val="C697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7" name="Google Shape;607;p6"/>
          <p:cNvSpPr/>
          <p:nvPr/>
        </p:nvSpPr>
        <p:spPr>
          <a:xfrm>
            <a:off x="9572625" y="9496425"/>
            <a:ext cx="266700" cy="266700"/>
          </a:xfrm>
          <a:prstGeom prst="rect">
            <a:avLst/>
          </a:prstGeom>
          <a:solidFill>
            <a:srgbClr val="A46EE8">
              <a:alpha val="16078"/>
            </a:srgbClr>
          </a:solidFill>
          <a:ln cap="flat" cmpd="sng" w="9525">
            <a:solidFill>
              <a:srgbClr val="A46EE8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8" name="Google Shape;608;p6"/>
          <p:cNvSpPr/>
          <p:nvPr/>
        </p:nvSpPr>
        <p:spPr>
          <a:xfrm>
            <a:off x="10029825" y="9496425"/>
            <a:ext cx="2414573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업그레이드 재료 ×2 보유</a:t>
            </a:r>
            <a:endParaRPr b="0" i="0" sz="15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p6"/>
          <p:cNvSpPr/>
          <p:nvPr/>
        </p:nvSpPr>
        <p:spPr>
          <a:xfrm>
            <a:off x="12415391" y="9548813"/>
            <a:ext cx="13773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적용은 그 판 동안 영구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" name="Google Shape;610;p6"/>
          <p:cNvSpPr/>
          <p:nvPr/>
        </p:nvSpPr>
        <p:spPr>
          <a:xfrm>
            <a:off x="15310842" y="9382125"/>
            <a:ext cx="2281833" cy="495300"/>
          </a:xfrm>
          <a:prstGeom prst="rect">
            <a:avLst/>
          </a:prstGeom>
          <a:solidFill>
            <a:srgbClr val="C697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1" name="Google Shape;611;p6"/>
          <p:cNvSpPr/>
          <p:nvPr/>
        </p:nvSpPr>
        <p:spPr>
          <a:xfrm>
            <a:off x="15558492" y="9486900"/>
            <a:ext cx="285750" cy="285750"/>
          </a:xfrm>
          <a:prstGeom prst="rect">
            <a:avLst/>
          </a:prstGeom>
          <a:noFill/>
          <a:ln cap="flat" cmpd="sng" w="19050">
            <a:solidFill>
              <a:srgbClr val="170F0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2" name="Google Shape;612;p6"/>
          <p:cNvSpPr/>
          <p:nvPr/>
        </p:nvSpPr>
        <p:spPr>
          <a:xfrm>
            <a:off x="15539442" y="9505950"/>
            <a:ext cx="3238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0F07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70F07"/>
                </a:solidFill>
                <a:latin typeface="Arial"/>
                <a:ea typeface="Arial"/>
                <a:cs typeface="Arial"/>
                <a:sym typeface="Arial"/>
              </a:rPr>
              <a:t>↵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6"/>
          <p:cNvSpPr/>
          <p:nvPr/>
        </p:nvSpPr>
        <p:spPr>
          <a:xfrm>
            <a:off x="15958542" y="9501188"/>
            <a:ext cx="1525131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0F07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70F07"/>
                </a:solidFill>
                <a:latin typeface="Arial"/>
                <a:ea typeface="Arial"/>
                <a:cs typeface="Arial"/>
                <a:sym typeface="Arial"/>
              </a:rPr>
              <a:t>업그레이드 열기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805"/>
        </a:solidFill>
      </p:bgPr>
    </p:bg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7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20C0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0" name="Google Shape;620;p7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6E4A2B"/>
              </a:gs>
              <a:gs pos="48000">
                <a:srgbClr val="3A2515"/>
              </a:gs>
              <a:gs pos="88000">
                <a:srgbClr val="170E08"/>
              </a:gs>
              <a:gs pos="100000">
                <a:srgbClr val="170E08"/>
              </a:gs>
            </a:gsLst>
            <a:path path="circle">
              <a:fillToRect b="100%" l="100%" r="0%" t="0%"/>
            </a:path>
            <a:tileRect b="0%" l="0%" r="-100%" t="-100%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7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 rotWithShape="1">
            <a:blip r:embed="rId3">
              <a:alphaModFix/>
            </a:blip>
            <a:tile algn="tl" flip="none" tx="0" sx="100000" ty="0" sy="10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2" name="Google Shape;622;p7"/>
          <p:cNvSpPr/>
          <p:nvPr/>
        </p:nvSpPr>
        <p:spPr>
          <a:xfrm>
            <a:off x="457200" y="895350"/>
            <a:ext cx="17373600" cy="9525"/>
          </a:xfrm>
          <a:prstGeom prst="rect">
            <a:avLst/>
          </a:prstGeom>
          <a:solidFill>
            <a:srgbClr val="C6974A">
              <a:alpha val="3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7"/>
          <p:cNvSpPr/>
          <p:nvPr/>
        </p:nvSpPr>
        <p:spPr>
          <a:xfrm>
            <a:off x="457200" y="581025"/>
            <a:ext cx="2640494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FACILITY UPGRADE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7"/>
          <p:cNvSpPr/>
          <p:nvPr/>
        </p:nvSpPr>
        <p:spPr>
          <a:xfrm>
            <a:off x="3048149" y="552450"/>
            <a:ext cx="2885078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업그레이드 재료는 3등급 박스에서만 나온다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7"/>
          <p:cNvSpPr/>
          <p:nvPr/>
        </p:nvSpPr>
        <p:spPr>
          <a:xfrm>
            <a:off x="16683335" y="409575"/>
            <a:ext cx="247650" cy="247650"/>
          </a:xfrm>
          <a:prstGeom prst="rect">
            <a:avLst/>
          </a:prstGeom>
          <a:solidFill>
            <a:srgbClr val="A46EE8">
              <a:alpha val="16078"/>
            </a:srgbClr>
          </a:solidFill>
          <a:ln cap="flat" cmpd="sng" w="9525">
            <a:solidFill>
              <a:srgbClr val="A46EE8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6" name="Google Shape;626;p7"/>
          <p:cNvSpPr/>
          <p:nvPr/>
        </p:nvSpPr>
        <p:spPr>
          <a:xfrm>
            <a:off x="17045285" y="371475"/>
            <a:ext cx="402134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×2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7"/>
          <p:cNvSpPr/>
          <p:nvPr/>
        </p:nvSpPr>
        <p:spPr>
          <a:xfrm>
            <a:off x="17618869" y="342900"/>
            <a:ext cx="288131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88889"/>
              </a:lnSpc>
              <a:spcBef>
                <a:spcPts val="0"/>
              </a:spcBef>
              <a:spcAft>
                <a:spcPts val="0"/>
              </a:spcAft>
              <a:buClr>
                <a:srgbClr val="D9563F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D9563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7"/>
          <p:cNvSpPr/>
          <p:nvPr/>
        </p:nvSpPr>
        <p:spPr>
          <a:xfrm>
            <a:off x="457200" y="1133475"/>
            <a:ext cx="3886200" cy="2873276"/>
          </a:xfrm>
          <a:prstGeom prst="rect">
            <a:avLst/>
          </a:prstGeom>
          <a:solidFill>
            <a:srgbClr val="0E0905">
              <a:alpha val="72157"/>
            </a:srgbClr>
          </a:solidFill>
          <a:ln cap="flat" cmpd="sng" w="9525">
            <a:solidFill>
              <a:srgbClr val="7CD9A8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9" name="Google Shape;629;p7"/>
          <p:cNvSpPr/>
          <p:nvPr/>
        </p:nvSpPr>
        <p:spPr>
          <a:xfrm>
            <a:off x="638175" y="1295400"/>
            <a:ext cx="438150" cy="438150"/>
          </a:xfrm>
          <a:prstGeom prst="rect">
            <a:avLst/>
          </a:prstGeom>
          <a:solidFill>
            <a:srgbClr val="F2E3CB">
              <a:alpha val="14118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0" name="Google Shape;630;p7"/>
          <p:cNvSpPr/>
          <p:nvPr/>
        </p:nvSpPr>
        <p:spPr>
          <a:xfrm>
            <a:off x="1190625" y="1371600"/>
            <a:ext cx="948928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재료 선반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7"/>
          <p:cNvSpPr/>
          <p:nvPr/>
        </p:nvSpPr>
        <p:spPr>
          <a:xfrm>
            <a:off x="638175" y="1828800"/>
            <a:ext cx="3629978" cy="160645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특정 재료 1종이 제조존에도 비치된다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7"/>
          <p:cNvSpPr/>
          <p:nvPr/>
        </p:nvSpPr>
        <p:spPr>
          <a:xfrm>
            <a:off x="638175" y="3492401"/>
            <a:ext cx="3524250" cy="9525"/>
          </a:xfrm>
          <a:prstGeom prst="rect">
            <a:avLst/>
          </a:prstGeom>
          <a:solidFill>
            <a:srgbClr val="F2E3CB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3" name="Google Shape;633;p7"/>
          <p:cNvSpPr/>
          <p:nvPr/>
        </p:nvSpPr>
        <p:spPr>
          <a:xfrm>
            <a:off x="638175" y="3625751"/>
            <a:ext cx="190500" cy="190500"/>
          </a:xfrm>
          <a:prstGeom prst="rect">
            <a:avLst/>
          </a:prstGeom>
          <a:solidFill>
            <a:srgbClr val="A46EE8">
              <a:alpha val="16078"/>
            </a:srgbClr>
          </a:solidFill>
          <a:ln cap="flat" cmpd="sng" w="9525">
            <a:solidFill>
              <a:srgbClr val="A46EE8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4" name="Google Shape;634;p7"/>
          <p:cNvSpPr/>
          <p:nvPr/>
        </p:nvSpPr>
        <p:spPr>
          <a:xfrm>
            <a:off x="923925" y="3625751"/>
            <a:ext cx="26104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×1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7"/>
          <p:cNvSpPr/>
          <p:nvPr/>
        </p:nvSpPr>
        <p:spPr>
          <a:xfrm>
            <a:off x="2967335" y="3597176"/>
            <a:ext cx="1195090" cy="247650"/>
          </a:xfrm>
          <a:prstGeom prst="rect">
            <a:avLst/>
          </a:prstGeom>
          <a:noFill/>
          <a:ln cap="flat" cmpd="sng" w="9525">
            <a:solidFill>
              <a:srgbClr val="7CD9A8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7"/>
          <p:cNvSpPr/>
          <p:nvPr/>
        </p:nvSpPr>
        <p:spPr>
          <a:xfrm>
            <a:off x="3129260" y="3654326"/>
            <a:ext cx="94744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INSTALLED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7"/>
          <p:cNvSpPr/>
          <p:nvPr/>
        </p:nvSpPr>
        <p:spPr>
          <a:xfrm>
            <a:off x="4495800" y="1133475"/>
            <a:ext cx="3886200" cy="2873276"/>
          </a:xfrm>
          <a:prstGeom prst="rect">
            <a:avLst/>
          </a:prstGeom>
          <a:solidFill>
            <a:srgbClr val="0E0905">
              <a:alpha val="72157"/>
            </a:srgbClr>
          </a:solidFill>
          <a:ln cap="flat" cmpd="sng" w="9525">
            <a:solidFill>
              <a:srgbClr val="C697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8" name="Google Shape;638;p7"/>
          <p:cNvSpPr/>
          <p:nvPr/>
        </p:nvSpPr>
        <p:spPr>
          <a:xfrm>
            <a:off x="4676775" y="1295400"/>
            <a:ext cx="438150" cy="438150"/>
          </a:xfrm>
          <a:prstGeom prst="rect">
            <a:avLst/>
          </a:prstGeom>
          <a:solidFill>
            <a:srgbClr val="F2E3CB">
              <a:alpha val="14118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9" name="Google Shape;639;p7"/>
          <p:cNvSpPr/>
          <p:nvPr/>
        </p:nvSpPr>
        <p:spPr>
          <a:xfrm>
            <a:off x="5229225" y="1371600"/>
            <a:ext cx="948928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전달 벨트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7"/>
          <p:cNvSpPr/>
          <p:nvPr/>
        </p:nvSpPr>
        <p:spPr>
          <a:xfrm>
            <a:off x="4676775" y="1828800"/>
            <a:ext cx="3629978" cy="160645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조리대에 올린 재료가 반대편으로 자동 이동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" name="Google Shape;641;p7"/>
          <p:cNvSpPr/>
          <p:nvPr/>
        </p:nvSpPr>
        <p:spPr>
          <a:xfrm>
            <a:off x="4676775" y="3492401"/>
            <a:ext cx="3524250" cy="9525"/>
          </a:xfrm>
          <a:prstGeom prst="rect">
            <a:avLst/>
          </a:prstGeom>
          <a:solidFill>
            <a:srgbClr val="F2E3CB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2" name="Google Shape;642;p7"/>
          <p:cNvSpPr/>
          <p:nvPr/>
        </p:nvSpPr>
        <p:spPr>
          <a:xfrm>
            <a:off x="4676775" y="3625751"/>
            <a:ext cx="190500" cy="190500"/>
          </a:xfrm>
          <a:prstGeom prst="rect">
            <a:avLst/>
          </a:prstGeom>
          <a:solidFill>
            <a:srgbClr val="A46EE8">
              <a:alpha val="16078"/>
            </a:srgbClr>
          </a:solidFill>
          <a:ln cap="flat" cmpd="sng" w="9525">
            <a:solidFill>
              <a:srgbClr val="A46EE8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3" name="Google Shape;643;p7"/>
          <p:cNvSpPr/>
          <p:nvPr/>
        </p:nvSpPr>
        <p:spPr>
          <a:xfrm>
            <a:off x="4962525" y="3625751"/>
            <a:ext cx="26104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×2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7"/>
          <p:cNvSpPr/>
          <p:nvPr/>
        </p:nvSpPr>
        <p:spPr>
          <a:xfrm>
            <a:off x="7221885" y="3597176"/>
            <a:ext cx="979140" cy="247650"/>
          </a:xfrm>
          <a:prstGeom prst="rect">
            <a:avLst/>
          </a:prstGeom>
          <a:solidFill>
            <a:srgbClr val="C6974A"/>
          </a:solidFill>
          <a:ln cap="flat" cmpd="sng" w="9525">
            <a:solidFill>
              <a:srgbClr val="C697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5" name="Google Shape;645;p7"/>
          <p:cNvSpPr/>
          <p:nvPr/>
        </p:nvSpPr>
        <p:spPr>
          <a:xfrm>
            <a:off x="7383810" y="3654326"/>
            <a:ext cx="73149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0F07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70F07"/>
                </a:solidFill>
                <a:latin typeface="Arial"/>
                <a:ea typeface="Arial"/>
                <a:cs typeface="Arial"/>
                <a:sym typeface="Arial"/>
              </a:rPr>
              <a:t>INSTALL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7"/>
          <p:cNvSpPr/>
          <p:nvPr/>
        </p:nvSpPr>
        <p:spPr>
          <a:xfrm>
            <a:off x="8534400" y="1133475"/>
            <a:ext cx="3886200" cy="2873276"/>
          </a:xfrm>
          <a:prstGeom prst="rect">
            <a:avLst/>
          </a:prstGeom>
          <a:solidFill>
            <a:srgbClr val="0E0905">
              <a:alpha val="72157"/>
            </a:srgbClr>
          </a:solidFill>
          <a:ln cap="flat" cmpd="sng" w="9525">
            <a:solidFill>
              <a:srgbClr val="7CD9A8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7" name="Google Shape;647;p7"/>
          <p:cNvSpPr/>
          <p:nvPr/>
        </p:nvSpPr>
        <p:spPr>
          <a:xfrm>
            <a:off x="8715375" y="1295400"/>
            <a:ext cx="438150" cy="438150"/>
          </a:xfrm>
          <a:prstGeom prst="rect">
            <a:avLst/>
          </a:prstGeom>
          <a:solidFill>
            <a:srgbClr val="F2E3CB">
              <a:alpha val="14118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8" name="Google Shape;648;p7"/>
          <p:cNvSpPr/>
          <p:nvPr/>
        </p:nvSpPr>
        <p:spPr>
          <a:xfrm>
            <a:off x="9267825" y="1371600"/>
            <a:ext cx="855911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2구 머신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7"/>
          <p:cNvSpPr/>
          <p:nvPr/>
        </p:nvSpPr>
        <p:spPr>
          <a:xfrm>
            <a:off x="8715375" y="1828800"/>
            <a:ext cx="3629978" cy="160645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한 대에서 2잔 동시 제조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7"/>
          <p:cNvSpPr/>
          <p:nvPr/>
        </p:nvSpPr>
        <p:spPr>
          <a:xfrm>
            <a:off x="8715375" y="3492401"/>
            <a:ext cx="3524250" cy="9525"/>
          </a:xfrm>
          <a:prstGeom prst="rect">
            <a:avLst/>
          </a:prstGeom>
          <a:solidFill>
            <a:srgbClr val="F2E3CB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1" name="Google Shape;651;p7"/>
          <p:cNvSpPr/>
          <p:nvPr/>
        </p:nvSpPr>
        <p:spPr>
          <a:xfrm>
            <a:off x="8715375" y="3625751"/>
            <a:ext cx="190500" cy="190500"/>
          </a:xfrm>
          <a:prstGeom prst="rect">
            <a:avLst/>
          </a:prstGeom>
          <a:solidFill>
            <a:srgbClr val="A46EE8">
              <a:alpha val="16078"/>
            </a:srgbClr>
          </a:solidFill>
          <a:ln cap="flat" cmpd="sng" w="9525">
            <a:solidFill>
              <a:srgbClr val="A46EE8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2" name="Google Shape;652;p7"/>
          <p:cNvSpPr/>
          <p:nvPr/>
        </p:nvSpPr>
        <p:spPr>
          <a:xfrm>
            <a:off x="9001125" y="3625751"/>
            <a:ext cx="26104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×2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7"/>
          <p:cNvSpPr/>
          <p:nvPr/>
        </p:nvSpPr>
        <p:spPr>
          <a:xfrm>
            <a:off x="11044535" y="3597176"/>
            <a:ext cx="1195090" cy="247650"/>
          </a:xfrm>
          <a:prstGeom prst="rect">
            <a:avLst/>
          </a:prstGeom>
          <a:noFill/>
          <a:ln cap="flat" cmpd="sng" w="9525">
            <a:solidFill>
              <a:srgbClr val="7CD9A8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4" name="Google Shape;654;p7"/>
          <p:cNvSpPr/>
          <p:nvPr/>
        </p:nvSpPr>
        <p:spPr>
          <a:xfrm>
            <a:off x="11206460" y="3654326"/>
            <a:ext cx="94744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INSTALLED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7"/>
          <p:cNvSpPr/>
          <p:nvPr/>
        </p:nvSpPr>
        <p:spPr>
          <a:xfrm>
            <a:off x="457200" y="4159151"/>
            <a:ext cx="3886200" cy="2873425"/>
          </a:xfrm>
          <a:prstGeom prst="rect">
            <a:avLst/>
          </a:prstGeom>
          <a:solidFill>
            <a:srgbClr val="0E0905">
              <a:alpha val="72157"/>
            </a:srgbClr>
          </a:solidFill>
          <a:ln cap="flat" cmpd="sng" w="9525">
            <a:solidFill>
              <a:srgbClr val="C697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6" name="Google Shape;656;p7"/>
          <p:cNvSpPr/>
          <p:nvPr/>
        </p:nvSpPr>
        <p:spPr>
          <a:xfrm>
            <a:off x="638175" y="4321076"/>
            <a:ext cx="438150" cy="438150"/>
          </a:xfrm>
          <a:prstGeom prst="rect">
            <a:avLst/>
          </a:prstGeom>
          <a:solidFill>
            <a:srgbClr val="F2E3CB">
              <a:alpha val="14118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7" name="Google Shape;657;p7"/>
          <p:cNvSpPr/>
          <p:nvPr/>
        </p:nvSpPr>
        <p:spPr>
          <a:xfrm>
            <a:off x="1190625" y="4397276"/>
            <a:ext cx="948928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오븐 확장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7"/>
          <p:cNvSpPr/>
          <p:nvPr/>
        </p:nvSpPr>
        <p:spPr>
          <a:xfrm>
            <a:off x="638175" y="4854476"/>
            <a:ext cx="3629978" cy="16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디저트 2개 동시 굽기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" name="Google Shape;659;p7"/>
          <p:cNvSpPr/>
          <p:nvPr/>
        </p:nvSpPr>
        <p:spPr>
          <a:xfrm>
            <a:off x="638175" y="6518225"/>
            <a:ext cx="3524250" cy="9525"/>
          </a:xfrm>
          <a:prstGeom prst="rect">
            <a:avLst/>
          </a:prstGeom>
          <a:solidFill>
            <a:srgbClr val="F2E3CB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0" name="Google Shape;660;p7"/>
          <p:cNvSpPr/>
          <p:nvPr/>
        </p:nvSpPr>
        <p:spPr>
          <a:xfrm>
            <a:off x="638175" y="6651575"/>
            <a:ext cx="190500" cy="190500"/>
          </a:xfrm>
          <a:prstGeom prst="rect">
            <a:avLst/>
          </a:prstGeom>
          <a:solidFill>
            <a:srgbClr val="A46EE8">
              <a:alpha val="16078"/>
            </a:srgbClr>
          </a:solidFill>
          <a:ln cap="flat" cmpd="sng" w="9525">
            <a:solidFill>
              <a:srgbClr val="A46EE8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1" name="Google Shape;661;p7"/>
          <p:cNvSpPr/>
          <p:nvPr/>
        </p:nvSpPr>
        <p:spPr>
          <a:xfrm>
            <a:off x="923925" y="6651575"/>
            <a:ext cx="26104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×2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" name="Google Shape;662;p7"/>
          <p:cNvSpPr/>
          <p:nvPr/>
        </p:nvSpPr>
        <p:spPr>
          <a:xfrm>
            <a:off x="3183285" y="6623000"/>
            <a:ext cx="979140" cy="247650"/>
          </a:xfrm>
          <a:prstGeom prst="rect">
            <a:avLst/>
          </a:prstGeom>
          <a:solidFill>
            <a:srgbClr val="C6974A"/>
          </a:solidFill>
          <a:ln cap="flat" cmpd="sng" w="9525">
            <a:solidFill>
              <a:srgbClr val="C697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7"/>
          <p:cNvSpPr/>
          <p:nvPr/>
        </p:nvSpPr>
        <p:spPr>
          <a:xfrm>
            <a:off x="3345210" y="6680150"/>
            <a:ext cx="73149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0F07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70F07"/>
                </a:solidFill>
                <a:latin typeface="Arial"/>
                <a:ea typeface="Arial"/>
                <a:cs typeface="Arial"/>
                <a:sym typeface="Arial"/>
              </a:rPr>
              <a:t>INSTALL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7"/>
          <p:cNvSpPr/>
          <p:nvPr/>
        </p:nvSpPr>
        <p:spPr>
          <a:xfrm>
            <a:off x="4495800" y="4159151"/>
            <a:ext cx="3886200" cy="2873425"/>
          </a:xfrm>
          <a:prstGeom prst="rect">
            <a:avLst/>
          </a:prstGeom>
          <a:solidFill>
            <a:srgbClr val="0E0905">
              <a:alpha val="32157"/>
            </a:srgbClr>
          </a:solidFill>
          <a:ln cap="flat" cmpd="sng" w="9525">
            <a:solidFill>
              <a:srgbClr val="C6974A">
                <a:alpha val="1294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7"/>
          <p:cNvSpPr/>
          <p:nvPr/>
        </p:nvSpPr>
        <p:spPr>
          <a:xfrm>
            <a:off x="4676775" y="4321076"/>
            <a:ext cx="438150" cy="438150"/>
          </a:xfrm>
          <a:prstGeom prst="rect">
            <a:avLst/>
          </a:prstGeom>
          <a:solidFill>
            <a:srgbClr val="F2E3CB">
              <a:alpha val="5882"/>
            </a:srgbClr>
          </a:solidFill>
          <a:ln cap="flat" cmpd="sng" w="9525">
            <a:solidFill>
              <a:srgbClr val="F2E3CB">
                <a:alpha val="1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7"/>
          <p:cNvSpPr/>
          <p:nvPr/>
        </p:nvSpPr>
        <p:spPr>
          <a:xfrm>
            <a:off x="5229225" y="4397276"/>
            <a:ext cx="1100138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식기세척기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7"/>
          <p:cNvSpPr/>
          <p:nvPr/>
        </p:nvSpPr>
        <p:spPr>
          <a:xfrm>
            <a:off x="4676775" y="4854476"/>
            <a:ext cx="3629978" cy="16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더러운 그릇이 자동으로 세척된다 (느리게)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7"/>
          <p:cNvSpPr/>
          <p:nvPr/>
        </p:nvSpPr>
        <p:spPr>
          <a:xfrm>
            <a:off x="4676775" y="6518225"/>
            <a:ext cx="3524250" cy="9525"/>
          </a:xfrm>
          <a:prstGeom prst="rect">
            <a:avLst/>
          </a:prstGeom>
          <a:solidFill>
            <a:srgbClr val="F2E3CB">
              <a:alpha val="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9" name="Google Shape;669;p7"/>
          <p:cNvSpPr/>
          <p:nvPr/>
        </p:nvSpPr>
        <p:spPr>
          <a:xfrm>
            <a:off x="4676775" y="6651575"/>
            <a:ext cx="190500" cy="190500"/>
          </a:xfrm>
          <a:prstGeom prst="rect">
            <a:avLst/>
          </a:prstGeom>
          <a:solidFill>
            <a:srgbClr val="A46EE8">
              <a:alpha val="7059"/>
            </a:srgbClr>
          </a:solidFill>
          <a:ln cap="flat" cmpd="sng" w="9525">
            <a:solidFill>
              <a:srgbClr val="A46EE8">
                <a:alpha val="3098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7"/>
          <p:cNvSpPr/>
          <p:nvPr/>
        </p:nvSpPr>
        <p:spPr>
          <a:xfrm>
            <a:off x="4962525" y="6651575"/>
            <a:ext cx="26104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×3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7"/>
          <p:cNvSpPr/>
          <p:nvPr/>
        </p:nvSpPr>
        <p:spPr>
          <a:xfrm>
            <a:off x="7074843" y="6623000"/>
            <a:ext cx="1126182" cy="247650"/>
          </a:xfrm>
          <a:prstGeom prst="rect">
            <a:avLst/>
          </a:prstGeom>
          <a:noFill/>
          <a:ln cap="flat" cmpd="sng" w="9525">
            <a:solidFill>
              <a:srgbClr val="F2E3CB">
                <a:alpha val="1098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7"/>
          <p:cNvSpPr/>
          <p:nvPr/>
        </p:nvSpPr>
        <p:spPr>
          <a:xfrm>
            <a:off x="7236768" y="6680150"/>
            <a:ext cx="87853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NO PARTS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" name="Google Shape;673;p7"/>
          <p:cNvSpPr/>
          <p:nvPr/>
        </p:nvSpPr>
        <p:spPr>
          <a:xfrm>
            <a:off x="8534400" y="4159151"/>
            <a:ext cx="3886200" cy="2873425"/>
          </a:xfrm>
          <a:prstGeom prst="rect">
            <a:avLst/>
          </a:prstGeom>
          <a:solidFill>
            <a:srgbClr val="0E0905">
              <a:alpha val="72157"/>
            </a:srgbClr>
          </a:solidFill>
          <a:ln cap="flat" cmpd="sng" w="9525">
            <a:solidFill>
              <a:srgbClr val="C697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4" name="Google Shape;674;p7"/>
          <p:cNvSpPr/>
          <p:nvPr/>
        </p:nvSpPr>
        <p:spPr>
          <a:xfrm>
            <a:off x="8715375" y="4321076"/>
            <a:ext cx="438150" cy="438150"/>
          </a:xfrm>
          <a:prstGeom prst="rect">
            <a:avLst/>
          </a:prstGeom>
          <a:solidFill>
            <a:srgbClr val="F2E3CB">
              <a:alpha val="14118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7"/>
          <p:cNvSpPr/>
          <p:nvPr/>
        </p:nvSpPr>
        <p:spPr>
          <a:xfrm>
            <a:off x="9267825" y="4397276"/>
            <a:ext cx="948928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그릇 추가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" name="Google Shape;676;p7"/>
          <p:cNvSpPr/>
          <p:nvPr/>
        </p:nvSpPr>
        <p:spPr>
          <a:xfrm>
            <a:off x="8715375" y="4854476"/>
            <a:ext cx="3629978" cy="16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그릇 4개 → 6개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7"/>
          <p:cNvSpPr/>
          <p:nvPr/>
        </p:nvSpPr>
        <p:spPr>
          <a:xfrm>
            <a:off x="8715375" y="6518225"/>
            <a:ext cx="3524250" cy="9525"/>
          </a:xfrm>
          <a:prstGeom prst="rect">
            <a:avLst/>
          </a:prstGeom>
          <a:solidFill>
            <a:srgbClr val="F2E3CB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8" name="Google Shape;678;p7"/>
          <p:cNvSpPr/>
          <p:nvPr/>
        </p:nvSpPr>
        <p:spPr>
          <a:xfrm>
            <a:off x="8715375" y="6651575"/>
            <a:ext cx="190500" cy="190500"/>
          </a:xfrm>
          <a:prstGeom prst="rect">
            <a:avLst/>
          </a:prstGeom>
          <a:solidFill>
            <a:srgbClr val="A46EE8">
              <a:alpha val="16078"/>
            </a:srgbClr>
          </a:solidFill>
          <a:ln cap="flat" cmpd="sng" w="9525">
            <a:solidFill>
              <a:srgbClr val="A46EE8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9" name="Google Shape;679;p7"/>
          <p:cNvSpPr/>
          <p:nvPr/>
        </p:nvSpPr>
        <p:spPr>
          <a:xfrm>
            <a:off x="9001125" y="6651575"/>
            <a:ext cx="26104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×1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7"/>
          <p:cNvSpPr/>
          <p:nvPr/>
        </p:nvSpPr>
        <p:spPr>
          <a:xfrm>
            <a:off x="11260485" y="6623000"/>
            <a:ext cx="979140" cy="247650"/>
          </a:xfrm>
          <a:prstGeom prst="rect">
            <a:avLst/>
          </a:prstGeom>
          <a:solidFill>
            <a:srgbClr val="C6974A"/>
          </a:solidFill>
          <a:ln cap="flat" cmpd="sng" w="9525">
            <a:solidFill>
              <a:srgbClr val="C697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7"/>
          <p:cNvSpPr/>
          <p:nvPr/>
        </p:nvSpPr>
        <p:spPr>
          <a:xfrm>
            <a:off x="11422410" y="6680150"/>
            <a:ext cx="73149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0F07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70F07"/>
                </a:solidFill>
                <a:latin typeface="Arial"/>
                <a:ea typeface="Arial"/>
                <a:cs typeface="Arial"/>
                <a:sym typeface="Arial"/>
              </a:rPr>
              <a:t>INSTALL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7"/>
          <p:cNvSpPr/>
          <p:nvPr/>
        </p:nvSpPr>
        <p:spPr>
          <a:xfrm>
            <a:off x="457200" y="7184975"/>
            <a:ext cx="3886200" cy="2873276"/>
          </a:xfrm>
          <a:prstGeom prst="rect">
            <a:avLst/>
          </a:prstGeom>
          <a:solidFill>
            <a:srgbClr val="0E0905">
              <a:alpha val="32157"/>
            </a:srgbClr>
          </a:solidFill>
          <a:ln cap="flat" cmpd="sng" w="9525">
            <a:solidFill>
              <a:srgbClr val="C6974A">
                <a:alpha val="1294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Google Shape;683;p7"/>
          <p:cNvSpPr/>
          <p:nvPr/>
        </p:nvSpPr>
        <p:spPr>
          <a:xfrm>
            <a:off x="638175" y="7346900"/>
            <a:ext cx="438150" cy="438150"/>
          </a:xfrm>
          <a:prstGeom prst="rect">
            <a:avLst/>
          </a:prstGeom>
          <a:solidFill>
            <a:srgbClr val="F2E3CB">
              <a:alpha val="5882"/>
            </a:srgbClr>
          </a:solidFill>
          <a:ln cap="flat" cmpd="sng" w="9525">
            <a:solidFill>
              <a:srgbClr val="F2E3CB">
                <a:alpha val="1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4" name="Google Shape;684;p7"/>
          <p:cNvSpPr/>
          <p:nvPr/>
        </p:nvSpPr>
        <p:spPr>
          <a:xfrm>
            <a:off x="1190625" y="7423100"/>
            <a:ext cx="1153716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자동 서빙대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7"/>
          <p:cNvSpPr/>
          <p:nvPr/>
        </p:nvSpPr>
        <p:spPr>
          <a:xfrm>
            <a:off x="638175" y="7880300"/>
            <a:ext cx="3629978" cy="160645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완성품을 올려두면 자동으로 손님에게 나간다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7"/>
          <p:cNvSpPr/>
          <p:nvPr/>
        </p:nvSpPr>
        <p:spPr>
          <a:xfrm>
            <a:off x="638175" y="9543901"/>
            <a:ext cx="3524250" cy="9525"/>
          </a:xfrm>
          <a:prstGeom prst="rect">
            <a:avLst/>
          </a:prstGeom>
          <a:solidFill>
            <a:srgbClr val="F2E3CB">
              <a:alpha val="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7" name="Google Shape;687;p7"/>
          <p:cNvSpPr/>
          <p:nvPr/>
        </p:nvSpPr>
        <p:spPr>
          <a:xfrm>
            <a:off x="638175" y="9677251"/>
            <a:ext cx="190500" cy="190500"/>
          </a:xfrm>
          <a:prstGeom prst="rect">
            <a:avLst/>
          </a:prstGeom>
          <a:solidFill>
            <a:srgbClr val="A46EE8">
              <a:alpha val="7059"/>
            </a:srgbClr>
          </a:solidFill>
          <a:ln cap="flat" cmpd="sng" w="9525">
            <a:solidFill>
              <a:srgbClr val="A46EE8">
                <a:alpha val="3098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8" name="Google Shape;688;p7"/>
          <p:cNvSpPr/>
          <p:nvPr/>
        </p:nvSpPr>
        <p:spPr>
          <a:xfrm>
            <a:off x="923925" y="9677251"/>
            <a:ext cx="26104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×3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7"/>
          <p:cNvSpPr/>
          <p:nvPr/>
        </p:nvSpPr>
        <p:spPr>
          <a:xfrm>
            <a:off x="3036243" y="9648676"/>
            <a:ext cx="1126182" cy="247650"/>
          </a:xfrm>
          <a:prstGeom prst="rect">
            <a:avLst/>
          </a:prstGeom>
          <a:noFill/>
          <a:ln cap="flat" cmpd="sng" w="9525">
            <a:solidFill>
              <a:srgbClr val="F2E3CB">
                <a:alpha val="1098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0" name="Google Shape;690;p7"/>
          <p:cNvSpPr/>
          <p:nvPr/>
        </p:nvSpPr>
        <p:spPr>
          <a:xfrm>
            <a:off x="3198168" y="9705826"/>
            <a:ext cx="87853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NO PARTS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" name="Google Shape;691;p7"/>
          <p:cNvSpPr/>
          <p:nvPr/>
        </p:nvSpPr>
        <p:spPr>
          <a:xfrm>
            <a:off x="4495800" y="7184975"/>
            <a:ext cx="3886200" cy="2873276"/>
          </a:xfrm>
          <a:prstGeom prst="rect">
            <a:avLst/>
          </a:prstGeom>
          <a:solidFill>
            <a:srgbClr val="0E0905">
              <a:alpha val="72157"/>
            </a:srgbClr>
          </a:solidFill>
          <a:ln cap="flat" cmpd="sng" w="9525">
            <a:solidFill>
              <a:srgbClr val="C697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2" name="Google Shape;692;p7"/>
          <p:cNvSpPr/>
          <p:nvPr/>
        </p:nvSpPr>
        <p:spPr>
          <a:xfrm>
            <a:off x="4676775" y="7346900"/>
            <a:ext cx="438150" cy="438150"/>
          </a:xfrm>
          <a:prstGeom prst="rect">
            <a:avLst/>
          </a:prstGeom>
          <a:solidFill>
            <a:srgbClr val="F2E3CB">
              <a:alpha val="14118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3" name="Google Shape;693;p7"/>
          <p:cNvSpPr/>
          <p:nvPr/>
        </p:nvSpPr>
        <p:spPr>
          <a:xfrm>
            <a:off x="5229225" y="7423100"/>
            <a:ext cx="690563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제빙기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7"/>
          <p:cNvSpPr/>
          <p:nvPr/>
        </p:nvSpPr>
        <p:spPr>
          <a:xfrm>
            <a:off x="4676775" y="7880300"/>
            <a:ext cx="3629978" cy="160645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얼음 무한 공급 (재료 칸에 항상 있음)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" name="Google Shape;695;p7"/>
          <p:cNvSpPr/>
          <p:nvPr/>
        </p:nvSpPr>
        <p:spPr>
          <a:xfrm>
            <a:off x="4676775" y="9543901"/>
            <a:ext cx="3524250" cy="9525"/>
          </a:xfrm>
          <a:prstGeom prst="rect">
            <a:avLst/>
          </a:prstGeom>
          <a:solidFill>
            <a:srgbClr val="F2E3CB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6" name="Google Shape;696;p7"/>
          <p:cNvSpPr/>
          <p:nvPr/>
        </p:nvSpPr>
        <p:spPr>
          <a:xfrm>
            <a:off x="4676775" y="9677251"/>
            <a:ext cx="190500" cy="190500"/>
          </a:xfrm>
          <a:prstGeom prst="rect">
            <a:avLst/>
          </a:prstGeom>
          <a:solidFill>
            <a:srgbClr val="A46EE8">
              <a:alpha val="16078"/>
            </a:srgbClr>
          </a:solidFill>
          <a:ln cap="flat" cmpd="sng" w="9525">
            <a:solidFill>
              <a:srgbClr val="A46EE8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7" name="Google Shape;697;p7"/>
          <p:cNvSpPr/>
          <p:nvPr/>
        </p:nvSpPr>
        <p:spPr>
          <a:xfrm>
            <a:off x="4962525" y="9677251"/>
            <a:ext cx="26104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×2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7"/>
          <p:cNvSpPr/>
          <p:nvPr/>
        </p:nvSpPr>
        <p:spPr>
          <a:xfrm>
            <a:off x="7221885" y="9648676"/>
            <a:ext cx="979140" cy="247650"/>
          </a:xfrm>
          <a:prstGeom prst="rect">
            <a:avLst/>
          </a:prstGeom>
          <a:solidFill>
            <a:srgbClr val="C6974A"/>
          </a:solidFill>
          <a:ln cap="flat" cmpd="sng" w="9525">
            <a:solidFill>
              <a:srgbClr val="C697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9" name="Google Shape;699;p7"/>
          <p:cNvSpPr/>
          <p:nvPr/>
        </p:nvSpPr>
        <p:spPr>
          <a:xfrm>
            <a:off x="7383810" y="9705826"/>
            <a:ext cx="73149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0F07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70F07"/>
                </a:solidFill>
                <a:latin typeface="Arial"/>
                <a:ea typeface="Arial"/>
                <a:cs typeface="Arial"/>
                <a:sym typeface="Arial"/>
              </a:rPr>
              <a:t>INSTALL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7"/>
          <p:cNvSpPr/>
          <p:nvPr/>
        </p:nvSpPr>
        <p:spPr>
          <a:xfrm>
            <a:off x="8534400" y="7184975"/>
            <a:ext cx="3886200" cy="2873276"/>
          </a:xfrm>
          <a:prstGeom prst="rect">
            <a:avLst/>
          </a:prstGeom>
          <a:solidFill>
            <a:srgbClr val="0E0905">
              <a:alpha val="32157"/>
            </a:srgbClr>
          </a:solidFill>
          <a:ln cap="flat" cmpd="sng" w="9525">
            <a:solidFill>
              <a:srgbClr val="C6974A">
                <a:alpha val="1294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1" name="Google Shape;701;p7"/>
          <p:cNvSpPr/>
          <p:nvPr/>
        </p:nvSpPr>
        <p:spPr>
          <a:xfrm>
            <a:off x="8715375" y="7346900"/>
            <a:ext cx="438150" cy="438150"/>
          </a:xfrm>
          <a:prstGeom prst="rect">
            <a:avLst/>
          </a:prstGeom>
          <a:solidFill>
            <a:srgbClr val="F2E3CB">
              <a:alpha val="5882"/>
            </a:srgbClr>
          </a:solidFill>
          <a:ln cap="flat" cmpd="sng" w="9525">
            <a:solidFill>
              <a:srgbClr val="F2E3CB">
                <a:alpha val="1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2" name="Google Shape;702;p7"/>
          <p:cNvSpPr/>
          <p:nvPr/>
        </p:nvSpPr>
        <p:spPr>
          <a:xfrm>
            <a:off x="9267825" y="7423100"/>
            <a:ext cx="948928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우유 탱크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" name="Google Shape;703;p7"/>
          <p:cNvSpPr/>
          <p:nvPr/>
        </p:nvSpPr>
        <p:spPr>
          <a:xfrm>
            <a:off x="8715375" y="7880300"/>
            <a:ext cx="3629978" cy="160645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우유 무한 공급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" name="Google Shape;704;p7"/>
          <p:cNvSpPr/>
          <p:nvPr/>
        </p:nvSpPr>
        <p:spPr>
          <a:xfrm>
            <a:off x="8715375" y="9543901"/>
            <a:ext cx="3524250" cy="9525"/>
          </a:xfrm>
          <a:prstGeom prst="rect">
            <a:avLst/>
          </a:prstGeom>
          <a:solidFill>
            <a:srgbClr val="F2E3CB">
              <a:alpha val="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5" name="Google Shape;705;p7"/>
          <p:cNvSpPr/>
          <p:nvPr/>
        </p:nvSpPr>
        <p:spPr>
          <a:xfrm>
            <a:off x="8715375" y="9677251"/>
            <a:ext cx="190500" cy="190500"/>
          </a:xfrm>
          <a:prstGeom prst="rect">
            <a:avLst/>
          </a:prstGeom>
          <a:solidFill>
            <a:srgbClr val="A46EE8">
              <a:alpha val="7059"/>
            </a:srgbClr>
          </a:solidFill>
          <a:ln cap="flat" cmpd="sng" w="9525">
            <a:solidFill>
              <a:srgbClr val="A46EE8">
                <a:alpha val="3098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6" name="Google Shape;706;p7"/>
          <p:cNvSpPr/>
          <p:nvPr/>
        </p:nvSpPr>
        <p:spPr>
          <a:xfrm>
            <a:off x="9001125" y="9677251"/>
            <a:ext cx="26104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×2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" name="Google Shape;707;p7"/>
          <p:cNvSpPr/>
          <p:nvPr/>
        </p:nvSpPr>
        <p:spPr>
          <a:xfrm>
            <a:off x="11113443" y="9648676"/>
            <a:ext cx="1126182" cy="247650"/>
          </a:xfrm>
          <a:prstGeom prst="rect">
            <a:avLst/>
          </a:prstGeom>
          <a:noFill/>
          <a:ln cap="flat" cmpd="sng" w="9525">
            <a:solidFill>
              <a:srgbClr val="F2E3CB">
                <a:alpha val="1098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8" name="Google Shape;708;p7"/>
          <p:cNvSpPr/>
          <p:nvPr/>
        </p:nvSpPr>
        <p:spPr>
          <a:xfrm>
            <a:off x="11275368" y="9705826"/>
            <a:ext cx="87853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NO PARTS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7"/>
          <p:cNvSpPr/>
          <p:nvPr/>
        </p:nvSpPr>
        <p:spPr>
          <a:xfrm>
            <a:off x="12668250" y="1133475"/>
            <a:ext cx="5162550" cy="8924925"/>
          </a:xfrm>
          <a:prstGeom prst="rect">
            <a:avLst/>
          </a:prstGeom>
          <a:solidFill>
            <a:srgbClr val="0E0905">
              <a:alpha val="72157"/>
            </a:srgbClr>
          </a:solidFill>
          <a:ln cap="flat" cmpd="sng" w="9525">
            <a:solidFill>
              <a:srgbClr val="C697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0" name="Google Shape;710;p7"/>
          <p:cNvSpPr/>
          <p:nvPr/>
        </p:nvSpPr>
        <p:spPr>
          <a:xfrm>
            <a:off x="12677775" y="1543050"/>
            <a:ext cx="5143500" cy="9525"/>
          </a:xfrm>
          <a:prstGeom prst="rect">
            <a:avLst/>
          </a:prstGeom>
          <a:solidFill>
            <a:srgbClr val="C6974A">
              <a:alpha val="2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1" name="Google Shape;711;p7"/>
          <p:cNvSpPr/>
          <p:nvPr/>
        </p:nvSpPr>
        <p:spPr>
          <a:xfrm>
            <a:off x="12887325" y="1276350"/>
            <a:ext cx="487870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CAFE LAYOUT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7"/>
          <p:cNvSpPr/>
          <p:nvPr/>
        </p:nvSpPr>
        <p:spPr>
          <a:xfrm>
            <a:off x="12630150" y="1743075"/>
            <a:ext cx="523875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GUEST QUEUE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7"/>
          <p:cNvSpPr/>
          <p:nvPr/>
        </p:nvSpPr>
        <p:spPr>
          <a:xfrm>
            <a:off x="12868275" y="1971675"/>
            <a:ext cx="4762500" cy="342900"/>
          </a:xfrm>
          <a:prstGeom prst="rect">
            <a:avLst/>
          </a:prstGeom>
          <a:noFill/>
          <a:ln cap="flat" cmpd="sng" w="9525">
            <a:solidFill>
              <a:srgbClr val="C6974A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4" name="Google Shape;714;p7"/>
          <p:cNvSpPr/>
          <p:nvPr/>
        </p:nvSpPr>
        <p:spPr>
          <a:xfrm>
            <a:off x="12806362" y="1981200"/>
            <a:ext cx="4886325" cy="3619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서빙 카운터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7"/>
          <p:cNvSpPr/>
          <p:nvPr/>
        </p:nvSpPr>
        <p:spPr>
          <a:xfrm>
            <a:off x="12868275" y="2428875"/>
            <a:ext cx="1511201" cy="685800"/>
          </a:xfrm>
          <a:prstGeom prst="rect">
            <a:avLst/>
          </a:prstGeom>
          <a:solidFill>
            <a:srgbClr val="F2E3CB">
              <a:alpha val="5882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6" name="Google Shape;716;p7"/>
          <p:cNvSpPr/>
          <p:nvPr/>
        </p:nvSpPr>
        <p:spPr>
          <a:xfrm>
            <a:off x="13324582" y="2614613"/>
            <a:ext cx="674787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커피머신 1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7"/>
          <p:cNvSpPr/>
          <p:nvPr/>
        </p:nvSpPr>
        <p:spPr>
          <a:xfrm>
            <a:off x="13393638" y="2805113"/>
            <a:ext cx="536674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2구 적용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7"/>
          <p:cNvSpPr/>
          <p:nvPr/>
        </p:nvSpPr>
        <p:spPr>
          <a:xfrm>
            <a:off x="14493776" y="2428875"/>
            <a:ext cx="1511350" cy="685800"/>
          </a:xfrm>
          <a:prstGeom prst="rect">
            <a:avLst/>
          </a:prstGeom>
          <a:solidFill>
            <a:srgbClr val="F2E3CB">
              <a:alpha val="5882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9" name="Google Shape;719;p7"/>
          <p:cNvSpPr/>
          <p:nvPr/>
        </p:nvSpPr>
        <p:spPr>
          <a:xfrm>
            <a:off x="14465201" y="2438400"/>
            <a:ext cx="1568500" cy="704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커피머신 2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7"/>
          <p:cNvSpPr/>
          <p:nvPr/>
        </p:nvSpPr>
        <p:spPr>
          <a:xfrm>
            <a:off x="16119425" y="2428875"/>
            <a:ext cx="1511350" cy="685800"/>
          </a:xfrm>
          <a:prstGeom prst="rect">
            <a:avLst/>
          </a:prstGeom>
          <a:solidFill>
            <a:srgbClr val="F2E3CB">
              <a:alpha val="5882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1" name="Google Shape;721;p7"/>
          <p:cNvSpPr/>
          <p:nvPr/>
        </p:nvSpPr>
        <p:spPr>
          <a:xfrm>
            <a:off x="16090850" y="2438400"/>
            <a:ext cx="1568500" cy="704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오븐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7"/>
          <p:cNvSpPr/>
          <p:nvPr/>
        </p:nvSpPr>
        <p:spPr>
          <a:xfrm>
            <a:off x="12868275" y="3228975"/>
            <a:ext cx="4762500" cy="381000"/>
          </a:xfrm>
          <a:prstGeom prst="rect">
            <a:avLst/>
          </a:prstGeom>
          <a:solidFill>
            <a:srgbClr val="C6974A">
              <a:alpha val="21961"/>
            </a:srgbClr>
          </a:solidFill>
          <a:ln cap="flat" cmpd="sng" w="9525">
            <a:solidFill>
              <a:srgbClr val="C6974A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3" name="Google Shape;723;p7"/>
          <p:cNvSpPr/>
          <p:nvPr/>
        </p:nvSpPr>
        <p:spPr>
          <a:xfrm>
            <a:off x="12806362" y="3238500"/>
            <a:ext cx="4886325" cy="400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조리대 — 통과 불가 · 아이템만 건넬 수 있음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" name="Google Shape;724;p7"/>
          <p:cNvSpPr/>
          <p:nvPr/>
        </p:nvSpPr>
        <p:spPr>
          <a:xfrm>
            <a:off x="12868275" y="3724275"/>
            <a:ext cx="2324100" cy="685800"/>
          </a:xfrm>
          <a:prstGeom prst="rect">
            <a:avLst/>
          </a:prstGeom>
          <a:solidFill>
            <a:srgbClr val="F2E3CB">
              <a:alpha val="5882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5" name="Google Shape;725;p7"/>
          <p:cNvSpPr/>
          <p:nvPr/>
        </p:nvSpPr>
        <p:spPr>
          <a:xfrm>
            <a:off x="12839700" y="3733800"/>
            <a:ext cx="2381250" cy="704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재료 칸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7"/>
          <p:cNvSpPr/>
          <p:nvPr/>
        </p:nvSpPr>
        <p:spPr>
          <a:xfrm>
            <a:off x="15306675" y="3724275"/>
            <a:ext cx="2324100" cy="685800"/>
          </a:xfrm>
          <a:prstGeom prst="rect">
            <a:avLst/>
          </a:prstGeom>
          <a:solidFill>
            <a:srgbClr val="F2E3CB">
              <a:alpha val="5882"/>
            </a:srgbClr>
          </a:solidFill>
          <a:ln cap="flat" cmpd="sng" w="9525">
            <a:solidFill>
              <a:srgbClr val="F2E3CB">
                <a:alpha val="2196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7" name="Google Shape;727;p7"/>
          <p:cNvSpPr/>
          <p:nvPr/>
        </p:nvSpPr>
        <p:spPr>
          <a:xfrm>
            <a:off x="16282988" y="3910013"/>
            <a:ext cx="4476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싱크대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7"/>
          <p:cNvSpPr/>
          <p:nvPr/>
        </p:nvSpPr>
        <p:spPr>
          <a:xfrm>
            <a:off x="15988754" y="4100513"/>
            <a:ext cx="1036141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식기세척기 미적용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" name="Google Shape;729;p7"/>
          <p:cNvSpPr/>
          <p:nvPr/>
        </p:nvSpPr>
        <p:spPr>
          <a:xfrm>
            <a:off x="12868275" y="8885932"/>
            <a:ext cx="4905375" cy="24854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47333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업그레이드는 동선을 줄이는 방향으로만 작동한다. 적용 후 되돌릴 수 없다.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7"/>
          <p:cNvSpPr/>
          <p:nvPr/>
        </p:nvSpPr>
        <p:spPr>
          <a:xfrm>
            <a:off x="12868275" y="9286875"/>
            <a:ext cx="4762500" cy="571500"/>
          </a:xfrm>
          <a:prstGeom prst="rect">
            <a:avLst/>
          </a:prstGeom>
          <a:solidFill>
            <a:srgbClr val="C697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1" name="Google Shape;731;p7"/>
          <p:cNvSpPr/>
          <p:nvPr/>
        </p:nvSpPr>
        <p:spPr>
          <a:xfrm>
            <a:off x="14198501" y="9420225"/>
            <a:ext cx="304800" cy="304800"/>
          </a:xfrm>
          <a:prstGeom prst="rect">
            <a:avLst/>
          </a:prstGeom>
          <a:noFill/>
          <a:ln cap="flat" cmpd="sng" w="19050">
            <a:solidFill>
              <a:srgbClr val="170F0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2" name="Google Shape;732;p7"/>
          <p:cNvSpPr/>
          <p:nvPr/>
        </p:nvSpPr>
        <p:spPr>
          <a:xfrm>
            <a:off x="14179451" y="9439275"/>
            <a:ext cx="342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0F07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170F07"/>
                </a:solidFill>
                <a:latin typeface="Arial"/>
                <a:ea typeface="Arial"/>
                <a:cs typeface="Arial"/>
                <a:sym typeface="Arial"/>
              </a:rPr>
              <a:t>↵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7"/>
          <p:cNvSpPr/>
          <p:nvPr/>
        </p:nvSpPr>
        <p:spPr>
          <a:xfrm>
            <a:off x="14636651" y="9420225"/>
            <a:ext cx="1830125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0F0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70F07"/>
                </a:solidFill>
                <a:latin typeface="Arial"/>
                <a:ea typeface="Arial"/>
                <a:cs typeface="Arial"/>
                <a:sym typeface="Arial"/>
              </a:rPr>
              <a:t>적용하고 밤으로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805"/>
        </a:solidFill>
      </p:bgPr>
    </p:bg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8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20C0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0" name="Google Shape;740;p8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8A5F38"/>
              </a:gs>
              <a:gs pos="46000">
                <a:srgbClr val="3A2515"/>
              </a:gs>
              <a:gs pos="88000">
                <a:srgbClr val="160E07"/>
              </a:gs>
              <a:gs pos="100000">
                <a:srgbClr val="160E07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1" name="Google Shape;741;p8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 rotWithShape="1">
            <a:blip r:embed="rId3">
              <a:alphaModFix/>
            </a:blip>
            <a:tile algn="tl" flip="none" tx="0" sx="100000" ty="0" sy="10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2" name="Google Shape;742;p8"/>
          <p:cNvSpPr/>
          <p:nvPr/>
        </p:nvSpPr>
        <p:spPr>
          <a:xfrm>
            <a:off x="514350" y="1813471"/>
            <a:ext cx="17259300" cy="9525"/>
          </a:xfrm>
          <a:prstGeom prst="rect">
            <a:avLst/>
          </a:prstGeom>
          <a:solidFill>
            <a:srgbClr val="C6974A">
              <a:alpha val="3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3" name="Google Shape;743;p8"/>
          <p:cNvSpPr/>
          <p:nvPr/>
        </p:nvSpPr>
        <p:spPr>
          <a:xfrm>
            <a:off x="-348615" y="381000"/>
            <a:ext cx="1898523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DAY 07 — FINAL SETTLEMENT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8"/>
          <p:cNvSpPr/>
          <p:nvPr/>
        </p:nvSpPr>
        <p:spPr>
          <a:xfrm>
            <a:off x="-348615" y="600075"/>
            <a:ext cx="18985230" cy="70857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78222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늑대 소굴 승리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8"/>
          <p:cNvSpPr/>
          <p:nvPr/>
        </p:nvSpPr>
        <p:spPr>
          <a:xfrm>
            <a:off x="-348615" y="1308646"/>
            <a:ext cx="189852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8,420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8"/>
          <p:cNvSpPr/>
          <p:nvPr/>
        </p:nvSpPr>
        <p:spPr>
          <a:xfrm>
            <a:off x="514350" y="2070646"/>
            <a:ext cx="10725150" cy="7968704"/>
          </a:xfrm>
          <a:prstGeom prst="rect">
            <a:avLst/>
          </a:prstGeom>
          <a:solidFill>
            <a:srgbClr val="0E0905">
              <a:alpha val="72157"/>
            </a:srgbClr>
          </a:solidFill>
          <a:ln cap="flat" cmpd="sng" w="9525">
            <a:solidFill>
              <a:srgbClr val="C697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7" name="Google Shape;747;p8"/>
          <p:cNvSpPr/>
          <p:nvPr/>
        </p:nvSpPr>
        <p:spPr>
          <a:xfrm>
            <a:off x="523875" y="2480221"/>
            <a:ext cx="10706100" cy="9525"/>
          </a:xfrm>
          <a:prstGeom prst="rect">
            <a:avLst/>
          </a:prstGeom>
          <a:solidFill>
            <a:srgbClr val="C6974A">
              <a:alpha val="2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8" name="Google Shape;748;p8"/>
          <p:cNvSpPr/>
          <p:nvPr/>
        </p:nvSpPr>
        <p:spPr>
          <a:xfrm>
            <a:off x="733425" y="2213521"/>
            <a:ext cx="1060818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FINAL RANKING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8"/>
          <p:cNvSpPr/>
          <p:nvPr/>
        </p:nvSpPr>
        <p:spPr>
          <a:xfrm>
            <a:off x="733425" y="3518446"/>
            <a:ext cx="10287000" cy="9525"/>
          </a:xfrm>
          <a:prstGeom prst="rect">
            <a:avLst/>
          </a:prstGeom>
          <a:solidFill>
            <a:srgbClr val="F2E3CB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0" name="Google Shape;750;p8"/>
          <p:cNvSpPr/>
          <p:nvPr/>
        </p:nvSpPr>
        <p:spPr>
          <a:xfrm>
            <a:off x="733425" y="2880271"/>
            <a:ext cx="514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87179"/>
              </a:lnSpc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" name="Google Shape;751;p8"/>
          <p:cNvSpPr/>
          <p:nvPr/>
        </p:nvSpPr>
        <p:spPr>
          <a:xfrm>
            <a:off x="1343025" y="2737396"/>
            <a:ext cx="609600" cy="609600"/>
          </a:xfrm>
          <a:prstGeom prst="rect">
            <a:avLst/>
          </a:prstGeom>
          <a:solidFill>
            <a:srgbClr val="F2E3CB">
              <a:alpha val="12157"/>
            </a:srgbClr>
          </a:solidFill>
          <a:ln cap="flat" cmpd="sng" w="9525">
            <a:solidFill>
              <a:srgbClr val="F2E3CB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2" name="Google Shape;752;p8"/>
          <p:cNvSpPr/>
          <p:nvPr/>
        </p:nvSpPr>
        <p:spPr>
          <a:xfrm>
            <a:off x="2124075" y="2823121"/>
            <a:ext cx="8758371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늑대 소굴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8"/>
          <p:cNvSpPr/>
          <p:nvPr/>
        </p:nvSpPr>
        <p:spPr>
          <a:xfrm>
            <a:off x="2124075" y="3204121"/>
            <a:ext cx="7962156" cy="57150"/>
          </a:xfrm>
          <a:prstGeom prst="rect">
            <a:avLst/>
          </a:prstGeom>
          <a:solidFill>
            <a:srgbClr val="F2E3CB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4" name="Google Shape;754;p8"/>
          <p:cNvSpPr/>
          <p:nvPr/>
        </p:nvSpPr>
        <p:spPr>
          <a:xfrm>
            <a:off x="2124075" y="3204121"/>
            <a:ext cx="7962156" cy="57150"/>
          </a:xfrm>
          <a:prstGeom prst="rect">
            <a:avLst/>
          </a:prstGeom>
          <a:solidFill>
            <a:srgbClr val="E9B8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5" name="Google Shape;755;p8"/>
          <p:cNvSpPr/>
          <p:nvPr/>
        </p:nvSpPr>
        <p:spPr>
          <a:xfrm>
            <a:off x="10257681" y="2865983"/>
            <a:ext cx="838944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8,420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" name="Google Shape;756;p8"/>
          <p:cNvSpPr/>
          <p:nvPr/>
        </p:nvSpPr>
        <p:spPr>
          <a:xfrm>
            <a:off x="733425" y="4480471"/>
            <a:ext cx="10287000" cy="9525"/>
          </a:xfrm>
          <a:prstGeom prst="rect">
            <a:avLst/>
          </a:prstGeom>
          <a:solidFill>
            <a:srgbClr val="F2E3CB">
              <a:alpha val="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7" name="Google Shape;757;p8"/>
          <p:cNvSpPr/>
          <p:nvPr/>
        </p:nvSpPr>
        <p:spPr>
          <a:xfrm>
            <a:off x="733425" y="3842296"/>
            <a:ext cx="514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87179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" name="Google Shape;758;p8"/>
          <p:cNvSpPr/>
          <p:nvPr/>
        </p:nvSpPr>
        <p:spPr>
          <a:xfrm>
            <a:off x="1343025" y="3699421"/>
            <a:ext cx="609600" cy="609600"/>
          </a:xfrm>
          <a:prstGeom prst="rect">
            <a:avLst/>
          </a:prstGeom>
          <a:solidFill>
            <a:srgbClr val="F2E3CB">
              <a:alpha val="7059"/>
            </a:srgbClr>
          </a:solidFill>
          <a:ln cap="flat" cmpd="sng" w="9525">
            <a:solidFill>
              <a:srgbClr val="F2E3CB">
                <a:alpha val="1098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9" name="Google Shape;759;p8"/>
          <p:cNvSpPr/>
          <p:nvPr/>
        </p:nvSpPr>
        <p:spPr>
          <a:xfrm>
            <a:off x="2124075" y="3785146"/>
            <a:ext cx="8758371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안개 등대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" name="Google Shape;760;p8"/>
          <p:cNvSpPr/>
          <p:nvPr/>
        </p:nvSpPr>
        <p:spPr>
          <a:xfrm>
            <a:off x="2124075" y="4166146"/>
            <a:ext cx="7962156" cy="57150"/>
          </a:xfrm>
          <a:prstGeom prst="rect">
            <a:avLst/>
          </a:prstGeom>
          <a:solidFill>
            <a:srgbClr val="F2E3CB">
              <a:alpha val="705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8"/>
          <p:cNvSpPr/>
          <p:nvPr/>
        </p:nvSpPr>
        <p:spPr>
          <a:xfrm>
            <a:off x="2124075" y="4166146"/>
            <a:ext cx="7564041" cy="57150"/>
          </a:xfrm>
          <a:prstGeom prst="rect">
            <a:avLst/>
          </a:prstGeom>
          <a:solidFill>
            <a:srgbClr val="F2E3CB">
              <a:alpha val="2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2" name="Google Shape;762;p8"/>
          <p:cNvSpPr/>
          <p:nvPr/>
        </p:nvSpPr>
        <p:spPr>
          <a:xfrm>
            <a:off x="10257681" y="3828008"/>
            <a:ext cx="838944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7,960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8"/>
          <p:cNvSpPr/>
          <p:nvPr/>
        </p:nvSpPr>
        <p:spPr>
          <a:xfrm>
            <a:off x="733425" y="5442496"/>
            <a:ext cx="10287000" cy="9525"/>
          </a:xfrm>
          <a:prstGeom prst="rect">
            <a:avLst/>
          </a:prstGeom>
          <a:solidFill>
            <a:srgbClr val="F2E3CB">
              <a:alpha val="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4" name="Google Shape;764;p8"/>
          <p:cNvSpPr/>
          <p:nvPr/>
        </p:nvSpPr>
        <p:spPr>
          <a:xfrm>
            <a:off x="733425" y="4804321"/>
            <a:ext cx="514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87179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" name="Google Shape;765;p8"/>
          <p:cNvSpPr/>
          <p:nvPr/>
        </p:nvSpPr>
        <p:spPr>
          <a:xfrm>
            <a:off x="1343025" y="4661446"/>
            <a:ext cx="609600" cy="609600"/>
          </a:xfrm>
          <a:prstGeom prst="rect">
            <a:avLst/>
          </a:prstGeom>
          <a:solidFill>
            <a:srgbClr val="F2E3CB">
              <a:alpha val="7059"/>
            </a:srgbClr>
          </a:solidFill>
          <a:ln cap="flat" cmpd="sng" w="9525">
            <a:solidFill>
              <a:srgbClr val="F2E3CB">
                <a:alpha val="1098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6" name="Google Shape;766;p8"/>
          <p:cNvSpPr/>
          <p:nvPr/>
        </p:nvSpPr>
        <p:spPr>
          <a:xfrm>
            <a:off x="2124075" y="4747171"/>
            <a:ext cx="8758371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뼈다귀 클럽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" name="Google Shape;767;p8"/>
          <p:cNvSpPr/>
          <p:nvPr/>
        </p:nvSpPr>
        <p:spPr>
          <a:xfrm>
            <a:off x="2124075" y="5128171"/>
            <a:ext cx="7962156" cy="57150"/>
          </a:xfrm>
          <a:prstGeom prst="rect">
            <a:avLst/>
          </a:prstGeom>
          <a:solidFill>
            <a:srgbClr val="F2E3CB">
              <a:alpha val="705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8" name="Google Shape;768;p8"/>
          <p:cNvSpPr/>
          <p:nvPr/>
        </p:nvSpPr>
        <p:spPr>
          <a:xfrm>
            <a:off x="2124075" y="5128171"/>
            <a:ext cx="5971580" cy="57150"/>
          </a:xfrm>
          <a:prstGeom prst="rect">
            <a:avLst/>
          </a:prstGeom>
          <a:solidFill>
            <a:srgbClr val="F2E3CB">
              <a:alpha val="2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9" name="Google Shape;769;p8"/>
          <p:cNvSpPr/>
          <p:nvPr/>
        </p:nvSpPr>
        <p:spPr>
          <a:xfrm>
            <a:off x="10257681" y="4790033"/>
            <a:ext cx="838944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6,310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" name="Google Shape;770;p8"/>
          <p:cNvSpPr/>
          <p:nvPr/>
        </p:nvSpPr>
        <p:spPr>
          <a:xfrm>
            <a:off x="733425" y="6404521"/>
            <a:ext cx="10287000" cy="9525"/>
          </a:xfrm>
          <a:prstGeom prst="rect">
            <a:avLst/>
          </a:prstGeom>
          <a:solidFill>
            <a:srgbClr val="F2E3CB">
              <a:alpha val="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1" name="Google Shape;771;p8"/>
          <p:cNvSpPr/>
          <p:nvPr/>
        </p:nvSpPr>
        <p:spPr>
          <a:xfrm>
            <a:off x="733425" y="5766346"/>
            <a:ext cx="514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87179"/>
              </a:lnSpc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" name="Google Shape;772;p8"/>
          <p:cNvSpPr/>
          <p:nvPr/>
        </p:nvSpPr>
        <p:spPr>
          <a:xfrm>
            <a:off x="1343025" y="5623471"/>
            <a:ext cx="609600" cy="609600"/>
          </a:xfrm>
          <a:prstGeom prst="rect">
            <a:avLst/>
          </a:prstGeom>
          <a:solidFill>
            <a:srgbClr val="F2E3CB">
              <a:alpha val="7059"/>
            </a:srgbClr>
          </a:solidFill>
          <a:ln cap="flat" cmpd="sng" w="9525">
            <a:solidFill>
              <a:srgbClr val="F2E3CB">
                <a:alpha val="1098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3" name="Google Shape;773;p8"/>
          <p:cNvSpPr/>
          <p:nvPr/>
        </p:nvSpPr>
        <p:spPr>
          <a:xfrm>
            <a:off x="2124075" y="5709196"/>
            <a:ext cx="8758371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달빛 여관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" name="Google Shape;774;p8"/>
          <p:cNvSpPr/>
          <p:nvPr/>
        </p:nvSpPr>
        <p:spPr>
          <a:xfrm>
            <a:off x="2124075" y="6090196"/>
            <a:ext cx="7962156" cy="57150"/>
          </a:xfrm>
          <a:prstGeom prst="rect">
            <a:avLst/>
          </a:prstGeom>
          <a:solidFill>
            <a:srgbClr val="F2E3CB">
              <a:alpha val="705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5" name="Google Shape;775;p8"/>
          <p:cNvSpPr/>
          <p:nvPr/>
        </p:nvSpPr>
        <p:spPr>
          <a:xfrm>
            <a:off x="2124075" y="6090196"/>
            <a:ext cx="3981004" cy="57150"/>
          </a:xfrm>
          <a:prstGeom prst="rect">
            <a:avLst/>
          </a:prstGeom>
          <a:solidFill>
            <a:srgbClr val="F2E3CB">
              <a:alpha val="2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6" name="Google Shape;776;p8"/>
          <p:cNvSpPr/>
          <p:nvPr/>
        </p:nvSpPr>
        <p:spPr>
          <a:xfrm>
            <a:off x="10257681" y="5752058"/>
            <a:ext cx="838944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4,180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" name="Google Shape;777;p8"/>
          <p:cNvSpPr/>
          <p:nvPr/>
        </p:nvSpPr>
        <p:spPr>
          <a:xfrm>
            <a:off x="11487150" y="2070646"/>
            <a:ext cx="6286500" cy="6054179"/>
          </a:xfrm>
          <a:prstGeom prst="rect">
            <a:avLst/>
          </a:prstGeom>
          <a:solidFill>
            <a:srgbClr val="0E0905">
              <a:alpha val="72157"/>
            </a:srgbClr>
          </a:solidFill>
          <a:ln cap="flat" cmpd="sng" w="9525">
            <a:solidFill>
              <a:srgbClr val="C697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8" name="Google Shape;778;p8"/>
          <p:cNvSpPr/>
          <p:nvPr/>
        </p:nvSpPr>
        <p:spPr>
          <a:xfrm>
            <a:off x="11496675" y="2480221"/>
            <a:ext cx="6267450" cy="9525"/>
          </a:xfrm>
          <a:prstGeom prst="rect">
            <a:avLst/>
          </a:prstGeom>
          <a:solidFill>
            <a:srgbClr val="C6974A">
              <a:alpha val="2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9" name="Google Shape;779;p8"/>
          <p:cNvSpPr/>
          <p:nvPr/>
        </p:nvSpPr>
        <p:spPr>
          <a:xfrm>
            <a:off x="11706225" y="2213521"/>
            <a:ext cx="603637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6974A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C6974A"/>
                </a:solidFill>
                <a:latin typeface="Arial"/>
                <a:ea typeface="Arial"/>
                <a:cs typeface="Arial"/>
                <a:sym typeface="Arial"/>
              </a:rPr>
              <a:t>DAILY REVENUE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8"/>
          <p:cNvSpPr/>
          <p:nvPr/>
        </p:nvSpPr>
        <p:spPr>
          <a:xfrm>
            <a:off x="11955214" y="7131844"/>
            <a:ext cx="282922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180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" name="Google Shape;781;p8"/>
          <p:cNvSpPr/>
          <p:nvPr/>
        </p:nvSpPr>
        <p:spPr>
          <a:xfrm>
            <a:off x="11706225" y="7350919"/>
            <a:ext cx="704850" cy="364331"/>
          </a:xfrm>
          <a:prstGeom prst="rect">
            <a:avLst/>
          </a:prstGeom>
          <a:gradFill>
            <a:gsLst>
              <a:gs pos="0">
                <a:srgbClr val="C6974A"/>
              </a:gs>
              <a:gs pos="100000">
                <a:srgbClr val="C6974A">
                  <a:alpha val="34902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2" name="Google Shape;782;p8"/>
          <p:cNvSpPr/>
          <p:nvPr/>
        </p:nvSpPr>
        <p:spPr>
          <a:xfrm>
            <a:off x="11972479" y="7791450"/>
            <a:ext cx="248394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D1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8"/>
          <p:cNvSpPr/>
          <p:nvPr/>
        </p:nvSpPr>
        <p:spPr>
          <a:xfrm>
            <a:off x="12812464" y="6663184"/>
            <a:ext cx="282922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420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8"/>
          <p:cNvSpPr/>
          <p:nvPr/>
        </p:nvSpPr>
        <p:spPr>
          <a:xfrm>
            <a:off x="12563475" y="6882259"/>
            <a:ext cx="704850" cy="832991"/>
          </a:xfrm>
          <a:prstGeom prst="rect">
            <a:avLst/>
          </a:prstGeom>
          <a:gradFill>
            <a:gsLst>
              <a:gs pos="0">
                <a:srgbClr val="C6974A"/>
              </a:gs>
              <a:gs pos="100000">
                <a:srgbClr val="C6974A">
                  <a:alpha val="34902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5" name="Google Shape;785;p8"/>
          <p:cNvSpPr/>
          <p:nvPr/>
        </p:nvSpPr>
        <p:spPr>
          <a:xfrm>
            <a:off x="12829729" y="7791450"/>
            <a:ext cx="248394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D2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8"/>
          <p:cNvSpPr/>
          <p:nvPr/>
        </p:nvSpPr>
        <p:spPr>
          <a:xfrm>
            <a:off x="13669714" y="6142583"/>
            <a:ext cx="282922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8"/>
          <p:cNvSpPr/>
          <p:nvPr/>
        </p:nvSpPr>
        <p:spPr>
          <a:xfrm>
            <a:off x="13420725" y="6361658"/>
            <a:ext cx="704850" cy="1353592"/>
          </a:xfrm>
          <a:prstGeom prst="rect">
            <a:avLst/>
          </a:prstGeom>
          <a:gradFill>
            <a:gsLst>
              <a:gs pos="0">
                <a:srgbClr val="C6974A"/>
              </a:gs>
              <a:gs pos="100000">
                <a:srgbClr val="C6974A">
                  <a:alpha val="34902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8" name="Google Shape;788;p8"/>
          <p:cNvSpPr/>
          <p:nvPr/>
        </p:nvSpPr>
        <p:spPr>
          <a:xfrm>
            <a:off x="13686979" y="7791450"/>
            <a:ext cx="248394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D3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8"/>
          <p:cNvSpPr/>
          <p:nvPr/>
        </p:nvSpPr>
        <p:spPr>
          <a:xfrm>
            <a:off x="14526964" y="5986314"/>
            <a:ext cx="282922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775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" name="Google Shape;790;p8"/>
          <p:cNvSpPr/>
          <p:nvPr/>
        </p:nvSpPr>
        <p:spPr>
          <a:xfrm>
            <a:off x="14277975" y="6205389"/>
            <a:ext cx="704850" cy="1509861"/>
          </a:xfrm>
          <a:prstGeom prst="rect">
            <a:avLst/>
          </a:prstGeom>
          <a:gradFill>
            <a:gsLst>
              <a:gs pos="0">
                <a:srgbClr val="C6974A"/>
              </a:gs>
              <a:gs pos="100000">
                <a:srgbClr val="C6974A">
                  <a:alpha val="34902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1" name="Google Shape;791;p8"/>
          <p:cNvSpPr/>
          <p:nvPr/>
        </p:nvSpPr>
        <p:spPr>
          <a:xfrm>
            <a:off x="14544229" y="7791450"/>
            <a:ext cx="248394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D4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p8"/>
          <p:cNvSpPr/>
          <p:nvPr/>
        </p:nvSpPr>
        <p:spPr>
          <a:xfrm>
            <a:off x="15332571" y="4632722"/>
            <a:ext cx="38620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1,480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8"/>
          <p:cNvSpPr/>
          <p:nvPr/>
        </p:nvSpPr>
        <p:spPr>
          <a:xfrm>
            <a:off x="15135225" y="4851797"/>
            <a:ext cx="704850" cy="2863453"/>
          </a:xfrm>
          <a:prstGeom prst="rect">
            <a:avLst/>
          </a:prstGeom>
          <a:gradFill>
            <a:gsLst>
              <a:gs pos="0">
                <a:srgbClr val="C6974A"/>
              </a:gs>
              <a:gs pos="100000">
                <a:srgbClr val="C6974A">
                  <a:alpha val="34902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4" name="Google Shape;794;p8"/>
          <p:cNvSpPr/>
          <p:nvPr/>
        </p:nvSpPr>
        <p:spPr>
          <a:xfrm>
            <a:off x="15401479" y="7791450"/>
            <a:ext cx="248394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D5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" name="Google Shape;795;p8"/>
          <p:cNvSpPr/>
          <p:nvPr/>
        </p:nvSpPr>
        <p:spPr>
          <a:xfrm>
            <a:off x="16189821" y="3278981"/>
            <a:ext cx="38620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2,180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8"/>
          <p:cNvSpPr/>
          <p:nvPr/>
        </p:nvSpPr>
        <p:spPr>
          <a:xfrm>
            <a:off x="15992475" y="3498056"/>
            <a:ext cx="704850" cy="4217194"/>
          </a:xfrm>
          <a:prstGeom prst="rect">
            <a:avLst/>
          </a:prstGeom>
          <a:gradFill>
            <a:gsLst>
              <a:gs pos="0">
                <a:srgbClr val="C6974A"/>
              </a:gs>
              <a:gs pos="100000">
                <a:srgbClr val="C6974A">
                  <a:alpha val="34902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7" name="Google Shape;797;p8"/>
          <p:cNvSpPr/>
          <p:nvPr/>
        </p:nvSpPr>
        <p:spPr>
          <a:xfrm>
            <a:off x="16258729" y="7791450"/>
            <a:ext cx="248394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D6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" name="Google Shape;798;p8"/>
          <p:cNvSpPr/>
          <p:nvPr/>
        </p:nvSpPr>
        <p:spPr>
          <a:xfrm>
            <a:off x="17047071" y="2699296"/>
            <a:ext cx="38620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2,695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9" name="Google Shape;799;p8"/>
          <p:cNvSpPr/>
          <p:nvPr/>
        </p:nvSpPr>
        <p:spPr>
          <a:xfrm>
            <a:off x="16849725" y="2918371"/>
            <a:ext cx="704850" cy="4796879"/>
          </a:xfrm>
          <a:prstGeom prst="rect">
            <a:avLst/>
          </a:prstGeom>
          <a:gradFill>
            <a:gsLst>
              <a:gs pos="0">
                <a:srgbClr val="C6974A"/>
              </a:gs>
              <a:gs pos="100000">
                <a:srgbClr val="C6974A">
                  <a:alpha val="34902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0" name="Google Shape;800;p8"/>
          <p:cNvSpPr/>
          <p:nvPr/>
        </p:nvSpPr>
        <p:spPr>
          <a:xfrm>
            <a:off x="17115979" y="7791450"/>
            <a:ext cx="248394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D7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" name="Google Shape;801;p8"/>
          <p:cNvSpPr/>
          <p:nvPr/>
        </p:nvSpPr>
        <p:spPr>
          <a:xfrm>
            <a:off x="11487150" y="8315325"/>
            <a:ext cx="6286500" cy="942975"/>
          </a:xfrm>
          <a:prstGeom prst="rect">
            <a:avLst/>
          </a:prstGeom>
          <a:solidFill>
            <a:srgbClr val="C6974A">
              <a:alpha val="20000"/>
            </a:srgbClr>
          </a:solidFill>
          <a:ln cap="flat" cmpd="sng" w="9525">
            <a:solidFill>
              <a:srgbClr val="C697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2" name="Google Shape;802;p8"/>
          <p:cNvSpPr/>
          <p:nvPr/>
        </p:nvSpPr>
        <p:spPr>
          <a:xfrm>
            <a:off x="11496675" y="8324850"/>
            <a:ext cx="1559719" cy="923925"/>
          </a:xfrm>
          <a:prstGeom prst="rect">
            <a:avLst/>
          </a:prstGeom>
          <a:solidFill>
            <a:srgbClr val="180F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3" name="Google Shape;803;p8"/>
          <p:cNvSpPr/>
          <p:nvPr/>
        </p:nvSpPr>
        <p:spPr>
          <a:xfrm>
            <a:off x="11607284" y="8496300"/>
            <a:ext cx="1338501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PERFECT RATE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" name="Google Shape;804;p8"/>
          <p:cNvSpPr/>
          <p:nvPr/>
        </p:nvSpPr>
        <p:spPr>
          <a:xfrm>
            <a:off x="11607284" y="8648700"/>
            <a:ext cx="1338501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D9A8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7CD9A8"/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5" name="Google Shape;805;p8"/>
          <p:cNvSpPr/>
          <p:nvPr/>
        </p:nvSpPr>
        <p:spPr>
          <a:xfrm>
            <a:off x="13065919" y="8324850"/>
            <a:ext cx="1559719" cy="923925"/>
          </a:xfrm>
          <a:prstGeom prst="rect">
            <a:avLst/>
          </a:prstGeom>
          <a:solidFill>
            <a:srgbClr val="180F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6" name="Google Shape;806;p8"/>
          <p:cNvSpPr/>
          <p:nvPr/>
        </p:nvSpPr>
        <p:spPr>
          <a:xfrm>
            <a:off x="13199269" y="8496300"/>
            <a:ext cx="1293019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BLOOD BEAN USED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" name="Google Shape;807;p8"/>
          <p:cNvSpPr/>
          <p:nvPr/>
        </p:nvSpPr>
        <p:spPr>
          <a:xfrm>
            <a:off x="13176528" y="8753475"/>
            <a:ext cx="1338501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563F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D9563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" name="Google Shape;808;p8"/>
          <p:cNvSpPr/>
          <p:nvPr/>
        </p:nvSpPr>
        <p:spPr>
          <a:xfrm>
            <a:off x="14635162" y="8324850"/>
            <a:ext cx="1559719" cy="923925"/>
          </a:xfrm>
          <a:prstGeom prst="rect">
            <a:avLst/>
          </a:prstGeom>
          <a:solidFill>
            <a:srgbClr val="180F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9" name="Google Shape;809;p8"/>
          <p:cNvSpPr/>
          <p:nvPr/>
        </p:nvSpPr>
        <p:spPr>
          <a:xfrm>
            <a:off x="14745772" y="8496300"/>
            <a:ext cx="1338501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DASH HITS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8"/>
          <p:cNvSpPr/>
          <p:nvPr/>
        </p:nvSpPr>
        <p:spPr>
          <a:xfrm>
            <a:off x="14745772" y="8648700"/>
            <a:ext cx="1338501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9B85C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E9B85C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" name="Google Shape;811;p8"/>
          <p:cNvSpPr/>
          <p:nvPr/>
        </p:nvSpPr>
        <p:spPr>
          <a:xfrm>
            <a:off x="16204406" y="8324850"/>
            <a:ext cx="1559719" cy="923925"/>
          </a:xfrm>
          <a:prstGeom prst="rect">
            <a:avLst/>
          </a:prstGeom>
          <a:solidFill>
            <a:srgbClr val="180F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2" name="Google Shape;812;p8"/>
          <p:cNvSpPr/>
          <p:nvPr/>
        </p:nvSpPr>
        <p:spPr>
          <a:xfrm>
            <a:off x="16315015" y="8496300"/>
            <a:ext cx="1338501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FAILED RETURNS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" name="Google Shape;813;p8"/>
          <p:cNvSpPr/>
          <p:nvPr/>
        </p:nvSpPr>
        <p:spPr>
          <a:xfrm>
            <a:off x="16315015" y="8648700"/>
            <a:ext cx="1338501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E8A3F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DE8A3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" name="Google Shape;814;p8"/>
          <p:cNvSpPr/>
          <p:nvPr/>
        </p:nvSpPr>
        <p:spPr>
          <a:xfrm>
            <a:off x="11487150" y="9448800"/>
            <a:ext cx="3086100" cy="590550"/>
          </a:xfrm>
          <a:prstGeom prst="rect">
            <a:avLst/>
          </a:prstGeom>
          <a:noFill/>
          <a:ln cap="flat" cmpd="sng" w="9525">
            <a:solidFill>
              <a:srgbClr val="F2E3CB">
                <a:alpha val="2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5" name="Google Shape;815;p8"/>
          <p:cNvSpPr/>
          <p:nvPr/>
        </p:nvSpPr>
        <p:spPr>
          <a:xfrm>
            <a:off x="12422386" y="9620250"/>
            <a:ext cx="501253" cy="247650"/>
          </a:xfrm>
          <a:prstGeom prst="rect">
            <a:avLst/>
          </a:prstGeom>
          <a:noFill/>
          <a:ln cap="flat" cmpd="sng" w="19050">
            <a:solidFill>
              <a:srgbClr val="F2E3CB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6" name="Google Shape;816;p8"/>
          <p:cNvSpPr/>
          <p:nvPr/>
        </p:nvSpPr>
        <p:spPr>
          <a:xfrm>
            <a:off x="12536686" y="9686925"/>
            <a:ext cx="348853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825"/>
              <a:buFont typeface="Arial"/>
              <a:buNone/>
            </a:pPr>
            <a:r>
              <a:rPr b="1" i="0" lang="en-US" sz="82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ESC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7" name="Google Shape;817;p8"/>
          <p:cNvSpPr/>
          <p:nvPr/>
        </p:nvSpPr>
        <p:spPr>
          <a:xfrm>
            <a:off x="13037939" y="9610725"/>
            <a:ext cx="6762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3CB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F2E3CB"/>
                </a:solidFill>
                <a:latin typeface="Arial"/>
                <a:ea typeface="Arial"/>
                <a:cs typeface="Arial"/>
                <a:sym typeface="Arial"/>
              </a:rPr>
              <a:t>로비로</a:t>
            </a:r>
            <a:endParaRPr b="0" i="0" sz="15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8"/>
          <p:cNvSpPr/>
          <p:nvPr/>
        </p:nvSpPr>
        <p:spPr>
          <a:xfrm>
            <a:off x="14706600" y="9448800"/>
            <a:ext cx="3067050" cy="590550"/>
          </a:xfrm>
          <a:prstGeom prst="rect">
            <a:avLst/>
          </a:prstGeom>
          <a:solidFill>
            <a:srgbClr val="C697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9" name="Google Shape;819;p8"/>
          <p:cNvSpPr/>
          <p:nvPr/>
        </p:nvSpPr>
        <p:spPr>
          <a:xfrm>
            <a:off x="15674876" y="9591675"/>
            <a:ext cx="304800" cy="304800"/>
          </a:xfrm>
          <a:prstGeom prst="rect">
            <a:avLst/>
          </a:prstGeom>
          <a:noFill/>
          <a:ln cap="flat" cmpd="sng" w="19050">
            <a:solidFill>
              <a:srgbClr val="170F0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0" name="Google Shape;820;p8"/>
          <p:cNvSpPr/>
          <p:nvPr/>
        </p:nvSpPr>
        <p:spPr>
          <a:xfrm>
            <a:off x="15655826" y="9610725"/>
            <a:ext cx="342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70F07"/>
              </a:buClr>
              <a:buSzPts val="975"/>
              <a:buFont typeface="Arial"/>
              <a:buNone/>
            </a:pPr>
            <a:r>
              <a:rPr b="1" i="0" lang="en-US" sz="975" u="none" cap="none" strike="noStrike">
                <a:solidFill>
                  <a:srgbClr val="170F07"/>
                </a:solidFill>
                <a:latin typeface="Arial"/>
                <a:ea typeface="Arial"/>
                <a:cs typeface="Arial"/>
                <a:sym typeface="Arial"/>
              </a:rPr>
              <a:t>↵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" name="Google Shape;821;p8"/>
          <p:cNvSpPr/>
          <p:nvPr/>
        </p:nvSpPr>
        <p:spPr>
          <a:xfrm>
            <a:off x="16093976" y="9610725"/>
            <a:ext cx="7874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0F07"/>
              </a:buClr>
              <a:buSzPts val="1575"/>
              <a:buFont typeface="Arial"/>
              <a:buNone/>
            </a:pPr>
            <a:r>
              <a:rPr b="1" i="0" lang="en-US" sz="1575" u="none" cap="none" strike="noStrike">
                <a:solidFill>
                  <a:srgbClr val="170F07"/>
                </a:solidFill>
                <a:latin typeface="Arial"/>
                <a:ea typeface="Arial"/>
                <a:cs typeface="Arial"/>
                <a:sym typeface="Arial"/>
              </a:rPr>
              <a:t>한 판 더</a:t>
            </a:r>
            <a:endParaRPr b="0" i="0" sz="15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2026-08-30T09:03:51Z</dcterms:created>
  <dc:creator>PptxGenJS</dc:creator>
</cp:coreProperties>
</file>