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10287000" cx="18288000"/>
  <p:notesSz cx="10287000" cy="18288000"/>
  <p:embeddedFontLst>
    <p:embeddedFont>
      <p:font typeface="Gothic A1"/>
      <p:regular r:id="rId13"/>
      <p:bold r:id="rId14"/>
    </p:embeddedFont>
    <p:embeddedFont>
      <p:font typeface="Oswa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GothicA1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swald-regular.fntdata"/><Relationship Id="rId14" Type="http://schemas.openxmlformats.org/officeDocument/2006/relationships/font" Target="fonts/GothicA1-bold.fntdata"/><Relationship Id="rId16" Type="http://schemas.openxmlformats.org/officeDocument/2006/relationships/font" Target="fonts/Oswa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방 코드로 모이고 2팀·3팀·4팀을 고른다. 맵마다 리젠 재료와 카페 레이아웃이 다르다. 게임은 밤으로 시작한다.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낮 패시브 1 + 밤 패시브 1. 선점된 카드에는 팀 색과 팀 번호가 붙고, 내 색은 인게임 네임플레이트에 그대로 쓰인다.</a:t>
            </a:r>
            <a:endParaRPr/>
          </a:p>
        </p:txBody>
      </p:sp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2분. 미니맵 없이 진행한다. 가방은 목록 대신 아이콘과 무게 색으로만 표시하고 소지·묻힘·제거 상태를 구분한다.</a:t>
            </a:r>
            <a:endParaRPr/>
          </a:p>
        </p:txBody>
      </p:sp>
      <p:sp>
        <p:nvSpPr>
          <p:cNvPr id="196" name="Google Shape;1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가려진 슬롯은 동시에 공개되고 등급마다 공개 시간이 다르다. 아이템 선택은 마우스 좌클릭만. 상태 변화 시 UI가 닫히고 처음부터 다시.</a:t>
            </a:r>
            <a:endParaRPr/>
          </a:p>
        </p:txBody>
      </p:sp>
      <p:sp>
        <p:nvSpPr>
          <p:cNvPr id="270" name="Google Shape;2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2분 협동. 상단은 매출만 공개하는 순위, 하단은 완성 게이지와 그릇 4개. 인기 재료는 재료당 +30%.</a:t>
            </a:r>
            <a:endParaRPr/>
          </a:p>
        </p:txBody>
      </p:sp>
      <p:sp>
        <p:nvSpPr>
          <p:cNvPr id="334" name="Google Shape;3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Day 목표 금액과 성공·실패를 먼저 보여주고, 미달 시 강화되는 패널티 단계를 함께 노출한다. 순위는 누적과 오늘 매출을 나란히 본다.</a:t>
            </a:r>
            <a:endParaRPr/>
          </a:p>
        </p:txBody>
      </p:sp>
      <p:sp>
        <p:nvSpPr>
          <p:cNvPr id="479" name="Google Shape;4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업그레이드 재료는 3등급 박스에서만. 적용은 그 판 동안 영구이고 전부 동선을 줄이는 방향.</a:t>
            </a:r>
            <a:endParaRPr/>
          </a:p>
        </p:txBody>
      </p:sp>
      <p:sp>
        <p:nvSpPr>
          <p:cNvPr id="623" name="Google Shape;6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7일차 종료 시점 누적 판매 매출 1위가 승리. 순위와 일차별 매출을 같은 가로 바 형식으로 통일했다.</a:t>
            </a:r>
            <a:endParaRPr/>
          </a:p>
        </p:txBody>
      </p:sp>
      <p:sp>
        <p:nvSpPr>
          <p:cNvPr id="743" name="Google Shape;7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80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0C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6E4A2B"/>
              </a:gs>
              <a:gs pos="45000">
                <a:srgbClr val="3E2817"/>
              </a:gs>
              <a:gs pos="80000">
                <a:srgbClr val="1B110A"/>
              </a:gs>
              <a:gs pos="100000">
                <a:srgbClr val="120C0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14350" y="1282005"/>
            <a:ext cx="17259300" cy="9525"/>
          </a:xfrm>
          <a:prstGeom prst="rect">
            <a:avLst/>
          </a:prstGeom>
          <a:solidFill>
            <a:srgbClr val="C6974A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14350" y="361950"/>
            <a:ext cx="445195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BLOOD &amp; BEAN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14350" y="609600"/>
            <a:ext cx="4451955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241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3450"/>
              <a:buFont typeface="Gothic A1"/>
              <a:buNone/>
            </a:pPr>
            <a:r>
              <a:rPr b="1" i="0" lang="en-US" sz="34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어둠의 숲 · 안개 등대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4477256" y="510480"/>
            <a:ext cx="110951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ROOM CODE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4477256" y="662880"/>
            <a:ext cx="110951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2250"/>
              <a:buFont typeface="Oswald"/>
              <a:buNone/>
            </a:pPr>
            <a:r>
              <a:rPr b="1" i="0" lang="en-US" sz="22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7K2-QD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5766226" y="510480"/>
            <a:ext cx="200742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MATCH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5766226" y="662880"/>
            <a:ext cx="200742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2250"/>
              <a:buFont typeface="Oswald"/>
              <a:buNone/>
            </a:pPr>
            <a:r>
              <a:rPr b="1" i="0" lang="en-US" sz="22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7 DAYS · 29 MIN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14350" y="1663005"/>
            <a:ext cx="11092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TEAM SETUP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737866" y="1558230"/>
            <a:ext cx="3017937" cy="371475"/>
          </a:xfrm>
          <a:prstGeom prst="rect">
            <a:avLst/>
          </a:prstGeom>
          <a:noFill/>
          <a:ln cap="flat" cmpd="sng" w="9525">
            <a:solidFill>
              <a:srgbClr val="C6974A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956941" y="1653480"/>
            <a:ext cx="65037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2팀 · 4인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740670" y="1567755"/>
            <a:ext cx="9525" cy="352425"/>
          </a:xfrm>
          <a:prstGeom prst="rect">
            <a:avLst/>
          </a:prstGeom>
          <a:solidFill>
            <a:srgbClr val="C6974A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959745" y="1653480"/>
            <a:ext cx="65037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3팀 · 6인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743474" y="1567755"/>
            <a:ext cx="1002804" cy="352425"/>
          </a:xfrm>
          <a:prstGeom prst="rect">
            <a:avLst/>
          </a:prstGeom>
          <a:solidFill>
            <a:srgbClr val="C69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3743474" y="1567755"/>
            <a:ext cx="9525" cy="352425"/>
          </a:xfrm>
          <a:prstGeom prst="rect">
            <a:avLst/>
          </a:prstGeom>
          <a:solidFill>
            <a:srgbClr val="C6974A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3962549" y="1653480"/>
            <a:ext cx="65037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0F07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170F07"/>
                </a:solidFill>
                <a:latin typeface="Gothic A1"/>
                <a:ea typeface="Gothic A1"/>
                <a:cs typeface="Gothic A1"/>
                <a:sym typeface="Gothic A1"/>
              </a:rPr>
              <a:t>4팀 · 8인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4946303" y="1667768"/>
            <a:ext cx="2384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팀 수에 따라 박스 수 · 손님 수 비례 조정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14350" y="2120205"/>
            <a:ext cx="5915025" cy="1438275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714375" y="2720280"/>
            <a:ext cx="5514975" cy="952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714375" y="2339280"/>
            <a:ext cx="95250" cy="209550"/>
          </a:xfrm>
          <a:prstGeom prst="rect">
            <a:avLst/>
          </a:prstGeom>
          <a:solidFill>
            <a:srgbClr val="E9B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923925" y="2301180"/>
            <a:ext cx="10404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800"/>
              <a:buFont typeface="Gothic A1"/>
              <a:buNone/>
            </a:pPr>
            <a:r>
              <a:rPr b="1" i="0" lang="en-US" sz="18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늑대 소굴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634484" y="2367855"/>
            <a:ext cx="6710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CAFE 01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714375" y="2863155"/>
            <a:ext cx="514350" cy="51435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1343025" y="2944118"/>
            <a:ext cx="7365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Gothic A1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플레이어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343025" y="3144143"/>
            <a:ext cx="736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READY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3529013" y="2863155"/>
            <a:ext cx="2700338" cy="514350"/>
          </a:xfrm>
          <a:prstGeom prst="rect">
            <a:avLst/>
          </a:prstGeom>
          <a:noFill/>
          <a:ln cap="flat" cmpd="sng" w="9525">
            <a:solidFill>
              <a:srgbClr val="F2E3CB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3498032" y="2872680"/>
            <a:ext cx="2762298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빈 자리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619875" y="2120205"/>
            <a:ext cx="5915025" cy="1438275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6819900" y="2720280"/>
            <a:ext cx="5514975" cy="952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6819900" y="2339280"/>
            <a:ext cx="95250" cy="209550"/>
          </a:xfrm>
          <a:prstGeom prst="rect">
            <a:avLst/>
          </a:prstGeom>
          <a:solidFill>
            <a:srgbClr val="F2E3C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7029450" y="2301180"/>
            <a:ext cx="10404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800"/>
              <a:buFont typeface="Gothic A1"/>
              <a:buNone/>
            </a:pPr>
            <a:r>
              <a:rPr b="1" i="0" lang="en-US" sz="18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안개 등대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1727210" y="2367855"/>
            <a:ext cx="6838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CAFE 02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819900" y="2863155"/>
            <a:ext cx="514350" cy="51435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7448550" y="2944118"/>
            <a:ext cx="7365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Gothic A1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플레이어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448550" y="3144143"/>
            <a:ext cx="736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READY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9634538" y="2863155"/>
            <a:ext cx="2700338" cy="514350"/>
          </a:xfrm>
          <a:prstGeom prst="rect">
            <a:avLst/>
          </a:prstGeom>
          <a:noFill/>
          <a:ln cap="flat" cmpd="sng" w="9525">
            <a:solidFill>
              <a:srgbClr val="F2E3CB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9603557" y="2872680"/>
            <a:ext cx="2762298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빈 자리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14350" y="3748980"/>
            <a:ext cx="5915025" cy="1438275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714375" y="4349055"/>
            <a:ext cx="5514975" cy="952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714375" y="3968055"/>
            <a:ext cx="95250" cy="209550"/>
          </a:xfrm>
          <a:prstGeom prst="rect">
            <a:avLst/>
          </a:prstGeom>
          <a:solidFill>
            <a:srgbClr val="F2E3C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923925" y="3929955"/>
            <a:ext cx="12687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800"/>
              <a:buFont typeface="Gothic A1"/>
              <a:buNone/>
            </a:pPr>
            <a:r>
              <a:rPr b="1" i="0" lang="en-US" sz="18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뼈다귀 클럽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621685" y="3996630"/>
            <a:ext cx="68386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CAFE 03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14375" y="4491930"/>
            <a:ext cx="514350" cy="51435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1343025" y="4572893"/>
            <a:ext cx="7365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Gothic A1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플레이어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343025" y="4772918"/>
            <a:ext cx="736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READY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529013" y="4491930"/>
            <a:ext cx="2700338" cy="514350"/>
          </a:xfrm>
          <a:prstGeom prst="rect">
            <a:avLst/>
          </a:prstGeom>
          <a:noFill/>
          <a:ln cap="flat" cmpd="sng" w="9525">
            <a:solidFill>
              <a:srgbClr val="F2E3CB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3498032" y="4501455"/>
            <a:ext cx="2762298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빈 자리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619875" y="3748980"/>
            <a:ext cx="5915025" cy="1438275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819900" y="4349055"/>
            <a:ext cx="5514975" cy="952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819900" y="3968055"/>
            <a:ext cx="95250" cy="209550"/>
          </a:xfrm>
          <a:prstGeom prst="rect">
            <a:avLst/>
          </a:prstGeom>
          <a:solidFill>
            <a:srgbClr val="F2E3C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7029450" y="3929955"/>
            <a:ext cx="10404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800"/>
              <a:buFont typeface="Gothic A1"/>
              <a:buNone/>
            </a:pPr>
            <a:r>
              <a:rPr b="1" i="0" lang="en-US" sz="18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달빛 여관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1726317" y="3996630"/>
            <a:ext cx="68475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CAFE 04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819900" y="4491930"/>
            <a:ext cx="514350" cy="51435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7448550" y="4572893"/>
            <a:ext cx="7365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Gothic A1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플레이어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448550" y="4772918"/>
            <a:ext cx="736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READY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634538" y="4491930"/>
            <a:ext cx="2700338" cy="514350"/>
          </a:xfrm>
          <a:prstGeom prst="rect">
            <a:avLst/>
          </a:prstGeom>
          <a:noFill/>
          <a:ln cap="flat" cmpd="sng" w="9525">
            <a:solidFill>
              <a:srgbClr val="F2E3CB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9603557" y="4501455"/>
            <a:ext cx="2762298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빈 자리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14350" y="9486900"/>
            <a:ext cx="12020550" cy="9525"/>
          </a:xfrm>
          <a:prstGeom prst="rect">
            <a:avLst/>
          </a:prstGeom>
          <a:solidFill>
            <a:srgbClr val="C6974A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14350" y="9648825"/>
            <a:ext cx="29909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NIGHT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14350" y="9839325"/>
            <a:ext cx="29909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2분 · 안개 숲 파밍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233440" y="9648825"/>
            <a:ext cx="9525" cy="37147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433465" y="9648825"/>
            <a:ext cx="299116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INTERMISSION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433465" y="9839325"/>
            <a:ext cx="29911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10초 · 정산 · 예보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152704" y="9648825"/>
            <a:ext cx="9525" cy="37147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352729" y="9648825"/>
            <a:ext cx="29909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DAY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352729" y="9839325"/>
            <a:ext cx="29909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2분 · 2인 협동 운영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9071818" y="9648825"/>
            <a:ext cx="9525" cy="37147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9271843" y="9648825"/>
            <a:ext cx="35893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63F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D9563F"/>
                </a:solidFill>
                <a:latin typeface="Oswald"/>
                <a:ea typeface="Oswald"/>
                <a:cs typeface="Oswald"/>
                <a:sym typeface="Oswald"/>
              </a:rPr>
              <a:t>VICTORY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9271843" y="9839325"/>
            <a:ext cx="35893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7일차 누적 매출 1위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2820650" y="1558230"/>
            <a:ext cx="4953000" cy="7642920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12830175" y="2015430"/>
            <a:ext cx="4933950" cy="9525"/>
          </a:xfrm>
          <a:prstGeom prst="rect">
            <a:avLst/>
          </a:prstGeom>
          <a:solidFill>
            <a:srgbClr val="C6974A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13020675" y="1701105"/>
            <a:ext cx="11057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MAP SELECT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6126123" y="1729680"/>
            <a:ext cx="159225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맵마다 리젠 재료가 다르다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3020675" y="2215455"/>
            <a:ext cx="4552950" cy="6099870"/>
          </a:xfrm>
          <a:prstGeom prst="rect">
            <a:avLst/>
          </a:prstGeom>
          <a:solidFill>
            <a:srgbClr val="F2E3CB">
              <a:alpha val="7843"/>
            </a:srgbClr>
          </a:solidFill>
          <a:ln cap="flat" cmpd="sng" w="9525">
            <a:solidFill>
              <a:srgbClr val="F2E3CB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14253418" y="5093047"/>
            <a:ext cx="216366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8125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맵 썸네일 — 동심원 숲 · 4팀 카페 배치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5006935" y="5303490"/>
            <a:ext cx="65663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8125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1024×576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2830175" y="8505825"/>
            <a:ext cx="4933950" cy="952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13020675" y="8648700"/>
            <a:ext cx="27974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REGEN POOL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3020675" y="8839200"/>
            <a:ext cx="27974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350"/>
              <a:buFont typeface="Gothic A1"/>
              <a:buNone/>
            </a:pPr>
            <a:r>
              <a:rPr b="1" i="0" lang="en-US" sz="13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우유 · 초콜렛 · 얼음 · 베리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5754350" y="8515350"/>
            <a:ext cx="9525" cy="67627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15954375" y="8648700"/>
            <a:ext cx="1781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63F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D9563F"/>
                </a:solidFill>
                <a:latin typeface="Oswald"/>
                <a:ea typeface="Oswald"/>
                <a:cs typeface="Oswald"/>
                <a:sym typeface="Oswald"/>
              </a:rPr>
              <a:t>BLOOD BEAN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5954375" y="8839200"/>
            <a:ext cx="17811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350"/>
              <a:buFont typeface="Gothic A1"/>
              <a:buNone/>
            </a:pPr>
            <a:r>
              <a:rPr b="1" i="0" lang="en-US" sz="13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3등급 한정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2820650" y="9372600"/>
            <a:ext cx="1847850" cy="647700"/>
          </a:xfrm>
          <a:prstGeom prst="rect">
            <a:avLst/>
          </a:prstGeom>
          <a:noFill/>
          <a:ln cap="flat" cmpd="sng" w="9525">
            <a:solidFill>
              <a:srgbClr val="F2E3C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12944475" y="9534525"/>
            <a:ext cx="1600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500"/>
              <a:buFont typeface="Gothic A1"/>
              <a:buNone/>
            </a:pPr>
            <a:r>
              <a:rPr b="1" i="0" lang="en-US" sz="15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설정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4801850" y="9372600"/>
            <a:ext cx="3103662" cy="647700"/>
          </a:xfrm>
          <a:prstGeom prst="rect">
            <a:avLst/>
          </a:prstGeom>
          <a:solidFill>
            <a:srgbClr val="C69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14954250" y="9525000"/>
            <a:ext cx="342900" cy="342900"/>
          </a:xfrm>
          <a:prstGeom prst="rect">
            <a:avLst/>
          </a:prstGeom>
          <a:noFill/>
          <a:ln cap="flat" cmpd="sng" w="19050">
            <a:solidFill>
              <a:srgbClr val="170F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14935200" y="9544050"/>
            <a:ext cx="38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0F07"/>
              </a:buClr>
              <a:buSzPts val="1050"/>
              <a:buFont typeface="Oswald"/>
              <a:buNone/>
            </a:pPr>
            <a:r>
              <a:rPr b="1" i="0" lang="en-US" sz="1050" u="none" cap="none" strike="noStrike">
                <a:solidFill>
                  <a:srgbClr val="170F07"/>
                </a:solidFill>
                <a:latin typeface="Oswald"/>
                <a:ea typeface="Oswald"/>
                <a:cs typeface="Oswald"/>
                <a:sym typeface="Oswald"/>
              </a:rPr>
              <a:t>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5314369" y="9553575"/>
            <a:ext cx="255487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0F07"/>
              </a:buClr>
              <a:buSzPts val="1800"/>
              <a:buFont typeface="Gothic A1"/>
              <a:buNone/>
            </a:pPr>
            <a:r>
              <a:rPr b="1" i="0" lang="en-US" sz="1800" u="none" cap="none" strike="noStrike">
                <a:solidFill>
                  <a:srgbClr val="170F07"/>
                </a:solidFill>
                <a:latin typeface="Gothic A1"/>
                <a:ea typeface="Gothic A1"/>
                <a:cs typeface="Gothic A1"/>
                <a:sym typeface="Gothic A1"/>
              </a:rPr>
              <a:t>게임 시작 — 첫 밤으로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805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0C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6E4A2B"/>
              </a:gs>
              <a:gs pos="48000">
                <a:srgbClr val="3A2515"/>
              </a:gs>
              <a:gs pos="85000">
                <a:srgbClr val="170E08"/>
              </a:gs>
              <a:gs pos="100000">
                <a:srgbClr val="170E08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514350" y="933450"/>
            <a:ext cx="17259300" cy="9525"/>
          </a:xfrm>
          <a:prstGeom prst="rect">
            <a:avLst/>
          </a:prstGeom>
          <a:solidFill>
            <a:srgbClr val="C6974A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514350" y="561975"/>
            <a:ext cx="24127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CHARACTER SELECT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879229" y="590550"/>
            <a:ext cx="289588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팀 내 중복 픽 금지 · 발동 키 없는 상시 패시브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6093976" y="476250"/>
            <a:ext cx="87674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짝꿍 선택 대기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7046922" y="342900"/>
            <a:ext cx="8029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7692"/>
              </a:lnSpc>
              <a:spcBef>
                <a:spcPts val="0"/>
              </a:spcBef>
              <a:spcAft>
                <a:spcPts val="0"/>
              </a:spcAft>
              <a:buClr>
                <a:srgbClr val="D9563F"/>
              </a:buClr>
              <a:buSzPts val="3300"/>
              <a:buFont typeface="Oswald"/>
              <a:buNone/>
            </a:pPr>
            <a:r>
              <a:rPr b="1" i="0" lang="en-US" sz="3300" u="none" cap="none" strike="noStrike">
                <a:solidFill>
                  <a:srgbClr val="D9563F"/>
                </a:solidFill>
                <a:latin typeface="Oswald"/>
                <a:ea typeface="Oswald"/>
                <a:cs typeface="Oswald"/>
                <a:sym typeface="Oswald"/>
              </a:rPr>
              <a:t>0:18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14350" y="1190625"/>
            <a:ext cx="2747963" cy="4348163"/>
          </a:xfrm>
          <a:prstGeom prst="rect">
            <a:avLst/>
          </a:prstGeom>
          <a:solidFill>
            <a:srgbClr val="0E0905">
              <a:alpha val="70196"/>
            </a:srgbClr>
          </a:solidFill>
          <a:ln cap="flat" cmpd="sng" w="9525">
            <a:solidFill>
              <a:srgbClr val="C6974A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57225" y="1333500"/>
            <a:ext cx="2462213" cy="3709988"/>
          </a:xfrm>
          <a:prstGeom prst="rect">
            <a:avLst/>
          </a:prstGeom>
          <a:solidFill>
            <a:srgbClr val="F2E3CB">
              <a:alpha val="10196"/>
            </a:srgbClr>
          </a:solidFill>
          <a:ln cap="flat" cmpd="sng" w="9525">
            <a:solidFill>
              <a:srgbClr val="F2E3CB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34114" y="5157788"/>
            <a:ext cx="270843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500"/>
              <a:buFont typeface="Gothic A1"/>
              <a:buNone/>
            </a:pPr>
            <a:r>
              <a:rPr b="1" i="0" lang="en-US" sz="15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잰걸음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414713" y="1190625"/>
            <a:ext cx="2747963" cy="4348163"/>
          </a:xfrm>
          <a:prstGeom prst="rect">
            <a:avLst/>
          </a:prstGeom>
          <a:solidFill>
            <a:srgbClr val="0E0905">
              <a:alpha val="70196"/>
            </a:srgbClr>
          </a:solidFill>
          <a:ln cap="flat" cmpd="sng" w="9525">
            <a:solidFill>
              <a:srgbClr val="C6974A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557588" y="1333500"/>
            <a:ext cx="2462213" cy="3709988"/>
          </a:xfrm>
          <a:prstGeom prst="rect">
            <a:avLst/>
          </a:prstGeom>
          <a:solidFill>
            <a:srgbClr val="F2E3CB">
              <a:alpha val="10196"/>
            </a:srgbClr>
          </a:solidFill>
          <a:ln cap="flat" cmpd="sng" w="9525">
            <a:solidFill>
              <a:srgbClr val="F2E3CB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3434477" y="5157788"/>
            <a:ext cx="270843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500"/>
              <a:buFont typeface="Gothic A1"/>
              <a:buNone/>
            </a:pPr>
            <a:r>
              <a:rPr b="1" i="0" lang="en-US" sz="15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인기 카페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424238" y="1200150"/>
            <a:ext cx="2728913" cy="4329113"/>
          </a:xfrm>
          <a:prstGeom prst="rect">
            <a:avLst/>
          </a:prstGeom>
          <a:solidFill>
            <a:srgbClr val="080503">
              <a:alpha val="6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424238" y="1200150"/>
            <a:ext cx="1104751" cy="257175"/>
          </a:xfrm>
          <a:prstGeom prst="rect">
            <a:avLst/>
          </a:prstGeom>
          <a:solidFill>
            <a:srgbClr val="080503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519488" y="1285875"/>
            <a:ext cx="85725" cy="85725"/>
          </a:xfrm>
          <a:prstGeom prst="rect">
            <a:avLst/>
          </a:prstGeom>
          <a:solidFill>
            <a:srgbClr val="E8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3671888" y="1257300"/>
            <a:ext cx="83805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2팀 · 안개 등대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315075" y="1190625"/>
            <a:ext cx="2747963" cy="4348163"/>
          </a:xfrm>
          <a:prstGeom prst="rect">
            <a:avLst/>
          </a:prstGeom>
          <a:solidFill>
            <a:srgbClr val="0E0905">
              <a:alpha val="70196"/>
            </a:srgbClr>
          </a:solidFill>
          <a:ln cap="flat" cmpd="sng" w="9525">
            <a:solidFill>
              <a:srgbClr val="C6974A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57950" y="1333500"/>
            <a:ext cx="2462213" cy="3709988"/>
          </a:xfrm>
          <a:prstGeom prst="rect">
            <a:avLst/>
          </a:prstGeom>
          <a:solidFill>
            <a:srgbClr val="F2E3CB">
              <a:alpha val="10196"/>
            </a:srgbClr>
          </a:solidFill>
          <a:ln cap="flat" cmpd="sng" w="9525">
            <a:solidFill>
              <a:srgbClr val="F2E3CB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6334839" y="5157788"/>
            <a:ext cx="270843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500"/>
              <a:buFont typeface="Gothic A1"/>
              <a:buNone/>
            </a:pPr>
            <a:r>
              <a:rPr b="1" i="0" lang="en-US" sz="15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깔끔쟁이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215438" y="1190625"/>
            <a:ext cx="2747963" cy="4348163"/>
          </a:xfrm>
          <a:prstGeom prst="rect">
            <a:avLst/>
          </a:prstGeom>
          <a:solidFill>
            <a:srgbClr val="0E0905">
              <a:alpha val="70196"/>
            </a:srgbClr>
          </a:solidFill>
          <a:ln cap="flat" cmpd="sng" w="9525">
            <a:solidFill>
              <a:srgbClr val="C6974A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9358313" y="1333500"/>
            <a:ext cx="2462213" cy="3709988"/>
          </a:xfrm>
          <a:prstGeom prst="rect">
            <a:avLst/>
          </a:prstGeom>
          <a:solidFill>
            <a:srgbClr val="F2E3CB">
              <a:alpha val="10196"/>
            </a:srgbClr>
          </a:solidFill>
          <a:ln cap="flat" cmpd="sng" w="9525">
            <a:solidFill>
              <a:srgbClr val="F2E3CB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9235202" y="5157788"/>
            <a:ext cx="270843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500"/>
              <a:buFont typeface="Gothic A1"/>
              <a:buNone/>
            </a:pPr>
            <a:r>
              <a:rPr b="1" i="0" lang="en-US" sz="15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양손잡이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14350" y="5691188"/>
            <a:ext cx="2747963" cy="4348163"/>
          </a:xfrm>
          <a:prstGeom prst="rect">
            <a:avLst/>
          </a:prstGeom>
          <a:solidFill>
            <a:srgbClr val="0E0905">
              <a:alpha val="70196"/>
            </a:srgbClr>
          </a:solidFill>
          <a:ln cap="flat" cmpd="sng" w="9525">
            <a:solidFill>
              <a:srgbClr val="E9B85C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657225" y="5834063"/>
            <a:ext cx="2462213" cy="3709988"/>
          </a:xfrm>
          <a:prstGeom prst="rect">
            <a:avLst/>
          </a:prstGeom>
          <a:solidFill>
            <a:srgbClr val="F2E3CB">
              <a:alpha val="10196"/>
            </a:srgbClr>
          </a:solidFill>
          <a:ln cap="flat" cmpd="sng" w="9525">
            <a:solidFill>
              <a:srgbClr val="F2E3CB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534114" y="9658350"/>
            <a:ext cx="270843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500"/>
              <a:buFont typeface="Gothic A1"/>
              <a:buNone/>
            </a:pPr>
            <a:r>
              <a:rPr b="1" i="0" lang="en-US" sz="15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얼음 장인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23875" y="5700713"/>
            <a:ext cx="735360" cy="257175"/>
          </a:xfrm>
          <a:prstGeom prst="rect">
            <a:avLst/>
          </a:prstGeom>
          <a:solidFill>
            <a:srgbClr val="080503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619125" y="5786438"/>
            <a:ext cx="85725" cy="85725"/>
          </a:xfrm>
          <a:prstGeom prst="rect">
            <a:avLst/>
          </a:prstGeom>
          <a:solidFill>
            <a:srgbClr val="4FB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771525" y="5757863"/>
            <a:ext cx="4686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1팀 · 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414713" y="5691188"/>
            <a:ext cx="2747963" cy="4348163"/>
          </a:xfrm>
          <a:prstGeom prst="rect">
            <a:avLst/>
          </a:prstGeom>
          <a:solidFill>
            <a:srgbClr val="0E0905">
              <a:alpha val="70196"/>
            </a:srgbClr>
          </a:solidFill>
          <a:ln cap="flat" cmpd="sng" w="9525">
            <a:solidFill>
              <a:srgbClr val="C6974A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3557588" y="5834063"/>
            <a:ext cx="2462213" cy="3709988"/>
          </a:xfrm>
          <a:prstGeom prst="rect">
            <a:avLst/>
          </a:prstGeom>
          <a:solidFill>
            <a:srgbClr val="F2E3CB">
              <a:alpha val="10196"/>
            </a:srgbClr>
          </a:solidFill>
          <a:ln cap="flat" cmpd="sng" w="9525">
            <a:solidFill>
              <a:srgbClr val="F2E3CB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3434477" y="9658350"/>
            <a:ext cx="270843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500"/>
              <a:buFont typeface="Gothic A1"/>
              <a:buNone/>
            </a:pPr>
            <a:r>
              <a:rPr b="1" i="0" lang="en-US" sz="15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붙임성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315075" y="5691188"/>
            <a:ext cx="2747963" cy="4348163"/>
          </a:xfrm>
          <a:prstGeom prst="rect">
            <a:avLst/>
          </a:prstGeom>
          <a:solidFill>
            <a:srgbClr val="0E0905">
              <a:alpha val="70196"/>
            </a:srgbClr>
          </a:solidFill>
          <a:ln cap="flat" cmpd="sng" w="9525">
            <a:solidFill>
              <a:srgbClr val="C6974A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6457950" y="5834063"/>
            <a:ext cx="2462213" cy="3709988"/>
          </a:xfrm>
          <a:prstGeom prst="rect">
            <a:avLst/>
          </a:prstGeom>
          <a:solidFill>
            <a:srgbClr val="F2E3CB">
              <a:alpha val="10196"/>
            </a:srgbClr>
          </a:solidFill>
          <a:ln cap="flat" cmpd="sng" w="9525">
            <a:solidFill>
              <a:srgbClr val="F2E3CB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6334839" y="9658350"/>
            <a:ext cx="270843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500"/>
              <a:buFont typeface="Gothic A1"/>
              <a:buNone/>
            </a:pPr>
            <a:r>
              <a:rPr b="1" i="0" lang="en-US" sz="15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강심장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324600" y="5700713"/>
            <a:ext cx="2728913" cy="4329113"/>
          </a:xfrm>
          <a:prstGeom prst="rect">
            <a:avLst/>
          </a:prstGeom>
          <a:solidFill>
            <a:srgbClr val="080503">
              <a:alpha val="6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6324600" y="5700713"/>
            <a:ext cx="1218605" cy="257175"/>
          </a:xfrm>
          <a:prstGeom prst="rect">
            <a:avLst/>
          </a:prstGeom>
          <a:solidFill>
            <a:srgbClr val="080503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6419850" y="5786438"/>
            <a:ext cx="85725" cy="85725"/>
          </a:xfrm>
          <a:prstGeom prst="rect">
            <a:avLst/>
          </a:prstGeom>
          <a:solidFill>
            <a:srgbClr val="7CD9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6572250" y="5757863"/>
            <a:ext cx="95190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3팀 · 뼈다귀 클럽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9215438" y="5691188"/>
            <a:ext cx="2747963" cy="4348163"/>
          </a:xfrm>
          <a:prstGeom prst="rect">
            <a:avLst/>
          </a:prstGeom>
          <a:solidFill>
            <a:srgbClr val="0E0905">
              <a:alpha val="70196"/>
            </a:srgbClr>
          </a:solidFill>
          <a:ln cap="flat" cmpd="sng" w="9525">
            <a:solidFill>
              <a:srgbClr val="C6974A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9358313" y="5834063"/>
            <a:ext cx="2462213" cy="3709988"/>
          </a:xfrm>
          <a:prstGeom prst="rect">
            <a:avLst/>
          </a:prstGeom>
          <a:solidFill>
            <a:srgbClr val="F2E3CB">
              <a:alpha val="10196"/>
            </a:srgbClr>
          </a:solidFill>
          <a:ln cap="flat" cmpd="sng" w="9525">
            <a:solidFill>
              <a:srgbClr val="F2E3CB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9235202" y="9658350"/>
            <a:ext cx="270843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500"/>
              <a:buFont typeface="Gothic A1"/>
              <a:buNone/>
            </a:pPr>
            <a:r>
              <a:rPr b="1" i="0" lang="en-US" sz="15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제빵사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12249150" y="1190625"/>
            <a:ext cx="5524500" cy="8086725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12449175" y="1390650"/>
            <a:ext cx="2381250" cy="6296025"/>
          </a:xfrm>
          <a:prstGeom prst="rect">
            <a:avLst/>
          </a:prstGeom>
          <a:solidFill>
            <a:srgbClr val="F2E3CB">
              <a:alpha val="7843"/>
            </a:srgbClr>
          </a:solidFill>
          <a:ln cap="flat" cmpd="sng" w="9525">
            <a:solidFill>
              <a:srgbClr val="F2E3CB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13468945" y="4285357"/>
            <a:ext cx="41776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캐릭터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13398103" y="4479578"/>
            <a:ext cx="55959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전신 렌더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13405396" y="4673798"/>
            <a:ext cx="5450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420×760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12449175" y="4262438"/>
            <a:ext cx="342900" cy="552450"/>
          </a:xfrm>
          <a:prstGeom prst="rect">
            <a:avLst/>
          </a:prstGeom>
          <a:solidFill>
            <a:srgbClr val="080503">
              <a:alpha val="85098"/>
            </a:srgbClr>
          </a:solidFill>
          <a:ln cap="flat" cmpd="sng" w="9525">
            <a:solidFill>
              <a:srgbClr val="C6974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12420600" y="4271963"/>
            <a:ext cx="400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1500"/>
              <a:buFont typeface="Oswald"/>
              <a:buNone/>
            </a:pPr>
            <a:r>
              <a:rPr b="1" i="0" lang="en-US" sz="15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14487525" y="4262438"/>
            <a:ext cx="342900" cy="552450"/>
          </a:xfrm>
          <a:prstGeom prst="rect">
            <a:avLst/>
          </a:prstGeom>
          <a:solidFill>
            <a:srgbClr val="080503">
              <a:alpha val="85098"/>
            </a:srgbClr>
          </a:solidFill>
          <a:ln cap="flat" cmpd="sng" w="9525">
            <a:solidFill>
              <a:srgbClr val="C6974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14458950" y="4271963"/>
            <a:ext cx="400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1500"/>
              <a:buFont typeface="Oswald"/>
              <a:buNone/>
            </a:pPr>
            <a:r>
              <a:rPr b="1" i="0" lang="en-US" sz="15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›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12449175" y="7800975"/>
            <a:ext cx="2381250" cy="1276350"/>
          </a:xfrm>
          <a:prstGeom prst="rect">
            <a:avLst/>
          </a:prstGeom>
          <a:noFill/>
          <a:ln cap="flat" cmpd="sng" w="9525">
            <a:solidFill>
              <a:srgbClr val="C6974A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12573000" y="7924800"/>
            <a:ext cx="23469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MY NAMEPLATE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12573000" y="8186738"/>
            <a:ext cx="114300" cy="114300"/>
          </a:xfrm>
          <a:prstGeom prst="rect">
            <a:avLst/>
          </a:prstGeom>
          <a:solidFill>
            <a:srgbClr val="4FB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12763500" y="8143875"/>
            <a:ext cx="102944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Gothic A1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[1팀] 이진규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12573000" y="840105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825"/>
              <a:buFont typeface="Gothic A1"/>
              <a:buNone/>
            </a:pPr>
            <a:r>
              <a:rPr b="1" i="0" lang="en-US" sz="8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인게임에서 캐릭터 위에 이 색과 이름으로 표시된다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12573000" y="8763000"/>
            <a:ext cx="307925" cy="190500"/>
          </a:xfrm>
          <a:prstGeom prst="rect">
            <a:avLst/>
          </a:prstGeom>
          <a:solidFill>
            <a:srgbClr val="4FB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12938075" y="8763000"/>
            <a:ext cx="308074" cy="190500"/>
          </a:xfrm>
          <a:prstGeom prst="rect">
            <a:avLst/>
          </a:prstGeom>
          <a:solidFill>
            <a:srgbClr val="E8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13303300" y="8763000"/>
            <a:ext cx="307925" cy="190500"/>
          </a:xfrm>
          <a:prstGeom prst="rect">
            <a:avLst/>
          </a:prstGeom>
          <a:solidFill>
            <a:srgbClr val="7CD9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13668375" y="8763000"/>
            <a:ext cx="308074" cy="190500"/>
          </a:xfrm>
          <a:prstGeom prst="rect">
            <a:avLst/>
          </a:prstGeom>
          <a:solidFill>
            <a:srgbClr val="E9B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14033599" y="8763000"/>
            <a:ext cx="307925" cy="190500"/>
          </a:xfrm>
          <a:prstGeom prst="rect">
            <a:avLst/>
          </a:prstGeom>
          <a:solidFill>
            <a:srgbClr val="B98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14398675" y="8763000"/>
            <a:ext cx="307925" cy="190500"/>
          </a:xfrm>
          <a:prstGeom prst="rect">
            <a:avLst/>
          </a:prstGeom>
          <a:solidFill>
            <a:srgbClr val="F0E4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15020925" y="1428750"/>
            <a:ext cx="27660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SELECTED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15020925" y="1619250"/>
            <a:ext cx="27660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3000"/>
              <a:buFont typeface="Gothic A1"/>
              <a:buNone/>
            </a:pPr>
            <a:r>
              <a:rPr b="1" i="0" lang="en-US" sz="30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얼음 장인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15020925" y="2209800"/>
            <a:ext cx="2514600" cy="9525"/>
          </a:xfrm>
          <a:prstGeom prst="rect">
            <a:avLst/>
          </a:prstGeom>
          <a:solidFill>
            <a:srgbClr val="E9B85C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15020925" y="2352675"/>
            <a:ext cx="27660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DAY PASSIVE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15020925" y="2562225"/>
            <a:ext cx="27660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800"/>
              <a:buFont typeface="Gothic A1"/>
              <a:buNone/>
            </a:pPr>
            <a:r>
              <a:rPr b="1" i="0" lang="en-US" sz="18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얼음 장인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15020925" y="2867025"/>
            <a:ext cx="2590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316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Temp.Cold 메뉴는 완성 게이지가 항상 Perfect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15020925" y="3495675"/>
            <a:ext cx="2514600" cy="9525"/>
          </a:xfrm>
          <a:prstGeom prst="rect">
            <a:avLst/>
          </a:prstGeom>
          <a:solidFill>
            <a:srgbClr val="7CAFD9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15020925" y="3638550"/>
            <a:ext cx="276606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AFD9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7CAFD9"/>
                </a:solidFill>
                <a:latin typeface="Oswald"/>
                <a:ea typeface="Oswald"/>
                <a:cs typeface="Oswald"/>
                <a:sym typeface="Oswald"/>
              </a:rPr>
              <a:t>NIGHT PASSIVE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15020925" y="3848100"/>
            <a:ext cx="27660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800"/>
              <a:buFont typeface="Gothic A1"/>
              <a:buNone/>
            </a:pPr>
            <a:r>
              <a:rPr b="1" i="0" lang="en-US" sz="18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짐꾼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15020925" y="4152900"/>
            <a:ext cx="2590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316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무게 감속 구간이 한 단계 유리하게 계산된다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15020925" y="8618339"/>
            <a:ext cx="2590800" cy="458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125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낮이 강하면 밤은 무난하게 구성한다. 패시브 폭 +25~40%.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12249150" y="9448800"/>
            <a:ext cx="1714500" cy="590550"/>
          </a:xfrm>
          <a:prstGeom prst="rect">
            <a:avLst/>
          </a:prstGeom>
          <a:noFill/>
          <a:ln cap="flat" cmpd="sng" w="9525">
            <a:solidFill>
              <a:srgbClr val="F2E3C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12670780" y="9610725"/>
            <a:ext cx="426393" cy="266700"/>
          </a:xfrm>
          <a:prstGeom prst="rect">
            <a:avLst/>
          </a:prstGeom>
          <a:noFill/>
          <a:ln cap="flat" cmpd="sng" w="19050">
            <a:solidFill>
              <a:srgbClr val="F2E3C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12737455" y="9667875"/>
            <a:ext cx="2930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ESC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13154323" y="9634538"/>
            <a:ext cx="42579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350"/>
              <a:buFont typeface="Gothic A1"/>
              <a:buNone/>
            </a:pPr>
            <a:r>
              <a:rPr b="1" i="0" lang="en-US" sz="13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뒤로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14097000" y="9448800"/>
            <a:ext cx="3676650" cy="590550"/>
          </a:xfrm>
          <a:prstGeom prst="rect">
            <a:avLst/>
          </a:prstGeom>
          <a:solidFill>
            <a:srgbClr val="C69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15171390" y="9582150"/>
            <a:ext cx="323850" cy="323850"/>
          </a:xfrm>
          <a:prstGeom prst="rect">
            <a:avLst/>
          </a:prstGeom>
          <a:noFill/>
          <a:ln cap="flat" cmpd="sng" w="19050">
            <a:solidFill>
              <a:srgbClr val="170F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15152340" y="9601200"/>
            <a:ext cx="361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0F07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170F07"/>
                </a:solidFill>
                <a:latin typeface="Oswald"/>
                <a:ea typeface="Oswald"/>
                <a:cs typeface="Oswald"/>
                <a:sym typeface="Oswald"/>
              </a:rPr>
              <a:t>↵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15628590" y="9586913"/>
            <a:ext cx="114672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0F07"/>
              </a:buClr>
              <a:buSzPts val="1950"/>
              <a:buFont typeface="Gothic A1"/>
              <a:buNone/>
            </a:pPr>
            <a:r>
              <a:rPr b="1" i="0" lang="en-US" sz="1950" u="none" cap="none" strike="noStrike">
                <a:solidFill>
                  <a:srgbClr val="170F07"/>
                </a:solidFill>
                <a:latin typeface="Gothic A1"/>
                <a:ea typeface="Gothic A1"/>
                <a:cs typeface="Gothic A1"/>
                <a:sym typeface="Gothic A1"/>
              </a:rPr>
              <a:t>선택 완료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805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0C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22303D"/>
              </a:gs>
              <a:gs pos="46000">
                <a:srgbClr val="141C26"/>
              </a:gs>
              <a:gs pos="100000">
                <a:srgbClr val="080C1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8397925" y="4947345"/>
            <a:ext cx="156820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7778"/>
              </a:lnSpc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E6EEF5"/>
                </a:solidFill>
                <a:latin typeface="Gothic A1"/>
                <a:ea typeface="Gothic A1"/>
                <a:cs typeface="Gothic A1"/>
                <a:sym typeface="Gothic A1"/>
              </a:rPr>
              <a:t>게임 뷰 — 안개 숲 탑다운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7701707" y="5200650"/>
            <a:ext cx="297112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7778"/>
              </a:lnSpc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E6EEF5"/>
                </a:solidFill>
                <a:latin typeface="Gothic A1"/>
                <a:ea typeface="Gothic A1"/>
                <a:cs typeface="Gothic A1"/>
                <a:sym typeface="Gothic A1"/>
              </a:rPr>
              <a:t>걷힌 영역과 안 걷힌 영역의 대비가 화면의 주인공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5334000" y="3143250"/>
            <a:ext cx="2095500" cy="2095500"/>
          </a:xfrm>
          <a:prstGeom prst="ellipse">
            <a:avLst/>
          </a:prstGeom>
          <a:gradFill>
            <a:gsLst>
              <a:gs pos="0">
                <a:srgbClr val="E9B85C">
                  <a:alpha val="14118"/>
                </a:srgbClr>
              </a:gs>
              <a:gs pos="70000">
                <a:srgbClr val="E9B85C">
                  <a:alpha val="0"/>
                </a:srgbClr>
              </a:gs>
              <a:gs pos="100000">
                <a:srgbClr val="E9B85C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11430000" y="4095750"/>
            <a:ext cx="2667000" cy="2667000"/>
          </a:xfrm>
          <a:prstGeom prst="ellipse">
            <a:avLst/>
          </a:prstGeom>
          <a:gradFill>
            <a:gsLst>
              <a:gs pos="0">
                <a:srgbClr val="A46EE8">
                  <a:alpha val="10196"/>
                </a:srgbClr>
              </a:gs>
              <a:gs pos="70000">
                <a:srgbClr val="A46EE8">
                  <a:alpha val="0"/>
                </a:srgbClr>
              </a:gs>
              <a:gs pos="100000">
                <a:srgbClr val="A46EE8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6096000" y="3924300"/>
            <a:ext cx="649784" cy="266700"/>
          </a:xfrm>
          <a:prstGeom prst="rect">
            <a:avLst/>
          </a:prstGeom>
          <a:solidFill>
            <a:srgbClr val="080C11">
              <a:alpha val="80000"/>
            </a:srgbClr>
          </a:solidFill>
          <a:ln cap="flat" cmpd="sng" w="9525">
            <a:solidFill>
              <a:srgbClr val="C6974A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6210300" y="3981450"/>
            <a:ext cx="49738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TIER 1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8572500" y="5391150"/>
            <a:ext cx="1613297" cy="266700"/>
          </a:xfrm>
          <a:prstGeom prst="rect">
            <a:avLst/>
          </a:prstGeom>
          <a:solidFill>
            <a:srgbClr val="080C11">
              <a:alpha val="80000"/>
            </a:srgbClr>
          </a:solidFill>
          <a:ln cap="flat" cmpd="sng" w="9525">
            <a:solidFill>
              <a:srgbClr val="C8D6E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686800" y="5448300"/>
            <a:ext cx="14608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6E4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8D6E4"/>
                </a:solidFill>
                <a:latin typeface="Oswald"/>
                <a:ea typeface="Oswald"/>
                <a:cs typeface="Oswald"/>
                <a:sym typeface="Oswald"/>
              </a:rPr>
              <a:t>TIER 2 · 2/4 OPENED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12382500" y="5086350"/>
            <a:ext cx="662583" cy="266700"/>
          </a:xfrm>
          <a:prstGeom prst="rect">
            <a:avLst/>
          </a:prstGeom>
          <a:solidFill>
            <a:srgbClr val="080C11">
              <a:alpha val="80000"/>
            </a:srgbClr>
          </a:solidFill>
          <a:ln cap="flat" cmpd="sng" w="9525">
            <a:solidFill>
              <a:srgbClr val="A46EE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16200000" dist="50800">
              <a:srgbClr val="A46EE8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12496800" y="5143500"/>
            <a:ext cx="51018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0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B98CF0"/>
                </a:solidFill>
                <a:latin typeface="Oswald"/>
                <a:ea typeface="Oswald"/>
                <a:cs typeface="Oswald"/>
                <a:sym typeface="Oswald"/>
              </a:rPr>
              <a:t>TIER 3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9620250" y="2914650"/>
            <a:ext cx="1894136" cy="266700"/>
          </a:xfrm>
          <a:prstGeom prst="rect">
            <a:avLst/>
          </a:prstGeom>
          <a:solidFill>
            <a:srgbClr val="080C11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9620250" y="2914650"/>
            <a:ext cx="19050" cy="266700"/>
          </a:xfrm>
          <a:prstGeom prst="rect">
            <a:avLst/>
          </a:prstGeom>
          <a:solidFill>
            <a:srgbClr val="7CD9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9753600" y="2971800"/>
            <a:ext cx="172268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7CD9A8"/>
                </a:solidFill>
                <a:latin typeface="Gothic A1"/>
                <a:ea typeface="Gothic A1"/>
                <a:cs typeface="Gothic A1"/>
                <a:sym typeface="Gothic A1"/>
              </a:rPr>
              <a:t>묻어둔 가방 · 아군에게만 표시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0" y="0"/>
            <a:ext cx="18288000" cy="885825"/>
          </a:xfrm>
          <a:prstGeom prst="rect">
            <a:avLst/>
          </a:prstGeom>
          <a:gradFill>
            <a:gsLst>
              <a:gs pos="0">
                <a:srgbClr val="06090D">
                  <a:alpha val="94902"/>
                </a:srgbClr>
              </a:gs>
              <a:gs pos="65000">
                <a:srgbClr val="06090D">
                  <a:alpha val="54902"/>
                </a:srgbClr>
              </a:gs>
              <a:gs pos="100000">
                <a:srgbClr val="06090D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0" y="876300"/>
            <a:ext cx="18288000" cy="9525"/>
          </a:xfrm>
          <a:prstGeom prst="rect">
            <a:avLst/>
          </a:prstGeom>
          <a:solidFill>
            <a:srgbClr val="C6974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8243739" y="495300"/>
            <a:ext cx="9635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AFD9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7CAFD9"/>
                </a:solidFill>
                <a:latin typeface="Oswald"/>
                <a:ea typeface="Oswald"/>
                <a:cs typeface="Oswald"/>
                <a:sym typeface="Oswald"/>
              </a:rPr>
              <a:t>NIGHT 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9283452" y="209550"/>
            <a:ext cx="760661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67647"/>
              </a:lnSpc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3450"/>
              <a:buFont typeface="Oswald"/>
              <a:buNone/>
            </a:pPr>
            <a:r>
              <a:rPr b="1" i="0" lang="en-US" sz="3450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1:12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6000750" y="752475"/>
            <a:ext cx="781050" cy="57150"/>
          </a:xfrm>
          <a:prstGeom prst="rect">
            <a:avLst/>
          </a:prstGeom>
          <a:solidFill>
            <a:srgbClr val="7CD9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6800850" y="752475"/>
            <a:ext cx="3905250" cy="57150"/>
          </a:xfrm>
          <a:prstGeom prst="rect">
            <a:avLst/>
          </a:prstGeom>
          <a:solidFill>
            <a:srgbClr val="7CAF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10725150" y="752475"/>
            <a:ext cx="1562100" cy="57150"/>
          </a:xfrm>
          <a:prstGeom prst="rect">
            <a:avLst/>
          </a:prstGeom>
          <a:solidFill>
            <a:srgbClr val="E6EEF5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5962650" y="876300"/>
            <a:ext cx="78313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ENTRY 0:15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7903369" y="876300"/>
            <a:ext cx="40079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FARM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9461897" y="876300"/>
            <a:ext cx="81260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ALARM 1:30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11432084" y="876300"/>
            <a:ext cx="89326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RETURN 2:00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14820900" y="1143000"/>
            <a:ext cx="3143250" cy="1238250"/>
          </a:xfrm>
          <a:prstGeom prst="rect">
            <a:avLst/>
          </a:prstGeom>
          <a:solidFill>
            <a:srgbClr val="06090D">
              <a:alpha val="81961"/>
            </a:srgbClr>
          </a:solidFill>
          <a:ln cap="flat" cmpd="sng" w="9525">
            <a:solidFill>
              <a:srgbClr val="C6974A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14700885" y="1285875"/>
            <a:ext cx="310134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PARTNER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14982825" y="1562100"/>
            <a:ext cx="438150" cy="438150"/>
          </a:xfrm>
          <a:prstGeom prst="rect">
            <a:avLst/>
          </a:prstGeom>
          <a:solidFill>
            <a:srgbClr val="E6EEF5">
              <a:alpha val="12157"/>
            </a:srgbClr>
          </a:solidFill>
          <a:ln cap="flat" cmpd="sng" w="9525">
            <a:solidFill>
              <a:srgbClr val="E6EEF5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15535275" y="1624013"/>
            <a:ext cx="189118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1275"/>
              <a:buFont typeface="Gothic A1"/>
              <a:buNone/>
            </a:pPr>
            <a:r>
              <a:rPr b="1" i="0" lang="en-US" sz="1275" u="none" cap="none" strike="noStrike">
                <a:solidFill>
                  <a:srgbClr val="E6EEF5"/>
                </a:solidFill>
                <a:latin typeface="Gothic A1"/>
                <a:ea typeface="Gothic A1"/>
                <a:cs typeface="Gothic A1"/>
                <a:sym typeface="Gothic A1"/>
              </a:rPr>
              <a:t>늑대 소굴 · 짝꿍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15535275" y="1890713"/>
            <a:ext cx="1719263" cy="47625"/>
          </a:xfrm>
          <a:prstGeom prst="rect">
            <a:avLst/>
          </a:prstGeom>
          <a:solidFill>
            <a:srgbClr val="E6EEF5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15535275" y="1890713"/>
            <a:ext cx="790724" cy="47625"/>
          </a:xfrm>
          <a:prstGeom prst="rect">
            <a:avLst/>
          </a:prstGeom>
          <a:solidFill>
            <a:srgbClr val="7CD9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17368838" y="1628775"/>
            <a:ext cx="5095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46%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14982825" y="2095500"/>
            <a:ext cx="310134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E6EEF5"/>
                </a:solidFill>
                <a:latin typeface="Gothic A1"/>
                <a:ea typeface="Gothic A1"/>
                <a:cs typeface="Gothic A1"/>
                <a:sym typeface="Gothic A1"/>
              </a:rPr>
              <a:t>중간 고리 · 북동 방향 파밍 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14820900" y="2533650"/>
            <a:ext cx="3143250" cy="1933575"/>
          </a:xfrm>
          <a:prstGeom prst="rect">
            <a:avLst/>
          </a:prstGeom>
          <a:solidFill>
            <a:srgbClr val="06090D">
              <a:alpha val="81961"/>
            </a:srgbClr>
          </a:solidFill>
          <a:ln cap="flat" cmpd="sng" w="9525">
            <a:solidFill>
              <a:srgbClr val="E9B85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14700885" y="2695575"/>
            <a:ext cx="310134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CARRY 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14982825" y="2990850"/>
            <a:ext cx="857250" cy="933450"/>
          </a:xfrm>
          <a:prstGeom prst="rect">
            <a:avLst/>
          </a:prstGeom>
          <a:solidFill>
            <a:srgbClr val="E9B85C">
              <a:alpha val="16078"/>
            </a:srgbClr>
          </a:solidFill>
          <a:ln cap="flat" cmpd="sng" w="19050">
            <a:solidFill>
              <a:srgbClr val="E9B8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14963775" y="3009900"/>
            <a:ext cx="8953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BAG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16011525" y="2995613"/>
            <a:ext cx="19697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7692"/>
              </a:lnSpc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3300"/>
              <a:buFont typeface="Oswald"/>
              <a:buNone/>
            </a:pPr>
            <a:r>
              <a:rPr b="1" i="0" lang="en-US" sz="330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78%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16011525" y="3433763"/>
            <a:ext cx="19697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1500"/>
              <a:buFont typeface="Oswald"/>
              <a:buNone/>
            </a:pPr>
            <a:r>
              <a:rPr b="1" i="0" lang="en-US" sz="1500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18.4 KG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16011525" y="3776662"/>
            <a:ext cx="196977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E6EEF5"/>
                </a:solidFill>
                <a:latin typeface="Gothic A1"/>
                <a:ea typeface="Gothic A1"/>
                <a:cs typeface="Gothic A1"/>
                <a:sym typeface="Gothic A1"/>
              </a:rPr>
              <a:t>이동속도 92% · 귀환 27초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14982825" y="4057650"/>
            <a:ext cx="518071" cy="47625"/>
          </a:xfrm>
          <a:prstGeom prst="rect">
            <a:avLst/>
          </a:prstGeom>
          <a:solidFill>
            <a:srgbClr val="7CD9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15558046" y="4057650"/>
            <a:ext cx="518220" cy="47625"/>
          </a:xfrm>
          <a:prstGeom prst="rect">
            <a:avLst/>
          </a:prstGeom>
          <a:solidFill>
            <a:srgbClr val="B8D9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16133415" y="4057650"/>
            <a:ext cx="518071" cy="47625"/>
          </a:xfrm>
          <a:prstGeom prst="rect">
            <a:avLst/>
          </a:prstGeom>
          <a:solidFill>
            <a:srgbClr val="E9B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16708636" y="4057650"/>
            <a:ext cx="518220" cy="47625"/>
          </a:xfrm>
          <a:prstGeom prst="rect">
            <a:avLst/>
          </a:prstGeom>
          <a:solidFill>
            <a:srgbClr val="DE8A3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"/>
          <p:cNvSpPr/>
          <p:nvPr/>
        </p:nvSpPr>
        <p:spPr>
          <a:xfrm>
            <a:off x="17284005" y="4057650"/>
            <a:ext cx="518220" cy="47625"/>
          </a:xfrm>
          <a:prstGeom prst="rect">
            <a:avLst/>
          </a:prstGeom>
          <a:solidFill>
            <a:srgbClr val="D9563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14982825" y="4162425"/>
            <a:ext cx="310134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무게 구간에 따라 가방 아이콘 크기 · 색이 변한다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14820900" y="4619625"/>
            <a:ext cx="3143250" cy="1266825"/>
          </a:xfrm>
          <a:prstGeom prst="rect">
            <a:avLst/>
          </a:prstGeom>
          <a:solidFill>
            <a:srgbClr val="06090D">
              <a:alpha val="81961"/>
            </a:srgbClr>
          </a:solidFill>
          <a:ln cap="flat" cmpd="sng" w="9525">
            <a:solidFill>
              <a:srgbClr val="C6974A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14700885" y="4762500"/>
            <a:ext cx="310134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BAG STATE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14982825" y="5038725"/>
            <a:ext cx="876300" cy="704850"/>
          </a:xfrm>
          <a:prstGeom prst="rect">
            <a:avLst/>
          </a:prstGeom>
          <a:noFill/>
          <a:ln cap="flat" cmpd="sng" w="9525">
            <a:solidFill>
              <a:srgbClr val="7CD9A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14954250" y="5143500"/>
            <a:ext cx="933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●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14954250" y="5486400"/>
            <a:ext cx="933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E6EEF5"/>
                </a:solidFill>
                <a:latin typeface="Gothic A1"/>
                <a:ea typeface="Gothic A1"/>
                <a:cs typeface="Gothic A1"/>
                <a:sym typeface="Gothic A1"/>
              </a:rPr>
              <a:t>소지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15954375" y="5038725"/>
            <a:ext cx="876300" cy="704850"/>
          </a:xfrm>
          <a:prstGeom prst="rect">
            <a:avLst/>
          </a:prstGeom>
          <a:noFill/>
          <a:ln cap="flat" cmpd="sng" w="9525">
            <a:solidFill>
              <a:srgbClr val="7CAFD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15925800" y="5143500"/>
            <a:ext cx="9334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AFD9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7CAFD9"/>
                </a:solidFill>
                <a:latin typeface="Oswald"/>
                <a:ea typeface="Oswald"/>
                <a:cs typeface="Oswald"/>
                <a:sym typeface="Oswald"/>
              </a:rPr>
              <a:t>◍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15925800" y="5495925"/>
            <a:ext cx="933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E6EEF5"/>
                </a:solidFill>
                <a:latin typeface="Gothic A1"/>
                <a:ea typeface="Gothic A1"/>
                <a:cs typeface="Gothic A1"/>
                <a:sym typeface="Gothic A1"/>
              </a:rPr>
              <a:t>묻힘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16925925" y="5038725"/>
            <a:ext cx="876300" cy="704850"/>
          </a:xfrm>
          <a:prstGeom prst="rect">
            <a:avLst/>
          </a:prstGeom>
          <a:noFill/>
          <a:ln cap="flat" cmpd="sng" w="9525">
            <a:solidFill>
              <a:srgbClr val="D9563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16897350" y="5143500"/>
            <a:ext cx="933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63F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D9563F"/>
                </a:solidFill>
                <a:latin typeface="Oswald"/>
                <a:ea typeface="Oswald"/>
                <a:cs typeface="Oswald"/>
                <a:sym typeface="Oswald"/>
              </a:rPr>
              <a:t>✕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16897350" y="5486400"/>
            <a:ext cx="933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E6EEF5"/>
                </a:solidFill>
                <a:latin typeface="Gothic A1"/>
                <a:ea typeface="Gothic A1"/>
                <a:cs typeface="Gothic A1"/>
                <a:sym typeface="Gothic A1"/>
              </a:rPr>
              <a:t>제거됨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0" y="9496425"/>
            <a:ext cx="18288000" cy="790575"/>
          </a:xfrm>
          <a:prstGeom prst="rect">
            <a:avLst/>
          </a:prstGeom>
          <a:gradFill>
            <a:gsLst>
              <a:gs pos="0">
                <a:srgbClr val="06090D">
                  <a:alpha val="94902"/>
                </a:srgbClr>
              </a:gs>
              <a:gs pos="60000">
                <a:srgbClr val="06090D">
                  <a:alpha val="50196"/>
                </a:srgbClr>
              </a:gs>
              <a:gs pos="100000">
                <a:srgbClr val="06090D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0" y="9496425"/>
            <a:ext cx="18288000" cy="9525"/>
          </a:xfrm>
          <a:prstGeom prst="rect">
            <a:avLst/>
          </a:prstGeom>
          <a:solidFill>
            <a:srgbClr val="C6974A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419100" y="9725025"/>
            <a:ext cx="342900" cy="342900"/>
          </a:xfrm>
          <a:prstGeom prst="rect">
            <a:avLst/>
          </a:prstGeom>
          <a:noFill/>
          <a:ln cap="flat" cmpd="sng" w="19050">
            <a:solidFill>
              <a:srgbClr val="E6EEF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400050" y="9744075"/>
            <a:ext cx="38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1200"/>
              <a:buFont typeface="Oswald"/>
              <a:buNone/>
            </a:pPr>
            <a:r>
              <a:rPr b="1" i="0" lang="en-US" sz="1200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857250" y="9810750"/>
            <a:ext cx="154886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E6EEF5"/>
                </a:solidFill>
                <a:latin typeface="Gothic A1"/>
                <a:ea typeface="Gothic A1"/>
                <a:cs typeface="Gothic A1"/>
                <a:sym typeface="Gothic A1"/>
              </a:rPr>
              <a:t>홀드 — 박스 개봉 · 담기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2512963" y="9729788"/>
            <a:ext cx="657523" cy="333375"/>
          </a:xfrm>
          <a:prstGeom prst="rect">
            <a:avLst/>
          </a:prstGeom>
          <a:noFill/>
          <a:ln cap="flat" cmpd="sng" w="19050">
            <a:solidFill>
              <a:srgbClr val="E6EEF5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2646313" y="9815513"/>
            <a:ext cx="46702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SPACE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3265736" y="9810750"/>
            <a:ext cx="182128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E8A3F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DE8A3F"/>
                </a:solidFill>
                <a:latin typeface="Gothic A1"/>
                <a:ea typeface="Gothic A1"/>
                <a:cs typeface="Gothic A1"/>
                <a:sym typeface="Gothic A1"/>
              </a:rPr>
              <a:t>대시 잠김 — 무게 70% 초과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14014698" y="9820275"/>
            <a:ext cx="224955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E6EEF5"/>
                </a:solidFill>
                <a:latin typeface="Gothic A1"/>
                <a:ea typeface="Gothic A1"/>
                <a:cs typeface="Gothic A1"/>
                <a:sym typeface="Gothic A1"/>
              </a:rPr>
              <a:t>버리기 = 임시 상자 드롭 (5종씩 분할)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16288345" y="9820275"/>
            <a:ext cx="173861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E6EEF5"/>
                </a:solidFill>
                <a:latin typeface="Gothic A1"/>
                <a:ea typeface="Gothic A1"/>
                <a:cs typeface="Gothic A1"/>
                <a:sym typeface="Gothic A1"/>
              </a:rPr>
              <a:t>묻기 = 무게 비우고 견제 전환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805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0C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22303D"/>
              </a:gs>
              <a:gs pos="72000">
                <a:srgbClr val="0A0F16"/>
              </a:gs>
              <a:gs pos="100000">
                <a:srgbClr val="0A0F1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4070B">
              <a:alpha val="6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16038165" y="366713"/>
            <a:ext cx="87823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BAG LOAD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16038165" y="519113"/>
            <a:ext cx="87823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68085"/>
              </a:lnSpc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2400"/>
              <a:buFont typeface="Oswald"/>
              <a:buNone/>
            </a:pPr>
            <a:r>
              <a:rPr b="1" i="0" lang="en-US" sz="240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78%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16038165" y="842963"/>
            <a:ext cx="8782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18.4 KG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17068800" y="323850"/>
            <a:ext cx="800100" cy="800100"/>
          </a:xfrm>
          <a:prstGeom prst="rect">
            <a:avLst/>
          </a:prstGeom>
          <a:solidFill>
            <a:srgbClr val="E6EEF5">
              <a:alpha val="10196"/>
            </a:srgbClr>
          </a:solidFill>
          <a:ln cap="flat" cmpd="sng" w="9525">
            <a:solidFill>
              <a:srgbClr val="E9B85C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47650" rotWithShape="0" algn="bl" dir="16200000" dist="50800">
              <a:srgbClr val="E9B85C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14603016" y="1238250"/>
            <a:ext cx="350865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E9B85C"/>
                </a:solidFill>
                <a:latin typeface="Gothic A1"/>
                <a:ea typeface="Gothic A1"/>
                <a:cs typeface="Gothic A1"/>
                <a:sym typeface="Gothic A1"/>
              </a:rPr>
              <a:t>획득 시 가방 아이콘으로 날아가는 연출 · DoTween 스케일 펀치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4086225" y="2679427"/>
            <a:ext cx="10115550" cy="4928146"/>
          </a:xfrm>
          <a:prstGeom prst="rect">
            <a:avLst/>
          </a:prstGeom>
          <a:solidFill>
            <a:srgbClr val="080C12">
              <a:alpha val="94118"/>
            </a:srgbClr>
          </a:solidFill>
          <a:ln cap="flat" cmpd="sng" w="9525">
            <a:solidFill>
              <a:srgbClr val="C6974A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857250" rotWithShape="0" algn="bl" dir="16200000" dist="50800">
              <a:srgbClr val="A46EE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"/>
          <p:cNvSpPr/>
          <p:nvPr/>
        </p:nvSpPr>
        <p:spPr>
          <a:xfrm>
            <a:off x="4095750" y="3624188"/>
            <a:ext cx="10096500" cy="9525"/>
          </a:xfrm>
          <a:prstGeom prst="rect">
            <a:avLst/>
          </a:prstGeom>
          <a:solidFill>
            <a:srgbClr val="C6974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>
            <a:off x="4419600" y="2927970"/>
            <a:ext cx="457200" cy="457200"/>
          </a:xfrm>
          <a:prstGeom prst="rect">
            <a:avLst/>
          </a:prstGeom>
          <a:solidFill>
            <a:srgbClr val="A46EE8">
              <a:alpha val="14118"/>
            </a:srgbClr>
          </a:solidFill>
          <a:ln cap="flat" cmpd="sng" w="9525">
            <a:solidFill>
              <a:srgbClr val="A46EE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16200000" dist="50800">
              <a:srgbClr val="A46EE8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6"/>
          <p:cNvSpPr/>
          <p:nvPr/>
        </p:nvSpPr>
        <p:spPr>
          <a:xfrm>
            <a:off x="5048250" y="2898502"/>
            <a:ext cx="464873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0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B98CF0"/>
                </a:solidFill>
                <a:latin typeface="Oswald"/>
                <a:ea typeface="Oswald"/>
                <a:cs typeface="Oswald"/>
                <a:sym typeface="Oswald"/>
              </a:rPr>
              <a:t>TIER 3 · RUNE CHEST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5048250" y="3079477"/>
            <a:ext cx="4648736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2400"/>
              <a:buFont typeface="Gothic A1"/>
              <a:buNone/>
            </a:pPr>
            <a:r>
              <a:rPr b="1" i="0" lang="en-US" sz="2400" u="none" cap="none" strike="noStrike">
                <a:solidFill>
                  <a:srgbClr val="E6EEF5"/>
                </a:solidFill>
                <a:latin typeface="Gothic A1"/>
                <a:ea typeface="Gothic A1"/>
                <a:cs typeface="Gothic A1"/>
                <a:sym typeface="Gothic A1"/>
              </a:rPr>
              <a:t>슬롯 5 · 가려진 슬롯 3 동시 공개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10290423" y="3080370"/>
            <a:ext cx="828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TIER 1 · 0.6s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11176248" y="3080370"/>
            <a:ext cx="82599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TIER 2 · 1.0s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12059394" y="3080370"/>
            <a:ext cx="8230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0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B98CF0"/>
                </a:solidFill>
                <a:latin typeface="Oswald"/>
                <a:ea typeface="Oswald"/>
                <a:cs typeface="Oswald"/>
                <a:sym typeface="Oswald"/>
              </a:rPr>
              <a:t>TIER 3 · 1.4s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12939564" y="2937495"/>
            <a:ext cx="92883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REVEAL IN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12939564" y="3089895"/>
            <a:ext cx="9288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66667"/>
              </a:lnSpc>
              <a:spcBef>
                <a:spcPts val="0"/>
              </a:spcBef>
              <a:spcAft>
                <a:spcPts val="0"/>
              </a:spcAft>
              <a:buClr>
                <a:srgbClr val="B98CF0"/>
              </a:buClr>
              <a:buSzPts val="2250"/>
              <a:buFont typeface="Oswald"/>
              <a:buNone/>
            </a:pPr>
            <a:r>
              <a:rPr b="1" i="0" lang="en-US" sz="2250" u="none" cap="none" strike="noStrike">
                <a:solidFill>
                  <a:srgbClr val="B98CF0"/>
                </a:solidFill>
                <a:latin typeface="Oswald"/>
                <a:ea typeface="Oswald"/>
                <a:cs typeface="Oswald"/>
                <a:sym typeface="Oswald"/>
              </a:rPr>
              <a:t>1.4s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4095750" y="3633713"/>
            <a:ext cx="10096500" cy="2707035"/>
          </a:xfrm>
          <a:prstGeom prst="rect">
            <a:avLst/>
          </a:prstGeom>
          <a:solidFill>
            <a:srgbClr val="C6974A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4095750" y="3633713"/>
            <a:ext cx="2011561" cy="2707035"/>
          </a:xfrm>
          <a:prstGeom prst="rect">
            <a:avLst/>
          </a:prstGeom>
          <a:solidFill>
            <a:srgbClr val="0A10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4286250" y="3824213"/>
            <a:ext cx="1630561" cy="1630561"/>
          </a:xfrm>
          <a:prstGeom prst="rect">
            <a:avLst/>
          </a:prstGeom>
          <a:solidFill>
            <a:srgbClr val="E6EEF5">
              <a:alpha val="10196"/>
            </a:srgbClr>
          </a:solidFill>
          <a:ln cap="flat" cmpd="sng" w="9525">
            <a:solidFill>
              <a:srgbClr val="E6EEF5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4286250" y="5569074"/>
            <a:ext cx="179361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E6EEF5"/>
                </a:solidFill>
                <a:latin typeface="Gothic A1"/>
                <a:ea typeface="Gothic A1"/>
                <a:cs typeface="Gothic A1"/>
                <a:sym typeface="Gothic A1"/>
              </a:rPr>
              <a:t>우유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286250" y="5950074"/>
            <a:ext cx="228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1050"/>
              <a:buFont typeface="Oswald"/>
              <a:buNone/>
            </a:pPr>
            <a:r>
              <a:rPr b="1" i="0" lang="en-US" sz="1050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×3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5522863" y="5950074"/>
            <a:ext cx="47014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050"/>
              <a:buFont typeface="Oswald"/>
              <a:buNone/>
            </a:pPr>
            <a:r>
              <a:rPr b="1" i="0" lang="en-US" sz="105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1.2 KG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6116836" y="3633713"/>
            <a:ext cx="2011710" cy="2707035"/>
          </a:xfrm>
          <a:prstGeom prst="rect">
            <a:avLst/>
          </a:prstGeom>
          <a:solidFill>
            <a:srgbClr val="0A10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6307336" y="3824213"/>
            <a:ext cx="1630710" cy="1630710"/>
          </a:xfrm>
          <a:prstGeom prst="rect">
            <a:avLst/>
          </a:prstGeom>
          <a:solidFill>
            <a:srgbClr val="E6EEF5">
              <a:alpha val="10196"/>
            </a:srgbClr>
          </a:solidFill>
          <a:ln cap="flat" cmpd="sng" w="9525">
            <a:solidFill>
              <a:srgbClr val="E6EEF5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"/>
          <p:cNvSpPr/>
          <p:nvPr/>
        </p:nvSpPr>
        <p:spPr>
          <a:xfrm>
            <a:off x="6307336" y="5569223"/>
            <a:ext cx="179378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E6EEF5"/>
                </a:solidFill>
                <a:latin typeface="Gothic A1"/>
                <a:ea typeface="Gothic A1"/>
                <a:cs typeface="Gothic A1"/>
                <a:sym typeface="Gothic A1"/>
              </a:rPr>
              <a:t>얼음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6307336" y="5950223"/>
            <a:ext cx="22800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1050"/>
              <a:buFont typeface="Oswald"/>
              <a:buNone/>
            </a:pPr>
            <a:r>
              <a:rPr b="1" i="0" lang="en-US" sz="1050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×5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7522071" y="5950223"/>
            <a:ext cx="4921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1050"/>
              <a:buFont typeface="Oswald"/>
              <a:buNone/>
            </a:pPr>
            <a:r>
              <a:rPr b="1" i="0" lang="en-US" sz="105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0.2 KG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8138071" y="3633713"/>
            <a:ext cx="2011710" cy="2707035"/>
          </a:xfrm>
          <a:prstGeom prst="rect">
            <a:avLst/>
          </a:prstGeom>
          <a:solidFill>
            <a:srgbClr val="120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8328571" y="3824213"/>
            <a:ext cx="1630710" cy="1630710"/>
          </a:xfrm>
          <a:prstGeom prst="rect">
            <a:avLst/>
          </a:prstGeom>
          <a:noFill/>
          <a:ln cap="flat" cmpd="sng" w="9525">
            <a:solidFill>
              <a:srgbClr val="A46EE8">
                <a:alpha val="58824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8299996" y="3833738"/>
            <a:ext cx="1687860" cy="164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8CF0"/>
              </a:buClr>
              <a:buSzPts val="4200"/>
              <a:buFont typeface="Oswald"/>
              <a:buNone/>
            </a:pPr>
            <a:r>
              <a:rPr b="1" i="0" lang="en-US" sz="4200" u="none" cap="none" strike="noStrike">
                <a:solidFill>
                  <a:srgbClr val="B98CF0"/>
                </a:solidFill>
                <a:latin typeface="Oswald"/>
                <a:ea typeface="Oswald"/>
                <a:cs typeface="Oswald"/>
                <a:sym typeface="Oswald"/>
              </a:rPr>
              <a:t>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8328571" y="5569223"/>
            <a:ext cx="179378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0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B98CF0"/>
                </a:solidFill>
                <a:latin typeface="Gothic A1"/>
                <a:ea typeface="Gothic A1"/>
                <a:cs typeface="Gothic A1"/>
                <a:sym typeface="Gothic A1"/>
              </a:rPr>
              <a:t>— — —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8328571" y="5950223"/>
            <a:ext cx="17937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0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B98CF0"/>
                </a:solidFill>
                <a:latin typeface="Oswald"/>
                <a:ea typeface="Oswald"/>
                <a:cs typeface="Oswald"/>
                <a:sym typeface="Oswald"/>
              </a:rPr>
              <a:t>IN 1.4s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10159305" y="3633713"/>
            <a:ext cx="2011710" cy="2707035"/>
          </a:xfrm>
          <a:prstGeom prst="rect">
            <a:avLst/>
          </a:prstGeom>
          <a:solidFill>
            <a:srgbClr val="120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"/>
          <p:cNvSpPr/>
          <p:nvPr/>
        </p:nvSpPr>
        <p:spPr>
          <a:xfrm>
            <a:off x="10349805" y="3824213"/>
            <a:ext cx="1630710" cy="1630710"/>
          </a:xfrm>
          <a:prstGeom prst="rect">
            <a:avLst/>
          </a:prstGeom>
          <a:noFill/>
          <a:ln cap="flat" cmpd="sng" w="9525">
            <a:solidFill>
              <a:srgbClr val="A46EE8">
                <a:alpha val="58824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6"/>
          <p:cNvSpPr/>
          <p:nvPr/>
        </p:nvSpPr>
        <p:spPr>
          <a:xfrm>
            <a:off x="10321230" y="3833738"/>
            <a:ext cx="1687860" cy="164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8CF0"/>
              </a:buClr>
              <a:buSzPts val="4200"/>
              <a:buFont typeface="Oswald"/>
              <a:buNone/>
            </a:pPr>
            <a:r>
              <a:rPr b="1" i="0" lang="en-US" sz="4200" u="none" cap="none" strike="noStrike">
                <a:solidFill>
                  <a:srgbClr val="B98CF0"/>
                </a:solidFill>
                <a:latin typeface="Oswald"/>
                <a:ea typeface="Oswald"/>
                <a:cs typeface="Oswald"/>
                <a:sym typeface="Oswald"/>
              </a:rPr>
              <a:t>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10349805" y="5569223"/>
            <a:ext cx="179378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0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B98CF0"/>
                </a:solidFill>
                <a:latin typeface="Gothic A1"/>
                <a:ea typeface="Gothic A1"/>
                <a:cs typeface="Gothic A1"/>
                <a:sym typeface="Gothic A1"/>
              </a:rPr>
              <a:t>— — —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10349805" y="5950223"/>
            <a:ext cx="17937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0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B98CF0"/>
                </a:solidFill>
                <a:latin typeface="Oswald"/>
                <a:ea typeface="Oswald"/>
                <a:cs typeface="Oswald"/>
                <a:sym typeface="Oswald"/>
              </a:rPr>
              <a:t>IN 1.4s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12180540" y="3633713"/>
            <a:ext cx="2011561" cy="2707035"/>
          </a:xfrm>
          <a:prstGeom prst="rect">
            <a:avLst/>
          </a:prstGeom>
          <a:solidFill>
            <a:srgbClr val="120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"/>
          <p:cNvSpPr/>
          <p:nvPr/>
        </p:nvSpPr>
        <p:spPr>
          <a:xfrm>
            <a:off x="12371040" y="3824213"/>
            <a:ext cx="1630561" cy="1630561"/>
          </a:xfrm>
          <a:prstGeom prst="rect">
            <a:avLst/>
          </a:prstGeom>
          <a:noFill/>
          <a:ln cap="flat" cmpd="sng" w="9525">
            <a:solidFill>
              <a:srgbClr val="A46EE8">
                <a:alpha val="58824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6"/>
          <p:cNvSpPr/>
          <p:nvPr/>
        </p:nvSpPr>
        <p:spPr>
          <a:xfrm>
            <a:off x="12342465" y="3833738"/>
            <a:ext cx="1687711" cy="1649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8CF0"/>
              </a:buClr>
              <a:buSzPts val="4200"/>
              <a:buFont typeface="Oswald"/>
              <a:buNone/>
            </a:pPr>
            <a:r>
              <a:rPr b="1" i="0" lang="en-US" sz="4200" u="none" cap="none" strike="noStrike">
                <a:solidFill>
                  <a:srgbClr val="B98CF0"/>
                </a:solidFill>
                <a:latin typeface="Oswald"/>
                <a:ea typeface="Oswald"/>
                <a:cs typeface="Oswald"/>
                <a:sym typeface="Oswald"/>
              </a:rPr>
              <a:t>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12371040" y="5569074"/>
            <a:ext cx="179361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0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B98CF0"/>
                </a:solidFill>
                <a:latin typeface="Gothic A1"/>
                <a:ea typeface="Gothic A1"/>
                <a:cs typeface="Gothic A1"/>
                <a:sym typeface="Gothic A1"/>
              </a:rPr>
              <a:t>— — —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12371040" y="5950074"/>
            <a:ext cx="179361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0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B98CF0"/>
                </a:solidFill>
                <a:latin typeface="Oswald"/>
                <a:ea typeface="Oswald"/>
                <a:cs typeface="Oswald"/>
                <a:sym typeface="Oswald"/>
              </a:rPr>
              <a:t>IN 1.4s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4095750" y="6340748"/>
            <a:ext cx="10096500" cy="9525"/>
          </a:xfrm>
          <a:prstGeom prst="rect">
            <a:avLst/>
          </a:prstGeom>
          <a:solidFill>
            <a:srgbClr val="C6974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6"/>
          <p:cNvSpPr/>
          <p:nvPr/>
        </p:nvSpPr>
        <p:spPr>
          <a:xfrm>
            <a:off x="4419600" y="6559823"/>
            <a:ext cx="202330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HOLD F — 담기 (개당 0.2초)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10881271" y="6559823"/>
            <a:ext cx="9033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78% → 84%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4419600" y="6788423"/>
            <a:ext cx="7288857" cy="152400"/>
          </a:xfrm>
          <a:prstGeom prst="rect">
            <a:avLst/>
          </a:prstGeom>
          <a:solidFill>
            <a:srgbClr val="E6EEF5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6"/>
          <p:cNvSpPr/>
          <p:nvPr/>
        </p:nvSpPr>
        <p:spPr>
          <a:xfrm>
            <a:off x="4438650" y="6807473"/>
            <a:ext cx="4495354" cy="114300"/>
          </a:xfrm>
          <a:prstGeom prst="rect">
            <a:avLst/>
          </a:prstGeom>
          <a:gradFill>
            <a:gsLst>
              <a:gs pos="0">
                <a:srgbClr val="7CD9A8"/>
              </a:gs>
              <a:gs pos="100000">
                <a:srgbClr val="E9B85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"/>
          <p:cNvSpPr/>
          <p:nvPr/>
        </p:nvSpPr>
        <p:spPr>
          <a:xfrm>
            <a:off x="11937057" y="6569348"/>
            <a:ext cx="285750" cy="361950"/>
          </a:xfrm>
          <a:custGeom>
            <a:rect b="b" l="l" r="r" t="t"/>
            <a:pathLst>
              <a:path extrusionOk="0" h="361950" w="285750">
                <a:moveTo>
                  <a:pt x="123825" y="0"/>
                </a:moveTo>
                <a:lnTo>
                  <a:pt x="161925" y="0"/>
                </a:lnTo>
                <a:cubicBezTo>
                  <a:pt x="194765" y="0"/>
                  <a:pt x="226261" y="13046"/>
                  <a:pt x="249482" y="36268"/>
                </a:cubicBezTo>
                <a:cubicBezTo>
                  <a:pt x="272704" y="59489"/>
                  <a:pt x="285750" y="90985"/>
                  <a:pt x="285750" y="123825"/>
                </a:cubicBezTo>
                <a:lnTo>
                  <a:pt x="285750" y="266700"/>
                </a:lnTo>
                <a:cubicBezTo>
                  <a:pt x="285750" y="319305"/>
                  <a:pt x="243105" y="361950"/>
                  <a:pt x="190500" y="361950"/>
                </a:cubicBezTo>
                <a:lnTo>
                  <a:pt x="95250" y="361950"/>
                </a:lnTo>
                <a:cubicBezTo>
                  <a:pt x="42645" y="361950"/>
                  <a:pt x="0" y="319305"/>
                  <a:pt x="0" y="266700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noFill/>
          <a:ln cap="flat" cmpd="sng" w="19050">
            <a:solidFill>
              <a:srgbClr val="E6EEF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6"/>
          <p:cNvSpPr/>
          <p:nvPr/>
        </p:nvSpPr>
        <p:spPr>
          <a:xfrm>
            <a:off x="11956107" y="6588398"/>
            <a:ext cx="123825" cy="123825"/>
          </a:xfrm>
          <a:custGeom>
            <a:rect b="b" l="l" r="r" t="t"/>
            <a:pathLst>
              <a:path extrusionOk="0" h="123825" w="123825">
                <a:moveTo>
                  <a:pt x="61912" y="0"/>
                </a:moveTo>
                <a:lnTo>
                  <a:pt x="123825" y="0"/>
                </a:lnTo>
                <a:lnTo>
                  <a:pt x="123825" y="123825"/>
                </a:lnTo>
                <a:lnTo>
                  <a:pt x="0" y="123825"/>
                </a:lnTo>
                <a:lnTo>
                  <a:pt x="0" y="61912"/>
                </a:lnTo>
                <a:cubicBezTo>
                  <a:pt x="0" y="27719"/>
                  <a:pt x="27719" y="0"/>
                  <a:pt x="61912" y="0"/>
                </a:cubicBezTo>
                <a:close/>
              </a:path>
            </a:pathLst>
          </a:custGeom>
          <a:solidFill>
            <a:srgbClr val="E6EEF5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12318057" y="6674123"/>
            <a:ext cx="170537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E6EEF5"/>
                </a:solidFill>
                <a:latin typeface="Gothic A1"/>
                <a:ea typeface="Gothic A1"/>
                <a:cs typeface="Gothic A1"/>
                <a:sym typeface="Gothic A1"/>
              </a:rPr>
              <a:t>슬롯 선택 = 마우스 좌클릭만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4095750" y="7150373"/>
            <a:ext cx="10096500" cy="447675"/>
          </a:xfrm>
          <a:prstGeom prst="rect">
            <a:avLst/>
          </a:prstGeom>
          <a:solidFill>
            <a:srgbClr val="D9563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6"/>
          <p:cNvSpPr/>
          <p:nvPr/>
        </p:nvSpPr>
        <p:spPr>
          <a:xfrm>
            <a:off x="4095750" y="7150373"/>
            <a:ext cx="10096500" cy="9525"/>
          </a:xfrm>
          <a:prstGeom prst="rect">
            <a:avLst/>
          </a:prstGeom>
          <a:solidFill>
            <a:srgbClr val="D9563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6"/>
          <p:cNvSpPr/>
          <p:nvPr/>
        </p:nvSpPr>
        <p:spPr>
          <a:xfrm>
            <a:off x="4419600" y="7340873"/>
            <a:ext cx="76200" cy="76200"/>
          </a:xfrm>
          <a:prstGeom prst="rect">
            <a:avLst/>
          </a:prstGeom>
          <a:solidFill>
            <a:srgbClr val="D956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6"/>
          <p:cNvSpPr/>
          <p:nvPr/>
        </p:nvSpPr>
        <p:spPr>
          <a:xfrm>
            <a:off x="4610100" y="7293248"/>
            <a:ext cx="602881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79A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0A79A"/>
                </a:solidFill>
                <a:latin typeface="Gothic A1"/>
                <a:ea typeface="Gothic A1"/>
                <a:cs typeface="Gothic A1"/>
                <a:sym typeface="Gothic A1"/>
              </a:rPr>
              <a:t>F 해제 · 이동 · 대시 · 피격 · 기절 등 상태 변화 시 UI 즉시 닫힘 — 개봉 로딩부터 처음부터 다시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6004247" y="9753600"/>
            <a:ext cx="30628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NO PERSONAL INVENTORY — WEIGHT ONLY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9112523" y="9753600"/>
            <a:ext cx="348835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EF5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E6EEF5"/>
                </a:solidFill>
                <a:latin typeface="Oswald"/>
                <a:ea typeface="Oswald"/>
                <a:cs typeface="Oswald"/>
                <a:sym typeface="Oswald"/>
              </a:rPr>
              <a:t>REVEALED SLOTS STAY REVEALED FOR EVERYONE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805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0C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8A5F38"/>
              </a:gs>
              <a:gs pos="42000">
                <a:srgbClr val="5A3B22"/>
              </a:gs>
              <a:gs pos="78000">
                <a:srgbClr val="2A1A0E"/>
              </a:gs>
              <a:gs pos="100000">
                <a:srgbClr val="150D0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7"/>
          <p:cNvSpPr/>
          <p:nvPr/>
        </p:nvSpPr>
        <p:spPr>
          <a:xfrm>
            <a:off x="7577882" y="4947345"/>
            <a:ext cx="32262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7778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게임 뷰 — 카페 내부 탑다운 · 카운터 위 스포트라이트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7667774" y="5200650"/>
            <a:ext cx="304087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7778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조리대가 위아래를 가르고 서빙 카운터는 위쪽에만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7"/>
          <p:cNvSpPr/>
          <p:nvPr/>
        </p:nvSpPr>
        <p:spPr>
          <a:xfrm>
            <a:off x="0" y="0"/>
            <a:ext cx="18288000" cy="923925"/>
          </a:xfrm>
          <a:prstGeom prst="rect">
            <a:avLst/>
          </a:prstGeom>
          <a:gradFill>
            <a:gsLst>
              <a:gs pos="0">
                <a:srgbClr val="0C0804">
                  <a:alpha val="94118"/>
                </a:srgbClr>
              </a:gs>
              <a:gs pos="62000">
                <a:srgbClr val="0C0804">
                  <a:alpha val="70196"/>
                </a:srgbClr>
              </a:gs>
              <a:gs pos="100000">
                <a:srgbClr val="0C0804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"/>
          <p:cNvSpPr/>
          <p:nvPr/>
        </p:nvSpPr>
        <p:spPr>
          <a:xfrm>
            <a:off x="0" y="914400"/>
            <a:ext cx="18288000" cy="9525"/>
          </a:xfrm>
          <a:prstGeom prst="rect">
            <a:avLst/>
          </a:prstGeom>
          <a:solidFill>
            <a:srgbClr val="C6974A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7"/>
          <p:cNvSpPr/>
          <p:nvPr/>
        </p:nvSpPr>
        <p:spPr>
          <a:xfrm>
            <a:off x="419100" y="495300"/>
            <a:ext cx="118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DAY 04 / 07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1662410" y="228600"/>
            <a:ext cx="783431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7647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3450"/>
              <a:buFont typeface="Oswald"/>
              <a:buNone/>
            </a:pPr>
            <a:r>
              <a:rPr b="1" i="0" lang="en-US" sz="34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1:47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2750641" y="247650"/>
            <a:ext cx="9525" cy="419100"/>
          </a:xfrm>
          <a:prstGeom prst="rect">
            <a:avLst/>
          </a:prstGeom>
          <a:solidFill>
            <a:srgbClr val="C6974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7"/>
          <p:cNvSpPr/>
          <p:nvPr/>
        </p:nvSpPr>
        <p:spPr>
          <a:xfrm>
            <a:off x="3141166" y="414338"/>
            <a:ext cx="2482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3408462" y="433388"/>
            <a:ext cx="68044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늑대 소굴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4107954" y="271463"/>
            <a:ext cx="65752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950"/>
              <a:buFont typeface="Oswald"/>
              <a:buNone/>
            </a:pPr>
            <a:r>
              <a:rPr b="1" i="0" lang="en-US" sz="195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8,420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5013127" y="414338"/>
            <a:ext cx="26327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5295454" y="433388"/>
            <a:ext cx="68044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안개 등대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5994946" y="271463"/>
            <a:ext cx="64665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950"/>
              <a:buFont typeface="Oswald"/>
              <a:buNone/>
            </a:pPr>
            <a:r>
              <a:rPr b="1" i="0" lang="en-US" sz="19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7,960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6889254" y="414338"/>
            <a:ext cx="26327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7171581" y="433388"/>
            <a:ext cx="8227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뼈다귀 클럽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8013353" y="271463"/>
            <a:ext cx="62731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950"/>
              <a:buFont typeface="Oswald"/>
              <a:buNone/>
            </a:pPr>
            <a:r>
              <a:rPr b="1" i="0" lang="en-US" sz="19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6,310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8888313" y="414338"/>
            <a:ext cx="2644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9171831" y="433388"/>
            <a:ext cx="68044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달빛 여관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9871323" y="271463"/>
            <a:ext cx="62552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950"/>
              <a:buFont typeface="Oswald"/>
              <a:buNone/>
            </a:pPr>
            <a:r>
              <a:rPr b="1" i="0" lang="en-US" sz="19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4,180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16935301" y="161925"/>
            <a:ext cx="9335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RENT DUE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16935301" y="323850"/>
            <a:ext cx="478036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2250"/>
              <a:buFont typeface="Oswald"/>
              <a:buNone/>
            </a:pPr>
            <a:r>
              <a:rPr b="1" i="0" lang="en-US" sz="225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412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17413337" y="466725"/>
            <a:ext cx="45556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350"/>
              <a:buFont typeface="Oswald"/>
              <a:buNone/>
            </a:pPr>
            <a:r>
              <a:rPr b="1" i="0" lang="en-US" sz="13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/ 250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323850" y="1219200"/>
            <a:ext cx="3124200" cy="4086225"/>
          </a:xfrm>
          <a:prstGeom prst="rect">
            <a:avLst/>
          </a:prstGeom>
          <a:solidFill>
            <a:srgbClr val="0E0905">
              <a:alpha val="78039"/>
            </a:srgbClr>
          </a:solidFill>
          <a:ln cap="flat" cmpd="sng" w="9525">
            <a:solidFill>
              <a:srgbClr val="C6974A">
                <a:alpha val="3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7"/>
          <p:cNvSpPr/>
          <p:nvPr/>
        </p:nvSpPr>
        <p:spPr>
          <a:xfrm>
            <a:off x="333375" y="1666875"/>
            <a:ext cx="3105150" cy="9525"/>
          </a:xfrm>
          <a:prstGeom prst="rect">
            <a:avLst/>
          </a:prstGeom>
          <a:solidFill>
            <a:srgbClr val="C6974A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7"/>
          <p:cNvSpPr/>
          <p:nvPr/>
        </p:nvSpPr>
        <p:spPr>
          <a:xfrm>
            <a:off x="485775" y="1366838"/>
            <a:ext cx="124152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ORDER QUEUE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2843659" y="1343025"/>
            <a:ext cx="51866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Oswald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04 / 06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485775" y="2581275"/>
            <a:ext cx="2800350" cy="9525"/>
          </a:xfrm>
          <a:prstGeom prst="rect">
            <a:avLst/>
          </a:prstGeom>
          <a:solidFill>
            <a:srgbClr val="F2E3CB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7"/>
          <p:cNvSpPr/>
          <p:nvPr/>
        </p:nvSpPr>
        <p:spPr>
          <a:xfrm>
            <a:off x="485775" y="1866900"/>
            <a:ext cx="400050" cy="40005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7"/>
          <p:cNvSpPr/>
          <p:nvPr/>
        </p:nvSpPr>
        <p:spPr>
          <a:xfrm>
            <a:off x="614511" y="1976438"/>
            <a:ext cx="21862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뱀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1000125" y="1871663"/>
            <a:ext cx="18558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575"/>
              <a:buFont typeface="Gothic A1"/>
              <a:buNone/>
            </a:pPr>
            <a:r>
              <a:rPr b="1" i="0" lang="en-US" sz="15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아이스모카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1000125" y="2119313"/>
            <a:ext cx="185582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원두 · 우유 · 초콜렛 · 얼음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2801541" y="1924050"/>
            <a:ext cx="5607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1500"/>
              <a:buFont typeface="Oswald"/>
              <a:buNone/>
            </a:pPr>
            <a:r>
              <a:rPr b="1" i="0" lang="en-US" sz="150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+60%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485775" y="2381250"/>
            <a:ext cx="254198" cy="66675"/>
          </a:xfrm>
          <a:prstGeom prst="rect">
            <a:avLst/>
          </a:prstGeom>
          <a:solidFill>
            <a:srgbClr val="D956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7"/>
          <p:cNvSpPr/>
          <p:nvPr/>
        </p:nvSpPr>
        <p:spPr>
          <a:xfrm>
            <a:off x="768548" y="2381250"/>
            <a:ext cx="254347" cy="66675"/>
          </a:xfrm>
          <a:prstGeom prst="rect">
            <a:avLst/>
          </a:prstGeom>
          <a:solidFill>
            <a:srgbClr val="D956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7"/>
          <p:cNvSpPr/>
          <p:nvPr/>
        </p:nvSpPr>
        <p:spPr>
          <a:xfrm>
            <a:off x="1051471" y="2381250"/>
            <a:ext cx="254198" cy="66675"/>
          </a:xfrm>
          <a:prstGeom prst="rect">
            <a:avLst/>
          </a:prstGeom>
          <a:solidFill>
            <a:srgbClr val="D956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7"/>
          <p:cNvSpPr/>
          <p:nvPr/>
        </p:nvSpPr>
        <p:spPr>
          <a:xfrm>
            <a:off x="1334244" y="2381250"/>
            <a:ext cx="254347" cy="66675"/>
          </a:xfrm>
          <a:prstGeom prst="rect">
            <a:avLst/>
          </a:prstGeom>
          <a:solidFill>
            <a:srgbClr val="F2E3CB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7"/>
          <p:cNvSpPr/>
          <p:nvPr/>
        </p:nvSpPr>
        <p:spPr>
          <a:xfrm>
            <a:off x="1617166" y="2381250"/>
            <a:ext cx="254347" cy="66675"/>
          </a:xfrm>
          <a:prstGeom prst="rect">
            <a:avLst/>
          </a:prstGeom>
          <a:solidFill>
            <a:srgbClr val="F2E3CB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7"/>
          <p:cNvSpPr/>
          <p:nvPr/>
        </p:nvSpPr>
        <p:spPr>
          <a:xfrm>
            <a:off x="1900089" y="2381250"/>
            <a:ext cx="254347" cy="66675"/>
          </a:xfrm>
          <a:prstGeom prst="rect">
            <a:avLst/>
          </a:prstGeom>
          <a:solidFill>
            <a:srgbClr val="F2E3CB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7"/>
          <p:cNvSpPr/>
          <p:nvPr/>
        </p:nvSpPr>
        <p:spPr>
          <a:xfrm>
            <a:off x="2183011" y="2381250"/>
            <a:ext cx="254347" cy="66675"/>
          </a:xfrm>
          <a:prstGeom prst="rect">
            <a:avLst/>
          </a:prstGeom>
          <a:solidFill>
            <a:srgbClr val="F2E3CB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7"/>
          <p:cNvSpPr/>
          <p:nvPr/>
        </p:nvSpPr>
        <p:spPr>
          <a:xfrm>
            <a:off x="2465933" y="2381250"/>
            <a:ext cx="254347" cy="66675"/>
          </a:xfrm>
          <a:prstGeom prst="rect">
            <a:avLst/>
          </a:prstGeom>
          <a:solidFill>
            <a:srgbClr val="F2E3CB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7"/>
          <p:cNvSpPr/>
          <p:nvPr/>
        </p:nvSpPr>
        <p:spPr>
          <a:xfrm>
            <a:off x="2748855" y="2381250"/>
            <a:ext cx="254347" cy="66675"/>
          </a:xfrm>
          <a:prstGeom prst="rect">
            <a:avLst/>
          </a:prstGeom>
          <a:solidFill>
            <a:srgbClr val="F2E3CB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7"/>
          <p:cNvSpPr/>
          <p:nvPr/>
        </p:nvSpPr>
        <p:spPr>
          <a:xfrm>
            <a:off x="3031778" y="2381250"/>
            <a:ext cx="254347" cy="66675"/>
          </a:xfrm>
          <a:prstGeom prst="rect">
            <a:avLst/>
          </a:prstGeom>
          <a:solidFill>
            <a:srgbClr val="F2E3CB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7"/>
          <p:cNvSpPr/>
          <p:nvPr/>
        </p:nvSpPr>
        <p:spPr>
          <a:xfrm>
            <a:off x="485775" y="3438525"/>
            <a:ext cx="2800350" cy="9525"/>
          </a:xfrm>
          <a:prstGeom prst="rect">
            <a:avLst/>
          </a:prstGeom>
          <a:solidFill>
            <a:srgbClr val="F2E3CB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7"/>
          <p:cNvSpPr/>
          <p:nvPr/>
        </p:nvSpPr>
        <p:spPr>
          <a:xfrm>
            <a:off x="485775" y="2724150"/>
            <a:ext cx="400050" cy="40005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7"/>
          <p:cNvSpPr/>
          <p:nvPr/>
        </p:nvSpPr>
        <p:spPr>
          <a:xfrm>
            <a:off x="614511" y="2833688"/>
            <a:ext cx="21862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유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1000125" y="2728913"/>
            <a:ext cx="18609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575"/>
              <a:buFont typeface="Gothic A1"/>
              <a:buNone/>
            </a:pPr>
            <a:r>
              <a:rPr b="1" i="0" lang="en-US" sz="15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아이스라떼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1000125" y="2976563"/>
            <a:ext cx="186090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원두 · 우유 · 얼음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2806154" y="2781300"/>
            <a:ext cx="5561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1500"/>
              <a:buFont typeface="Oswald"/>
              <a:buNone/>
            </a:pPr>
            <a:r>
              <a:rPr b="1" i="0" lang="en-US" sz="150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+30%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485775" y="3238500"/>
            <a:ext cx="254198" cy="66675"/>
          </a:xfrm>
          <a:prstGeom prst="rect">
            <a:avLst/>
          </a:prstGeom>
          <a:solidFill>
            <a:srgbClr val="E9B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7"/>
          <p:cNvSpPr/>
          <p:nvPr/>
        </p:nvSpPr>
        <p:spPr>
          <a:xfrm>
            <a:off x="768548" y="3238500"/>
            <a:ext cx="254347" cy="66675"/>
          </a:xfrm>
          <a:prstGeom prst="rect">
            <a:avLst/>
          </a:prstGeom>
          <a:solidFill>
            <a:srgbClr val="E9B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7"/>
          <p:cNvSpPr/>
          <p:nvPr/>
        </p:nvSpPr>
        <p:spPr>
          <a:xfrm>
            <a:off x="1051471" y="3238500"/>
            <a:ext cx="254198" cy="66675"/>
          </a:xfrm>
          <a:prstGeom prst="rect">
            <a:avLst/>
          </a:prstGeom>
          <a:solidFill>
            <a:srgbClr val="E9B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7"/>
          <p:cNvSpPr/>
          <p:nvPr/>
        </p:nvSpPr>
        <p:spPr>
          <a:xfrm>
            <a:off x="1334244" y="3238500"/>
            <a:ext cx="254347" cy="66675"/>
          </a:xfrm>
          <a:prstGeom prst="rect">
            <a:avLst/>
          </a:prstGeom>
          <a:solidFill>
            <a:srgbClr val="E9B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7"/>
          <p:cNvSpPr/>
          <p:nvPr/>
        </p:nvSpPr>
        <p:spPr>
          <a:xfrm>
            <a:off x="1617166" y="3238500"/>
            <a:ext cx="254347" cy="66675"/>
          </a:xfrm>
          <a:prstGeom prst="rect">
            <a:avLst/>
          </a:prstGeom>
          <a:solidFill>
            <a:srgbClr val="E9B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7"/>
          <p:cNvSpPr/>
          <p:nvPr/>
        </p:nvSpPr>
        <p:spPr>
          <a:xfrm>
            <a:off x="1900089" y="3238500"/>
            <a:ext cx="254347" cy="66675"/>
          </a:xfrm>
          <a:prstGeom prst="rect">
            <a:avLst/>
          </a:prstGeom>
          <a:solidFill>
            <a:srgbClr val="E9B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7"/>
          <p:cNvSpPr/>
          <p:nvPr/>
        </p:nvSpPr>
        <p:spPr>
          <a:xfrm>
            <a:off x="2183011" y="3238500"/>
            <a:ext cx="254347" cy="66675"/>
          </a:xfrm>
          <a:prstGeom prst="rect">
            <a:avLst/>
          </a:prstGeom>
          <a:solidFill>
            <a:srgbClr val="F2E3CB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7"/>
          <p:cNvSpPr/>
          <p:nvPr/>
        </p:nvSpPr>
        <p:spPr>
          <a:xfrm>
            <a:off x="2465933" y="3238500"/>
            <a:ext cx="254347" cy="66675"/>
          </a:xfrm>
          <a:prstGeom prst="rect">
            <a:avLst/>
          </a:prstGeom>
          <a:solidFill>
            <a:srgbClr val="F2E3CB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7"/>
          <p:cNvSpPr/>
          <p:nvPr/>
        </p:nvSpPr>
        <p:spPr>
          <a:xfrm>
            <a:off x="2748855" y="3238500"/>
            <a:ext cx="254347" cy="66675"/>
          </a:xfrm>
          <a:prstGeom prst="rect">
            <a:avLst/>
          </a:prstGeom>
          <a:solidFill>
            <a:srgbClr val="F2E3CB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7"/>
          <p:cNvSpPr/>
          <p:nvPr/>
        </p:nvSpPr>
        <p:spPr>
          <a:xfrm>
            <a:off x="3031778" y="3238500"/>
            <a:ext cx="254347" cy="66675"/>
          </a:xfrm>
          <a:prstGeom prst="rect">
            <a:avLst/>
          </a:prstGeom>
          <a:solidFill>
            <a:srgbClr val="F2E3CB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7"/>
          <p:cNvSpPr/>
          <p:nvPr/>
        </p:nvSpPr>
        <p:spPr>
          <a:xfrm>
            <a:off x="485775" y="4295775"/>
            <a:ext cx="2800350" cy="9525"/>
          </a:xfrm>
          <a:prstGeom prst="rect">
            <a:avLst/>
          </a:prstGeom>
          <a:solidFill>
            <a:srgbClr val="F2E3CB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7"/>
          <p:cNvSpPr/>
          <p:nvPr/>
        </p:nvSpPr>
        <p:spPr>
          <a:xfrm>
            <a:off x="485775" y="3581400"/>
            <a:ext cx="400050" cy="40005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7"/>
          <p:cNvSpPr/>
          <p:nvPr/>
        </p:nvSpPr>
        <p:spPr>
          <a:xfrm>
            <a:off x="614511" y="3690937"/>
            <a:ext cx="21862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마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1000125" y="3586163"/>
            <a:ext cx="18609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575"/>
              <a:buFont typeface="Gothic A1"/>
              <a:buNone/>
            </a:pPr>
            <a:r>
              <a:rPr b="1" i="0" lang="en-US" sz="15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카페모카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7"/>
          <p:cNvSpPr/>
          <p:nvPr/>
        </p:nvSpPr>
        <p:spPr>
          <a:xfrm>
            <a:off x="1000125" y="3833812"/>
            <a:ext cx="186090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원두 · 우유 · 초콜렛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2806154" y="3638550"/>
            <a:ext cx="5561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1500"/>
              <a:buFont typeface="Oswald"/>
              <a:buNone/>
            </a:pPr>
            <a:r>
              <a:rPr b="1" i="0" lang="en-US" sz="150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+30%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485775" y="4095750"/>
            <a:ext cx="254198" cy="66675"/>
          </a:xfrm>
          <a:prstGeom prst="rect">
            <a:avLst/>
          </a:prstGeom>
          <a:solidFill>
            <a:srgbClr val="7CD9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7"/>
          <p:cNvSpPr/>
          <p:nvPr/>
        </p:nvSpPr>
        <p:spPr>
          <a:xfrm>
            <a:off x="768548" y="4095750"/>
            <a:ext cx="254347" cy="66675"/>
          </a:xfrm>
          <a:prstGeom prst="rect">
            <a:avLst/>
          </a:prstGeom>
          <a:solidFill>
            <a:srgbClr val="7CD9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7"/>
          <p:cNvSpPr/>
          <p:nvPr/>
        </p:nvSpPr>
        <p:spPr>
          <a:xfrm>
            <a:off x="1051471" y="4095750"/>
            <a:ext cx="254198" cy="66675"/>
          </a:xfrm>
          <a:prstGeom prst="rect">
            <a:avLst/>
          </a:prstGeom>
          <a:solidFill>
            <a:srgbClr val="7CD9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7"/>
          <p:cNvSpPr/>
          <p:nvPr/>
        </p:nvSpPr>
        <p:spPr>
          <a:xfrm>
            <a:off x="1334244" y="4095750"/>
            <a:ext cx="254347" cy="66675"/>
          </a:xfrm>
          <a:prstGeom prst="rect">
            <a:avLst/>
          </a:prstGeom>
          <a:solidFill>
            <a:srgbClr val="7CD9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7"/>
          <p:cNvSpPr/>
          <p:nvPr/>
        </p:nvSpPr>
        <p:spPr>
          <a:xfrm>
            <a:off x="1617166" y="4095750"/>
            <a:ext cx="254347" cy="66675"/>
          </a:xfrm>
          <a:prstGeom prst="rect">
            <a:avLst/>
          </a:prstGeom>
          <a:solidFill>
            <a:srgbClr val="7CD9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7"/>
          <p:cNvSpPr/>
          <p:nvPr/>
        </p:nvSpPr>
        <p:spPr>
          <a:xfrm>
            <a:off x="1900089" y="4095750"/>
            <a:ext cx="254347" cy="66675"/>
          </a:xfrm>
          <a:prstGeom prst="rect">
            <a:avLst/>
          </a:prstGeom>
          <a:solidFill>
            <a:srgbClr val="7CD9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7"/>
          <p:cNvSpPr/>
          <p:nvPr/>
        </p:nvSpPr>
        <p:spPr>
          <a:xfrm>
            <a:off x="2183011" y="4095750"/>
            <a:ext cx="254347" cy="66675"/>
          </a:xfrm>
          <a:prstGeom prst="rect">
            <a:avLst/>
          </a:prstGeom>
          <a:solidFill>
            <a:srgbClr val="7CD9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7"/>
          <p:cNvSpPr/>
          <p:nvPr/>
        </p:nvSpPr>
        <p:spPr>
          <a:xfrm>
            <a:off x="2465933" y="4095750"/>
            <a:ext cx="254347" cy="66675"/>
          </a:xfrm>
          <a:prstGeom prst="rect">
            <a:avLst/>
          </a:prstGeom>
          <a:solidFill>
            <a:srgbClr val="7CD9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7"/>
          <p:cNvSpPr/>
          <p:nvPr/>
        </p:nvSpPr>
        <p:spPr>
          <a:xfrm>
            <a:off x="2748855" y="4095750"/>
            <a:ext cx="254347" cy="66675"/>
          </a:xfrm>
          <a:prstGeom prst="rect">
            <a:avLst/>
          </a:prstGeom>
          <a:solidFill>
            <a:srgbClr val="F2E3CB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7"/>
          <p:cNvSpPr/>
          <p:nvPr/>
        </p:nvSpPr>
        <p:spPr>
          <a:xfrm>
            <a:off x="3031778" y="4095750"/>
            <a:ext cx="254347" cy="66675"/>
          </a:xfrm>
          <a:prstGeom prst="rect">
            <a:avLst/>
          </a:prstGeom>
          <a:solidFill>
            <a:srgbClr val="F2E3CB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7"/>
          <p:cNvSpPr/>
          <p:nvPr/>
        </p:nvSpPr>
        <p:spPr>
          <a:xfrm>
            <a:off x="485775" y="5153025"/>
            <a:ext cx="2800350" cy="9525"/>
          </a:xfrm>
          <a:prstGeom prst="rect">
            <a:avLst/>
          </a:prstGeom>
          <a:solidFill>
            <a:srgbClr val="F2E3CB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7"/>
          <p:cNvSpPr/>
          <p:nvPr/>
        </p:nvSpPr>
        <p:spPr>
          <a:xfrm>
            <a:off x="485775" y="4438650"/>
            <a:ext cx="400050" cy="400050"/>
          </a:xfrm>
          <a:prstGeom prst="rect">
            <a:avLst/>
          </a:prstGeom>
          <a:solidFill>
            <a:srgbClr val="F2E3CB">
              <a:alpha val="7059"/>
            </a:srgbClr>
          </a:solidFill>
          <a:ln cap="flat" cmpd="sng" w="9525">
            <a:solidFill>
              <a:srgbClr val="F2E3CB">
                <a:alpha val="109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7"/>
          <p:cNvSpPr/>
          <p:nvPr/>
        </p:nvSpPr>
        <p:spPr>
          <a:xfrm>
            <a:off x="614511" y="4548188"/>
            <a:ext cx="21862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좀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7"/>
          <p:cNvSpPr/>
          <p:nvPr/>
        </p:nvSpPr>
        <p:spPr>
          <a:xfrm>
            <a:off x="1000125" y="4443413"/>
            <a:ext cx="19686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575"/>
              <a:buFont typeface="Gothic A1"/>
              <a:buNone/>
            </a:pPr>
            <a:r>
              <a:rPr b="1" i="0" lang="en-US" sz="15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핫 아메리카노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7"/>
          <p:cNvSpPr/>
          <p:nvPr/>
        </p:nvSpPr>
        <p:spPr>
          <a:xfrm>
            <a:off x="1000125" y="4691063"/>
            <a:ext cx="196862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원두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7"/>
          <p:cNvSpPr/>
          <p:nvPr/>
        </p:nvSpPr>
        <p:spPr>
          <a:xfrm>
            <a:off x="2904083" y="4495800"/>
            <a:ext cx="45824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1500"/>
              <a:buFont typeface="Oswald"/>
              <a:buNone/>
            </a:pPr>
            <a:r>
              <a:rPr b="1" i="0" lang="en-US" sz="150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+0%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485775" y="4953000"/>
            <a:ext cx="254198" cy="66675"/>
          </a:xfrm>
          <a:prstGeom prst="rect">
            <a:avLst/>
          </a:prstGeom>
          <a:solidFill>
            <a:srgbClr val="7CD9A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7"/>
          <p:cNvSpPr/>
          <p:nvPr/>
        </p:nvSpPr>
        <p:spPr>
          <a:xfrm>
            <a:off x="768548" y="4953000"/>
            <a:ext cx="254347" cy="66675"/>
          </a:xfrm>
          <a:prstGeom prst="rect">
            <a:avLst/>
          </a:prstGeom>
          <a:solidFill>
            <a:srgbClr val="7CD9A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7"/>
          <p:cNvSpPr/>
          <p:nvPr/>
        </p:nvSpPr>
        <p:spPr>
          <a:xfrm>
            <a:off x="1051471" y="4953000"/>
            <a:ext cx="254198" cy="66675"/>
          </a:xfrm>
          <a:prstGeom prst="rect">
            <a:avLst/>
          </a:prstGeom>
          <a:solidFill>
            <a:srgbClr val="7CD9A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7"/>
          <p:cNvSpPr/>
          <p:nvPr/>
        </p:nvSpPr>
        <p:spPr>
          <a:xfrm>
            <a:off x="1334244" y="4953000"/>
            <a:ext cx="254347" cy="66675"/>
          </a:xfrm>
          <a:prstGeom prst="rect">
            <a:avLst/>
          </a:prstGeom>
          <a:solidFill>
            <a:srgbClr val="7CD9A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7"/>
          <p:cNvSpPr/>
          <p:nvPr/>
        </p:nvSpPr>
        <p:spPr>
          <a:xfrm>
            <a:off x="1617166" y="4953000"/>
            <a:ext cx="254347" cy="66675"/>
          </a:xfrm>
          <a:prstGeom prst="rect">
            <a:avLst/>
          </a:prstGeom>
          <a:solidFill>
            <a:srgbClr val="7CD9A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7"/>
          <p:cNvSpPr/>
          <p:nvPr/>
        </p:nvSpPr>
        <p:spPr>
          <a:xfrm>
            <a:off x="1900089" y="4953000"/>
            <a:ext cx="254347" cy="66675"/>
          </a:xfrm>
          <a:prstGeom prst="rect">
            <a:avLst/>
          </a:prstGeom>
          <a:solidFill>
            <a:srgbClr val="7CD9A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7"/>
          <p:cNvSpPr/>
          <p:nvPr/>
        </p:nvSpPr>
        <p:spPr>
          <a:xfrm>
            <a:off x="2183011" y="4953000"/>
            <a:ext cx="254347" cy="66675"/>
          </a:xfrm>
          <a:prstGeom prst="rect">
            <a:avLst/>
          </a:prstGeom>
          <a:solidFill>
            <a:srgbClr val="7CD9A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7"/>
          <p:cNvSpPr/>
          <p:nvPr/>
        </p:nvSpPr>
        <p:spPr>
          <a:xfrm>
            <a:off x="2465933" y="4953000"/>
            <a:ext cx="254347" cy="66675"/>
          </a:xfrm>
          <a:prstGeom prst="rect">
            <a:avLst/>
          </a:prstGeom>
          <a:solidFill>
            <a:srgbClr val="7CD9A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7"/>
          <p:cNvSpPr/>
          <p:nvPr/>
        </p:nvSpPr>
        <p:spPr>
          <a:xfrm>
            <a:off x="2748855" y="4953000"/>
            <a:ext cx="254347" cy="66675"/>
          </a:xfrm>
          <a:prstGeom prst="rect">
            <a:avLst/>
          </a:prstGeom>
          <a:solidFill>
            <a:srgbClr val="7CD9A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7"/>
          <p:cNvSpPr/>
          <p:nvPr/>
        </p:nvSpPr>
        <p:spPr>
          <a:xfrm>
            <a:off x="3031778" y="4953000"/>
            <a:ext cx="254347" cy="66675"/>
          </a:xfrm>
          <a:prstGeom prst="rect">
            <a:avLst/>
          </a:prstGeom>
          <a:solidFill>
            <a:srgbClr val="F2E3CB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7"/>
          <p:cNvSpPr/>
          <p:nvPr/>
        </p:nvSpPr>
        <p:spPr>
          <a:xfrm>
            <a:off x="15392400" y="1219200"/>
            <a:ext cx="2571750" cy="2230636"/>
          </a:xfrm>
          <a:prstGeom prst="rect">
            <a:avLst/>
          </a:prstGeom>
          <a:solidFill>
            <a:srgbClr val="0E0905">
              <a:alpha val="78039"/>
            </a:srgbClr>
          </a:solidFill>
          <a:ln cap="flat" cmpd="sng" w="9525">
            <a:solidFill>
              <a:srgbClr val="C6974A">
                <a:alpha val="3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7"/>
          <p:cNvSpPr/>
          <p:nvPr/>
        </p:nvSpPr>
        <p:spPr>
          <a:xfrm>
            <a:off x="15401925" y="1619250"/>
            <a:ext cx="2552700" cy="9525"/>
          </a:xfrm>
          <a:prstGeom prst="rect">
            <a:avLst/>
          </a:prstGeom>
          <a:solidFill>
            <a:srgbClr val="C6974A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7"/>
          <p:cNvSpPr/>
          <p:nvPr/>
        </p:nvSpPr>
        <p:spPr>
          <a:xfrm>
            <a:off x="15477744" y="1343025"/>
            <a:ext cx="23244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TODAY’S DEMAND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7"/>
          <p:cNvSpPr/>
          <p:nvPr/>
        </p:nvSpPr>
        <p:spPr>
          <a:xfrm>
            <a:off x="15554325" y="1762125"/>
            <a:ext cx="304800" cy="304800"/>
          </a:xfrm>
          <a:prstGeom prst="rect">
            <a:avLst/>
          </a:prstGeom>
          <a:solidFill>
            <a:srgbClr val="F2E3CB">
              <a:alpha val="16078"/>
            </a:srgbClr>
          </a:solidFill>
          <a:ln cap="flat" cmpd="sng" w="9525">
            <a:solidFill>
              <a:srgbClr val="F2E3CB">
                <a:alpha val="2392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7"/>
          <p:cNvSpPr/>
          <p:nvPr/>
        </p:nvSpPr>
        <p:spPr>
          <a:xfrm>
            <a:off x="15973425" y="1800225"/>
            <a:ext cx="62984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425"/>
              <a:buFont typeface="Gothic A1"/>
              <a:buNone/>
            </a:pPr>
            <a:r>
              <a:rPr b="1" i="0" lang="en-US" sz="14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초콜렛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7"/>
          <p:cNvSpPr/>
          <p:nvPr/>
        </p:nvSpPr>
        <p:spPr>
          <a:xfrm>
            <a:off x="17346216" y="1781175"/>
            <a:ext cx="53220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1425"/>
              <a:buFont typeface="Oswald"/>
              <a:buNone/>
            </a:pPr>
            <a:r>
              <a:rPr b="1" i="0" lang="en-US" sz="1425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+30%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7"/>
          <p:cNvSpPr/>
          <p:nvPr/>
        </p:nvSpPr>
        <p:spPr>
          <a:xfrm>
            <a:off x="15554325" y="2181225"/>
            <a:ext cx="304800" cy="304800"/>
          </a:xfrm>
          <a:prstGeom prst="rect">
            <a:avLst/>
          </a:prstGeom>
          <a:solidFill>
            <a:srgbClr val="F2E3CB">
              <a:alpha val="16078"/>
            </a:srgbClr>
          </a:solidFill>
          <a:ln cap="flat" cmpd="sng" w="9525">
            <a:solidFill>
              <a:srgbClr val="F2E3CB">
                <a:alpha val="2392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7"/>
          <p:cNvSpPr/>
          <p:nvPr/>
        </p:nvSpPr>
        <p:spPr>
          <a:xfrm>
            <a:off x="15973425" y="2219325"/>
            <a:ext cx="44529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425"/>
              <a:buFont typeface="Gothic A1"/>
              <a:buNone/>
            </a:pPr>
            <a:r>
              <a:rPr b="1" i="0" lang="en-US" sz="14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얼음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7"/>
          <p:cNvSpPr/>
          <p:nvPr/>
        </p:nvSpPr>
        <p:spPr>
          <a:xfrm>
            <a:off x="17346216" y="2200275"/>
            <a:ext cx="53220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1425"/>
              <a:buFont typeface="Oswald"/>
              <a:buNone/>
            </a:pPr>
            <a:r>
              <a:rPr b="1" i="0" lang="en-US" sz="1425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+30%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7"/>
          <p:cNvSpPr/>
          <p:nvPr/>
        </p:nvSpPr>
        <p:spPr>
          <a:xfrm>
            <a:off x="15554325" y="2600325"/>
            <a:ext cx="304800" cy="304800"/>
          </a:xfrm>
          <a:prstGeom prst="rect">
            <a:avLst/>
          </a:prstGeom>
          <a:solidFill>
            <a:srgbClr val="F2E3CB">
              <a:alpha val="16078"/>
            </a:srgbClr>
          </a:solidFill>
          <a:ln cap="flat" cmpd="sng" w="9525">
            <a:solidFill>
              <a:srgbClr val="F2E3CB">
                <a:alpha val="2392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7"/>
          <p:cNvSpPr/>
          <p:nvPr/>
        </p:nvSpPr>
        <p:spPr>
          <a:xfrm>
            <a:off x="15973425" y="2638425"/>
            <a:ext cx="44529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425"/>
              <a:buFont typeface="Gothic A1"/>
              <a:buNone/>
            </a:pPr>
            <a:r>
              <a:rPr b="1" i="0" lang="en-US" sz="14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베리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7"/>
          <p:cNvSpPr/>
          <p:nvPr/>
        </p:nvSpPr>
        <p:spPr>
          <a:xfrm>
            <a:off x="17346216" y="2619375"/>
            <a:ext cx="53220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1425"/>
              <a:buFont typeface="Oswald"/>
              <a:buNone/>
            </a:pPr>
            <a:r>
              <a:rPr b="1" i="0" lang="en-US" sz="1425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+30%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7"/>
          <p:cNvSpPr/>
          <p:nvPr/>
        </p:nvSpPr>
        <p:spPr>
          <a:xfrm>
            <a:off x="15554325" y="3019425"/>
            <a:ext cx="2247900" cy="952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7"/>
          <p:cNvSpPr/>
          <p:nvPr/>
        </p:nvSpPr>
        <p:spPr>
          <a:xfrm>
            <a:off x="15554325" y="3124200"/>
            <a:ext cx="2324100" cy="220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재료 1개당 +30% 중첩 · 합산 후 1회 적용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7"/>
          <p:cNvSpPr/>
          <p:nvPr/>
        </p:nvSpPr>
        <p:spPr>
          <a:xfrm>
            <a:off x="7525881" y="7581900"/>
            <a:ext cx="157620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2250"/>
              <a:buFont typeface="Gothic A1"/>
              <a:buNone/>
            </a:pPr>
            <a:r>
              <a:rPr b="1" i="0" lang="en-US" sz="22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아이스모카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7"/>
          <p:cNvSpPr/>
          <p:nvPr/>
        </p:nvSpPr>
        <p:spPr>
          <a:xfrm>
            <a:off x="9144744" y="7696200"/>
            <a:ext cx="10609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HOLD TIMER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7"/>
          <p:cNvSpPr/>
          <p:nvPr/>
        </p:nvSpPr>
        <p:spPr>
          <a:xfrm>
            <a:off x="10281940" y="7515225"/>
            <a:ext cx="44663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63F"/>
              </a:buClr>
              <a:buSzPts val="2250"/>
              <a:buFont typeface="Oswald"/>
              <a:buNone/>
            </a:pPr>
            <a:r>
              <a:rPr b="1" i="0" lang="en-US" sz="2250" u="none" cap="none" strike="noStrike">
                <a:solidFill>
                  <a:srgbClr val="D9563F"/>
                </a:solidFill>
                <a:latin typeface="Oswald"/>
                <a:ea typeface="Oswald"/>
                <a:cs typeface="Oswald"/>
                <a:sym typeface="Oswald"/>
              </a:rPr>
              <a:t>6.2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7"/>
          <p:cNvSpPr/>
          <p:nvPr/>
        </p:nvSpPr>
        <p:spPr>
          <a:xfrm>
            <a:off x="5276850" y="8077200"/>
            <a:ext cx="7734300" cy="419100"/>
          </a:xfrm>
          <a:prstGeom prst="rect">
            <a:avLst/>
          </a:prstGeom>
          <a:solidFill>
            <a:srgbClr val="0C0804">
              <a:alpha val="81961"/>
            </a:srgbClr>
          </a:solidFill>
          <a:ln cap="flat" cmpd="sng" w="9525">
            <a:solidFill>
              <a:srgbClr val="C6974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7"/>
          <p:cNvSpPr/>
          <p:nvPr/>
        </p:nvSpPr>
        <p:spPr>
          <a:xfrm>
            <a:off x="5324475" y="8124825"/>
            <a:ext cx="2673697" cy="323850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7"/>
          <p:cNvSpPr/>
          <p:nvPr/>
        </p:nvSpPr>
        <p:spPr>
          <a:xfrm>
            <a:off x="7998172" y="8124825"/>
            <a:ext cx="916632" cy="323850"/>
          </a:xfrm>
          <a:prstGeom prst="rect">
            <a:avLst/>
          </a:prstGeom>
          <a:solidFill>
            <a:srgbClr val="E9B85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7"/>
          <p:cNvSpPr/>
          <p:nvPr/>
        </p:nvSpPr>
        <p:spPr>
          <a:xfrm>
            <a:off x="8914805" y="8124825"/>
            <a:ext cx="458391" cy="323850"/>
          </a:xfrm>
          <a:prstGeom prst="rect">
            <a:avLst/>
          </a:prstGeom>
          <a:solidFill>
            <a:srgbClr val="7CD9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7"/>
          <p:cNvSpPr/>
          <p:nvPr/>
        </p:nvSpPr>
        <p:spPr>
          <a:xfrm>
            <a:off x="9373195" y="8124825"/>
            <a:ext cx="916632" cy="323850"/>
          </a:xfrm>
          <a:prstGeom prst="rect">
            <a:avLst/>
          </a:prstGeom>
          <a:solidFill>
            <a:srgbClr val="E9B85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7"/>
          <p:cNvSpPr/>
          <p:nvPr/>
        </p:nvSpPr>
        <p:spPr>
          <a:xfrm>
            <a:off x="10289828" y="8124825"/>
            <a:ext cx="2673697" cy="323850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7"/>
          <p:cNvSpPr/>
          <p:nvPr/>
        </p:nvSpPr>
        <p:spPr>
          <a:xfrm>
            <a:off x="8912423" y="8001000"/>
            <a:ext cx="38100" cy="571500"/>
          </a:xfrm>
          <a:prstGeom prst="rect">
            <a:avLst/>
          </a:prstGeom>
          <a:solidFill>
            <a:srgbClr val="FFF6E6"/>
          </a:solidFill>
          <a:ln>
            <a:noFill/>
          </a:ln>
          <a:effectLst>
            <a:outerShdw blurRad="114300" rotWithShape="0" algn="bl" dir="16200000" dist="50800">
              <a:srgbClr val="FFF6E6">
                <a:alpha val="8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7"/>
          <p:cNvSpPr/>
          <p:nvPr/>
        </p:nvSpPr>
        <p:spPr>
          <a:xfrm>
            <a:off x="5238750" y="8591550"/>
            <a:ext cx="816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MISS ×0.7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7"/>
          <p:cNvSpPr/>
          <p:nvPr/>
        </p:nvSpPr>
        <p:spPr>
          <a:xfrm>
            <a:off x="6906816" y="8591550"/>
            <a:ext cx="8498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GOOD ×1.0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7"/>
          <p:cNvSpPr/>
          <p:nvPr/>
        </p:nvSpPr>
        <p:spPr>
          <a:xfrm>
            <a:off x="8608665" y="8591550"/>
            <a:ext cx="10708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PERFECT ×1.3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7"/>
          <p:cNvSpPr/>
          <p:nvPr/>
        </p:nvSpPr>
        <p:spPr>
          <a:xfrm>
            <a:off x="10531376" y="8591550"/>
            <a:ext cx="8498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GOOD ×1.0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7"/>
          <p:cNvSpPr/>
          <p:nvPr/>
        </p:nvSpPr>
        <p:spPr>
          <a:xfrm>
            <a:off x="12233225" y="8591550"/>
            <a:ext cx="816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MISS ×0.7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7"/>
          <p:cNvSpPr/>
          <p:nvPr/>
        </p:nvSpPr>
        <p:spPr>
          <a:xfrm>
            <a:off x="0" y="9439275"/>
            <a:ext cx="18288000" cy="847725"/>
          </a:xfrm>
          <a:prstGeom prst="rect">
            <a:avLst/>
          </a:prstGeom>
          <a:gradFill>
            <a:gsLst>
              <a:gs pos="0">
                <a:srgbClr val="0C0804">
                  <a:alpha val="94118"/>
                </a:srgbClr>
              </a:gs>
              <a:gs pos="60000">
                <a:srgbClr val="0C0804">
                  <a:alpha val="60000"/>
                </a:srgbClr>
              </a:gs>
              <a:gs pos="100000">
                <a:srgbClr val="0C0804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7"/>
          <p:cNvSpPr/>
          <p:nvPr/>
        </p:nvSpPr>
        <p:spPr>
          <a:xfrm>
            <a:off x="0" y="9439275"/>
            <a:ext cx="18288000" cy="9525"/>
          </a:xfrm>
          <a:prstGeom prst="rect">
            <a:avLst/>
          </a:prstGeom>
          <a:solidFill>
            <a:srgbClr val="C6974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7"/>
          <p:cNvSpPr/>
          <p:nvPr/>
        </p:nvSpPr>
        <p:spPr>
          <a:xfrm>
            <a:off x="419100" y="9786938"/>
            <a:ext cx="6375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DISHES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7"/>
          <p:cNvSpPr/>
          <p:nvPr/>
        </p:nvSpPr>
        <p:spPr>
          <a:xfrm>
            <a:off x="1094780" y="9725025"/>
            <a:ext cx="285750" cy="285750"/>
          </a:xfrm>
          <a:prstGeom prst="ellipse">
            <a:avLst/>
          </a:prstGeom>
          <a:noFill/>
          <a:ln cap="flat" cmpd="sng" w="19050">
            <a:solidFill>
              <a:srgbClr val="F2E3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7"/>
          <p:cNvSpPr/>
          <p:nvPr/>
        </p:nvSpPr>
        <p:spPr>
          <a:xfrm>
            <a:off x="1447205" y="9725025"/>
            <a:ext cx="285750" cy="285750"/>
          </a:xfrm>
          <a:prstGeom prst="ellipse">
            <a:avLst/>
          </a:prstGeom>
          <a:noFill/>
          <a:ln cap="flat" cmpd="sng" w="19050">
            <a:solidFill>
              <a:srgbClr val="F2E3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7"/>
          <p:cNvSpPr/>
          <p:nvPr/>
        </p:nvSpPr>
        <p:spPr>
          <a:xfrm>
            <a:off x="1799630" y="9725025"/>
            <a:ext cx="285750" cy="285750"/>
          </a:xfrm>
          <a:prstGeom prst="ellipse">
            <a:avLst/>
          </a:prstGeom>
          <a:solidFill>
            <a:srgbClr val="F2E3CB">
              <a:alpha val="16078"/>
            </a:srgbClr>
          </a:solidFill>
          <a:ln cap="flat" cmpd="sng" w="19050">
            <a:solidFill>
              <a:srgbClr val="F2E3C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7"/>
          <p:cNvSpPr/>
          <p:nvPr/>
        </p:nvSpPr>
        <p:spPr>
          <a:xfrm>
            <a:off x="2152055" y="9725025"/>
            <a:ext cx="285750" cy="285750"/>
          </a:xfrm>
          <a:prstGeom prst="ellipse">
            <a:avLst/>
          </a:prstGeom>
          <a:solidFill>
            <a:srgbClr val="F2E3CB">
              <a:alpha val="16078"/>
            </a:srgbClr>
          </a:solidFill>
          <a:ln cap="flat" cmpd="sng" w="19050">
            <a:solidFill>
              <a:srgbClr val="F2E3C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7"/>
          <p:cNvSpPr/>
          <p:nvPr/>
        </p:nvSpPr>
        <p:spPr>
          <a:xfrm>
            <a:off x="2552105" y="9753600"/>
            <a:ext cx="37683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00"/>
              <a:buFont typeface="Oswald"/>
              <a:buNone/>
            </a:pPr>
            <a:r>
              <a:rPr b="1" i="0" lang="en-US" sz="120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2 /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7"/>
          <p:cNvSpPr/>
          <p:nvPr/>
        </p:nvSpPr>
        <p:spPr>
          <a:xfrm>
            <a:off x="3100388" y="9696450"/>
            <a:ext cx="9525" cy="342900"/>
          </a:xfrm>
          <a:prstGeom prst="rect">
            <a:avLst/>
          </a:prstGeom>
          <a:solidFill>
            <a:srgbClr val="C6974A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7"/>
          <p:cNvSpPr/>
          <p:nvPr/>
        </p:nvSpPr>
        <p:spPr>
          <a:xfrm>
            <a:off x="3357563" y="9786938"/>
            <a:ext cx="75426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HOLDING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7"/>
          <p:cNvSpPr/>
          <p:nvPr/>
        </p:nvSpPr>
        <p:spPr>
          <a:xfrm>
            <a:off x="4130873" y="9696450"/>
            <a:ext cx="342900" cy="342900"/>
          </a:xfrm>
          <a:prstGeom prst="rect">
            <a:avLst/>
          </a:prstGeom>
          <a:solidFill>
            <a:srgbClr val="F2E3CB">
              <a:alpha val="16078"/>
            </a:srgbClr>
          </a:solidFill>
          <a:ln cap="flat" cmpd="sng" w="9525">
            <a:solidFill>
              <a:srgbClr val="F2E3CB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7"/>
          <p:cNvSpPr/>
          <p:nvPr/>
        </p:nvSpPr>
        <p:spPr>
          <a:xfrm>
            <a:off x="4569023" y="9767888"/>
            <a:ext cx="571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Gothic A1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초콜렛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7"/>
          <p:cNvSpPr/>
          <p:nvPr/>
        </p:nvSpPr>
        <p:spPr>
          <a:xfrm>
            <a:off x="14489013" y="9686925"/>
            <a:ext cx="361950" cy="361950"/>
          </a:xfrm>
          <a:prstGeom prst="rect">
            <a:avLst/>
          </a:prstGeom>
          <a:noFill/>
          <a:ln cap="flat" cmpd="sng" w="19050">
            <a:solidFill>
              <a:srgbClr val="F2E3CB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7"/>
          <p:cNvSpPr/>
          <p:nvPr/>
        </p:nvSpPr>
        <p:spPr>
          <a:xfrm>
            <a:off x="14469963" y="9705975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F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7"/>
          <p:cNvSpPr/>
          <p:nvPr/>
        </p:nvSpPr>
        <p:spPr>
          <a:xfrm>
            <a:off x="14946213" y="9782175"/>
            <a:ext cx="183716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꺼내기 · 넣기 · 서빙 · 게이지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7"/>
          <p:cNvSpPr/>
          <p:nvPr/>
        </p:nvSpPr>
        <p:spPr>
          <a:xfrm>
            <a:off x="16825913" y="9686925"/>
            <a:ext cx="682079" cy="361950"/>
          </a:xfrm>
          <a:prstGeom prst="rect">
            <a:avLst/>
          </a:prstGeom>
          <a:noFill/>
          <a:ln cap="flat" cmpd="sng" w="19050">
            <a:solidFill>
              <a:srgbClr val="F2E3CB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7"/>
          <p:cNvSpPr/>
          <p:nvPr/>
        </p:nvSpPr>
        <p:spPr>
          <a:xfrm>
            <a:off x="16959263" y="9772650"/>
            <a:ext cx="4915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SPACE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7"/>
          <p:cNvSpPr/>
          <p:nvPr/>
        </p:nvSpPr>
        <p:spPr>
          <a:xfrm>
            <a:off x="17603242" y="9782175"/>
            <a:ext cx="34185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대시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805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0C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6E4A2B"/>
              </a:gs>
              <a:gs pos="48000">
                <a:srgbClr val="3A2515"/>
              </a:gs>
              <a:gs pos="88000">
                <a:srgbClr val="170E08"/>
              </a:gs>
              <a:gs pos="100000">
                <a:srgbClr val="170E0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8"/>
          <p:cNvSpPr/>
          <p:nvPr/>
        </p:nvSpPr>
        <p:spPr>
          <a:xfrm>
            <a:off x="457200" y="1095375"/>
            <a:ext cx="17373600" cy="9525"/>
          </a:xfrm>
          <a:prstGeom prst="rect">
            <a:avLst/>
          </a:prstGeom>
          <a:solidFill>
            <a:srgbClr val="C6974A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8"/>
          <p:cNvSpPr/>
          <p:nvPr/>
        </p:nvSpPr>
        <p:spPr>
          <a:xfrm>
            <a:off x="457200" y="674489"/>
            <a:ext cx="17826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INTERMISSION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8"/>
          <p:cNvSpPr/>
          <p:nvPr/>
        </p:nvSpPr>
        <p:spPr>
          <a:xfrm>
            <a:off x="2268289" y="483989"/>
            <a:ext cx="2469252" cy="478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3150"/>
              <a:buFont typeface="Gothic A1"/>
              <a:buNone/>
            </a:pPr>
            <a:r>
              <a:rPr b="1" i="0" lang="en-US" sz="31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DAY 04 정산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8"/>
          <p:cNvSpPr/>
          <p:nvPr/>
        </p:nvSpPr>
        <p:spPr>
          <a:xfrm>
            <a:off x="11345317" y="342900"/>
            <a:ext cx="1206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DAY 04 TARGET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8"/>
          <p:cNvSpPr/>
          <p:nvPr/>
        </p:nvSpPr>
        <p:spPr>
          <a:xfrm>
            <a:off x="11630025" y="495300"/>
            <a:ext cx="472678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2250"/>
              <a:buFont typeface="Oswald"/>
              <a:buNone/>
            </a:pPr>
            <a:r>
              <a:rPr b="1" i="0" lang="en-US" sz="225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775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8"/>
          <p:cNvSpPr/>
          <p:nvPr/>
        </p:nvSpPr>
        <p:spPr>
          <a:xfrm>
            <a:off x="12102703" y="638175"/>
            <a:ext cx="44916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350"/>
              <a:buFont typeface="Oswald"/>
              <a:buNone/>
            </a:pPr>
            <a:r>
              <a:rPr b="1" i="0" lang="en-US" sz="13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/ 700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12799516" y="381000"/>
            <a:ext cx="1719560" cy="542925"/>
          </a:xfrm>
          <a:prstGeom prst="rect">
            <a:avLst/>
          </a:prstGeom>
          <a:solidFill>
            <a:srgbClr val="7CD9A8">
              <a:alpha val="16078"/>
            </a:srgbClr>
          </a:solidFill>
          <a:ln cap="flat" cmpd="sng" w="9525">
            <a:solidFill>
              <a:srgbClr val="7CD9A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8"/>
          <p:cNvSpPr/>
          <p:nvPr/>
        </p:nvSpPr>
        <p:spPr>
          <a:xfrm>
            <a:off x="13018591" y="466725"/>
            <a:ext cx="140955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1950"/>
              <a:buFont typeface="Oswald"/>
              <a:buNone/>
            </a:pPr>
            <a:r>
              <a:rPr b="1" i="0" lang="en-US" sz="195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SUCCESS!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8"/>
          <p:cNvSpPr/>
          <p:nvPr/>
        </p:nvSpPr>
        <p:spPr>
          <a:xfrm>
            <a:off x="14766727" y="685800"/>
            <a:ext cx="2667000" cy="57150"/>
          </a:xfrm>
          <a:prstGeom prst="rect">
            <a:avLst/>
          </a:prstGeom>
          <a:solidFill>
            <a:srgbClr val="F2E3CB">
              <a:alpha val="1411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8"/>
          <p:cNvSpPr/>
          <p:nvPr/>
        </p:nvSpPr>
        <p:spPr>
          <a:xfrm>
            <a:off x="14766727" y="685800"/>
            <a:ext cx="1706761" cy="57150"/>
          </a:xfrm>
          <a:prstGeom prst="rect">
            <a:avLst/>
          </a:prstGeom>
          <a:solidFill>
            <a:srgbClr val="C69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8"/>
          <p:cNvSpPr/>
          <p:nvPr/>
        </p:nvSpPr>
        <p:spPr>
          <a:xfrm>
            <a:off x="17605177" y="504825"/>
            <a:ext cx="3018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7692"/>
              </a:lnSpc>
              <a:spcBef>
                <a:spcPts val="0"/>
              </a:spcBef>
              <a:spcAft>
                <a:spcPts val="0"/>
              </a:spcAft>
              <a:buClr>
                <a:srgbClr val="D9563F"/>
              </a:buClr>
              <a:buSzPts val="3300"/>
              <a:buFont typeface="Oswald"/>
              <a:buNone/>
            </a:pPr>
            <a:r>
              <a:rPr b="1" i="0" lang="en-US" sz="3300" u="none" cap="none" strike="noStrike">
                <a:solidFill>
                  <a:srgbClr val="D9563F"/>
                </a:solidFill>
                <a:latin typeface="Oswald"/>
                <a:ea typeface="Oswald"/>
                <a:cs typeface="Oswald"/>
                <a:sym typeface="Oswald"/>
              </a:rPr>
              <a:t>6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8"/>
          <p:cNvSpPr/>
          <p:nvPr/>
        </p:nvSpPr>
        <p:spPr>
          <a:xfrm>
            <a:off x="457200" y="1333500"/>
            <a:ext cx="4495800" cy="8724900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8"/>
          <p:cNvSpPr/>
          <p:nvPr/>
        </p:nvSpPr>
        <p:spPr>
          <a:xfrm>
            <a:off x="466725" y="1771650"/>
            <a:ext cx="4476750" cy="9525"/>
          </a:xfrm>
          <a:prstGeom prst="rect">
            <a:avLst/>
          </a:prstGeom>
          <a:solidFill>
            <a:srgbClr val="C6974A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8"/>
          <p:cNvSpPr/>
          <p:nvPr/>
        </p:nvSpPr>
        <p:spPr>
          <a:xfrm>
            <a:off x="676275" y="1476375"/>
            <a:ext cx="419195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TODAY’S TRADE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8"/>
          <p:cNvSpPr/>
          <p:nvPr/>
        </p:nvSpPr>
        <p:spPr>
          <a:xfrm>
            <a:off x="676275" y="1971675"/>
            <a:ext cx="1539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00"/>
              <a:buFont typeface="Gothic A1"/>
              <a:buNone/>
            </a:pPr>
            <a:r>
              <a:rPr b="1" i="0" lang="en-US" sz="12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판매 12잔 · Perfect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8"/>
          <p:cNvSpPr/>
          <p:nvPr/>
        </p:nvSpPr>
        <p:spPr>
          <a:xfrm>
            <a:off x="4367957" y="1971675"/>
            <a:ext cx="44216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425"/>
              <a:buFont typeface="Oswald"/>
              <a:buNone/>
            </a:pPr>
            <a:r>
              <a:rPr b="1" i="0" lang="en-US" sz="1425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+638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8"/>
          <p:cNvSpPr/>
          <p:nvPr/>
        </p:nvSpPr>
        <p:spPr>
          <a:xfrm>
            <a:off x="676275" y="2362200"/>
            <a:ext cx="8724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00"/>
              <a:buFont typeface="Gothic A1"/>
              <a:buNone/>
            </a:pPr>
            <a:r>
              <a:rPr b="1" i="0" lang="en-US" sz="12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예보 보너스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8"/>
          <p:cNvSpPr/>
          <p:nvPr/>
        </p:nvSpPr>
        <p:spPr>
          <a:xfrm>
            <a:off x="4457849" y="2362200"/>
            <a:ext cx="35227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1425"/>
              <a:buFont typeface="Oswald"/>
              <a:buNone/>
            </a:pPr>
            <a:r>
              <a:rPr b="1" i="0" lang="en-US" sz="1425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+96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8"/>
          <p:cNvSpPr/>
          <p:nvPr/>
        </p:nvSpPr>
        <p:spPr>
          <a:xfrm>
            <a:off x="676275" y="2752725"/>
            <a:ext cx="8843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00"/>
              <a:buFont typeface="Gothic A1"/>
              <a:buNone/>
            </a:pPr>
            <a:r>
              <a:rPr b="1" i="0" lang="en-US" sz="12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탄 것 판매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8"/>
          <p:cNvSpPr/>
          <p:nvPr/>
        </p:nvSpPr>
        <p:spPr>
          <a:xfrm>
            <a:off x="4491186" y="2752725"/>
            <a:ext cx="31893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E8A3F"/>
              </a:buClr>
              <a:buSzPts val="1425"/>
              <a:buFont typeface="Oswald"/>
              <a:buNone/>
            </a:pPr>
            <a:r>
              <a:rPr b="1" i="0" lang="en-US" sz="1425" u="none" cap="none" strike="noStrike">
                <a:solidFill>
                  <a:srgbClr val="DE8A3F"/>
                </a:solidFill>
                <a:latin typeface="Oswald"/>
                <a:ea typeface="Oswald"/>
                <a:cs typeface="Oswald"/>
                <a:sym typeface="Oswald"/>
              </a:rPr>
              <a:t>+41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8"/>
          <p:cNvSpPr/>
          <p:nvPr/>
        </p:nvSpPr>
        <p:spPr>
          <a:xfrm>
            <a:off x="676275" y="3143250"/>
            <a:ext cx="8471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00"/>
              <a:buFont typeface="Gothic A1"/>
              <a:buNone/>
            </a:pPr>
            <a:r>
              <a:rPr b="1" i="0" lang="en-US" sz="12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이탈 손님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8"/>
          <p:cNvSpPr/>
          <p:nvPr/>
        </p:nvSpPr>
        <p:spPr>
          <a:xfrm>
            <a:off x="4634359" y="3143250"/>
            <a:ext cx="17576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425"/>
              <a:buFont typeface="Oswald"/>
              <a:buNone/>
            </a:pPr>
            <a:r>
              <a:rPr b="1" i="0" lang="en-US" sz="142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0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8"/>
          <p:cNvSpPr/>
          <p:nvPr/>
        </p:nvSpPr>
        <p:spPr>
          <a:xfrm>
            <a:off x="676275" y="3571875"/>
            <a:ext cx="4057650" cy="9525"/>
          </a:xfrm>
          <a:prstGeom prst="rect">
            <a:avLst/>
          </a:prstGeom>
          <a:solidFill>
            <a:srgbClr val="C6974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8"/>
          <p:cNvSpPr/>
          <p:nvPr/>
        </p:nvSpPr>
        <p:spPr>
          <a:xfrm>
            <a:off x="676275" y="3905250"/>
            <a:ext cx="98196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오늘 매출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8"/>
          <p:cNvSpPr/>
          <p:nvPr/>
        </p:nvSpPr>
        <p:spPr>
          <a:xfrm>
            <a:off x="4311104" y="3743325"/>
            <a:ext cx="49902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2400"/>
              <a:buFont typeface="Oswald"/>
              <a:buNone/>
            </a:pPr>
            <a:r>
              <a:rPr b="1" i="0" lang="en-US" sz="240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775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8"/>
          <p:cNvSpPr/>
          <p:nvPr/>
        </p:nvSpPr>
        <p:spPr>
          <a:xfrm>
            <a:off x="676275" y="4476750"/>
            <a:ext cx="71720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임대료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8"/>
          <p:cNvSpPr/>
          <p:nvPr/>
        </p:nvSpPr>
        <p:spPr>
          <a:xfrm>
            <a:off x="4110186" y="4314825"/>
            <a:ext cx="69993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63F"/>
              </a:buClr>
              <a:buSzPts val="2400"/>
              <a:buFont typeface="Oswald"/>
              <a:buNone/>
            </a:pPr>
            <a:r>
              <a:rPr b="1" i="0" lang="en-US" sz="2400" u="none" cap="none" strike="noStrike">
                <a:solidFill>
                  <a:srgbClr val="D9563F"/>
                </a:solidFill>
                <a:latin typeface="Oswald"/>
                <a:ea typeface="Oswald"/>
                <a:cs typeface="Oswald"/>
                <a:sym typeface="Oswald"/>
              </a:rPr>
              <a:t>−250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8"/>
          <p:cNvSpPr/>
          <p:nvPr/>
        </p:nvSpPr>
        <p:spPr>
          <a:xfrm>
            <a:off x="466725" y="9134475"/>
            <a:ext cx="4476750" cy="9525"/>
          </a:xfrm>
          <a:prstGeom prst="rect">
            <a:avLst/>
          </a:prstGeom>
          <a:solidFill>
            <a:srgbClr val="C6974A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8"/>
          <p:cNvSpPr/>
          <p:nvPr/>
        </p:nvSpPr>
        <p:spPr>
          <a:xfrm>
            <a:off x="676275" y="9563100"/>
            <a:ext cx="167672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63F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D9563F"/>
                </a:solidFill>
                <a:latin typeface="Oswald"/>
                <a:ea typeface="Oswald"/>
                <a:cs typeface="Oswald"/>
                <a:sym typeface="Oswald"/>
              </a:rPr>
              <a:t>DEBT CARRIED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8"/>
          <p:cNvSpPr/>
          <p:nvPr/>
        </p:nvSpPr>
        <p:spPr>
          <a:xfrm>
            <a:off x="676275" y="9744075"/>
            <a:ext cx="167672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이자 없음 · 내일 임대료 380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8"/>
          <p:cNvSpPr/>
          <p:nvPr/>
        </p:nvSpPr>
        <p:spPr>
          <a:xfrm>
            <a:off x="4555778" y="9296400"/>
            <a:ext cx="2543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2550"/>
              <a:buFont typeface="Oswald"/>
              <a:buNone/>
            </a:pPr>
            <a:r>
              <a:rPr b="1" i="0" lang="en-US" sz="25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8"/>
          <p:cNvSpPr/>
          <p:nvPr/>
        </p:nvSpPr>
        <p:spPr>
          <a:xfrm>
            <a:off x="5181600" y="1333500"/>
            <a:ext cx="3924300" cy="8724900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8"/>
          <p:cNvSpPr/>
          <p:nvPr/>
        </p:nvSpPr>
        <p:spPr>
          <a:xfrm>
            <a:off x="5191125" y="1771650"/>
            <a:ext cx="3905250" cy="9525"/>
          </a:xfrm>
          <a:prstGeom prst="rect">
            <a:avLst/>
          </a:prstGeom>
          <a:solidFill>
            <a:srgbClr val="C6974A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8"/>
          <p:cNvSpPr/>
          <p:nvPr/>
        </p:nvSpPr>
        <p:spPr>
          <a:xfrm>
            <a:off x="5400675" y="1476375"/>
            <a:ext cx="360330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STANDINGS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8"/>
          <p:cNvSpPr/>
          <p:nvPr/>
        </p:nvSpPr>
        <p:spPr>
          <a:xfrm>
            <a:off x="5400675" y="1981200"/>
            <a:ext cx="133350" cy="47625"/>
          </a:xfrm>
          <a:prstGeom prst="rect">
            <a:avLst/>
          </a:prstGeom>
          <a:solidFill>
            <a:srgbClr val="C69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8"/>
          <p:cNvSpPr/>
          <p:nvPr/>
        </p:nvSpPr>
        <p:spPr>
          <a:xfrm>
            <a:off x="5591175" y="1933575"/>
            <a:ext cx="304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누적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8"/>
          <p:cNvSpPr/>
          <p:nvPr/>
        </p:nvSpPr>
        <p:spPr>
          <a:xfrm>
            <a:off x="5972175" y="1981200"/>
            <a:ext cx="133350" cy="47625"/>
          </a:xfrm>
          <a:prstGeom prst="rect">
            <a:avLst/>
          </a:prstGeom>
          <a:solidFill>
            <a:srgbClr val="7CAF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8"/>
          <p:cNvSpPr/>
          <p:nvPr/>
        </p:nvSpPr>
        <p:spPr>
          <a:xfrm>
            <a:off x="6162675" y="1933575"/>
            <a:ext cx="304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오늘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8"/>
          <p:cNvSpPr/>
          <p:nvPr/>
        </p:nvSpPr>
        <p:spPr>
          <a:xfrm>
            <a:off x="5400675" y="2362200"/>
            <a:ext cx="2393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8"/>
          <p:cNvSpPr/>
          <p:nvPr/>
        </p:nvSpPr>
        <p:spPr>
          <a:xfrm>
            <a:off x="5659041" y="2333625"/>
            <a:ext cx="85844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425"/>
              <a:buFont typeface="Gothic A1"/>
              <a:buNone/>
            </a:pPr>
            <a:r>
              <a:rPr b="1" i="0" lang="en-US" sz="14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늑대 소굴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8"/>
          <p:cNvSpPr/>
          <p:nvPr/>
        </p:nvSpPr>
        <p:spPr>
          <a:xfrm>
            <a:off x="8394948" y="2247900"/>
            <a:ext cx="5680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8,420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8"/>
          <p:cNvSpPr/>
          <p:nvPr/>
        </p:nvSpPr>
        <p:spPr>
          <a:xfrm>
            <a:off x="5400675" y="2638425"/>
            <a:ext cx="3486150" cy="57150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8"/>
          <p:cNvSpPr/>
          <p:nvPr/>
        </p:nvSpPr>
        <p:spPr>
          <a:xfrm>
            <a:off x="5400675" y="2638425"/>
            <a:ext cx="3486150" cy="57150"/>
          </a:xfrm>
          <a:prstGeom prst="rect">
            <a:avLst/>
          </a:prstGeom>
          <a:solidFill>
            <a:srgbClr val="E9B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8"/>
          <p:cNvSpPr/>
          <p:nvPr/>
        </p:nvSpPr>
        <p:spPr>
          <a:xfrm>
            <a:off x="5400675" y="2819400"/>
            <a:ext cx="2857500" cy="47625"/>
          </a:xfrm>
          <a:prstGeom prst="rect">
            <a:avLst/>
          </a:prstGeom>
          <a:solidFill>
            <a:srgbClr val="F2E3CB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8"/>
          <p:cNvSpPr/>
          <p:nvPr/>
        </p:nvSpPr>
        <p:spPr>
          <a:xfrm>
            <a:off x="5400675" y="2819400"/>
            <a:ext cx="2857500" cy="47625"/>
          </a:xfrm>
          <a:prstGeom prst="rect">
            <a:avLst/>
          </a:prstGeom>
          <a:solidFill>
            <a:srgbClr val="7CAF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8"/>
          <p:cNvSpPr/>
          <p:nvPr/>
        </p:nvSpPr>
        <p:spPr>
          <a:xfrm>
            <a:off x="8277225" y="2743200"/>
            <a:ext cx="609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AFD9"/>
              </a:buClr>
              <a:buSzPts val="1050"/>
              <a:buFont typeface="Oswald"/>
              <a:buNone/>
            </a:pPr>
            <a:r>
              <a:rPr b="1" i="0" lang="en-US" sz="1050" u="none" cap="none" strike="noStrike">
                <a:solidFill>
                  <a:srgbClr val="7CAFD9"/>
                </a:solidFill>
                <a:latin typeface="Oswald"/>
                <a:ea typeface="Oswald"/>
                <a:cs typeface="Oswald"/>
                <a:sym typeface="Oswald"/>
              </a:rPr>
              <a:t>775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8"/>
          <p:cNvSpPr/>
          <p:nvPr/>
        </p:nvSpPr>
        <p:spPr>
          <a:xfrm>
            <a:off x="5400675" y="3228975"/>
            <a:ext cx="25330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8"/>
          <p:cNvSpPr/>
          <p:nvPr/>
        </p:nvSpPr>
        <p:spPr>
          <a:xfrm>
            <a:off x="5673030" y="3200400"/>
            <a:ext cx="85844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425"/>
              <a:buFont typeface="Gothic A1"/>
              <a:buNone/>
            </a:pPr>
            <a:r>
              <a:rPr b="1" i="0" lang="en-US" sz="14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안개 등대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8"/>
          <p:cNvSpPr/>
          <p:nvPr/>
        </p:nvSpPr>
        <p:spPr>
          <a:xfrm>
            <a:off x="8404175" y="3114675"/>
            <a:ext cx="558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7,960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8"/>
          <p:cNvSpPr/>
          <p:nvPr/>
        </p:nvSpPr>
        <p:spPr>
          <a:xfrm>
            <a:off x="5400675" y="3505200"/>
            <a:ext cx="3486150" cy="57150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8"/>
          <p:cNvSpPr/>
          <p:nvPr/>
        </p:nvSpPr>
        <p:spPr>
          <a:xfrm>
            <a:off x="5400675" y="3505200"/>
            <a:ext cx="3311723" cy="57150"/>
          </a:xfrm>
          <a:prstGeom prst="rect">
            <a:avLst/>
          </a:prstGeom>
          <a:solidFill>
            <a:srgbClr val="F2E3C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8"/>
          <p:cNvSpPr/>
          <p:nvPr/>
        </p:nvSpPr>
        <p:spPr>
          <a:xfrm>
            <a:off x="5400675" y="3686175"/>
            <a:ext cx="2857500" cy="47625"/>
          </a:xfrm>
          <a:prstGeom prst="rect">
            <a:avLst/>
          </a:prstGeom>
          <a:solidFill>
            <a:srgbClr val="F2E3CB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8"/>
          <p:cNvSpPr/>
          <p:nvPr/>
        </p:nvSpPr>
        <p:spPr>
          <a:xfrm>
            <a:off x="5400675" y="3686175"/>
            <a:ext cx="2543175" cy="47625"/>
          </a:xfrm>
          <a:prstGeom prst="rect">
            <a:avLst/>
          </a:prstGeom>
          <a:solidFill>
            <a:srgbClr val="7CAF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8"/>
          <p:cNvSpPr/>
          <p:nvPr/>
        </p:nvSpPr>
        <p:spPr>
          <a:xfrm>
            <a:off x="8277225" y="3609975"/>
            <a:ext cx="609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AFD9"/>
              </a:buClr>
              <a:buSzPts val="1050"/>
              <a:buFont typeface="Oswald"/>
              <a:buNone/>
            </a:pPr>
            <a:r>
              <a:rPr b="1" i="0" lang="en-US" sz="1050" u="none" cap="none" strike="noStrike">
                <a:solidFill>
                  <a:srgbClr val="7CAFD9"/>
                </a:solidFill>
                <a:latin typeface="Oswald"/>
                <a:ea typeface="Oswald"/>
                <a:cs typeface="Oswald"/>
                <a:sym typeface="Oswald"/>
              </a:rPr>
              <a:t>690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8"/>
          <p:cNvSpPr/>
          <p:nvPr/>
        </p:nvSpPr>
        <p:spPr>
          <a:xfrm>
            <a:off x="5400675" y="4095750"/>
            <a:ext cx="25330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8"/>
          <p:cNvSpPr/>
          <p:nvPr/>
        </p:nvSpPr>
        <p:spPr>
          <a:xfrm>
            <a:off x="5673030" y="4067175"/>
            <a:ext cx="10429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425"/>
              <a:buFont typeface="Gothic A1"/>
              <a:buNone/>
            </a:pPr>
            <a:r>
              <a:rPr b="1" i="0" lang="en-US" sz="14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뼈다귀 클럽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8"/>
          <p:cNvSpPr/>
          <p:nvPr/>
        </p:nvSpPr>
        <p:spPr>
          <a:xfrm>
            <a:off x="8420546" y="3981450"/>
            <a:ext cx="5424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6,310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8"/>
          <p:cNvSpPr/>
          <p:nvPr/>
        </p:nvSpPr>
        <p:spPr>
          <a:xfrm>
            <a:off x="5400675" y="4371975"/>
            <a:ext cx="3486150" cy="57150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8"/>
          <p:cNvSpPr/>
          <p:nvPr/>
        </p:nvSpPr>
        <p:spPr>
          <a:xfrm>
            <a:off x="5400675" y="4371975"/>
            <a:ext cx="2614613" cy="57150"/>
          </a:xfrm>
          <a:prstGeom prst="rect">
            <a:avLst/>
          </a:prstGeom>
          <a:solidFill>
            <a:srgbClr val="F2E3C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8"/>
          <p:cNvSpPr/>
          <p:nvPr/>
        </p:nvSpPr>
        <p:spPr>
          <a:xfrm>
            <a:off x="5400675" y="4552950"/>
            <a:ext cx="2857500" cy="47625"/>
          </a:xfrm>
          <a:prstGeom prst="rect">
            <a:avLst/>
          </a:prstGeom>
          <a:solidFill>
            <a:srgbClr val="F2E3CB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8"/>
          <p:cNvSpPr/>
          <p:nvPr/>
        </p:nvSpPr>
        <p:spPr>
          <a:xfrm>
            <a:off x="5400675" y="4552950"/>
            <a:ext cx="2000250" cy="47625"/>
          </a:xfrm>
          <a:prstGeom prst="rect">
            <a:avLst/>
          </a:prstGeom>
          <a:solidFill>
            <a:srgbClr val="7CAF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8"/>
          <p:cNvSpPr/>
          <p:nvPr/>
        </p:nvSpPr>
        <p:spPr>
          <a:xfrm>
            <a:off x="8277225" y="4476750"/>
            <a:ext cx="609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AFD9"/>
              </a:buClr>
              <a:buSzPts val="1050"/>
              <a:buFont typeface="Oswald"/>
              <a:buNone/>
            </a:pPr>
            <a:r>
              <a:rPr b="1" i="0" lang="en-US" sz="1050" u="none" cap="none" strike="noStrike">
                <a:solidFill>
                  <a:srgbClr val="7CAFD9"/>
                </a:solidFill>
                <a:latin typeface="Oswald"/>
                <a:ea typeface="Oswald"/>
                <a:cs typeface="Oswald"/>
                <a:sym typeface="Oswald"/>
              </a:rPr>
              <a:t>540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8"/>
          <p:cNvSpPr/>
          <p:nvPr/>
        </p:nvSpPr>
        <p:spPr>
          <a:xfrm>
            <a:off x="5400675" y="4962525"/>
            <a:ext cx="25434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8"/>
          <p:cNvSpPr/>
          <p:nvPr/>
        </p:nvSpPr>
        <p:spPr>
          <a:xfrm>
            <a:off x="5674072" y="4933950"/>
            <a:ext cx="85844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425"/>
              <a:buFont typeface="Gothic A1"/>
              <a:buNone/>
            </a:pPr>
            <a:r>
              <a:rPr b="1" i="0" lang="en-US" sz="14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달빛 여관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8"/>
          <p:cNvSpPr/>
          <p:nvPr/>
        </p:nvSpPr>
        <p:spPr>
          <a:xfrm>
            <a:off x="8422035" y="4848225"/>
            <a:ext cx="5409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4,180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8"/>
          <p:cNvSpPr/>
          <p:nvPr/>
        </p:nvSpPr>
        <p:spPr>
          <a:xfrm>
            <a:off x="5400675" y="5238750"/>
            <a:ext cx="3486150" cy="57150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8"/>
          <p:cNvSpPr/>
          <p:nvPr/>
        </p:nvSpPr>
        <p:spPr>
          <a:xfrm>
            <a:off x="5400675" y="5238750"/>
            <a:ext cx="1743075" cy="57150"/>
          </a:xfrm>
          <a:prstGeom prst="rect">
            <a:avLst/>
          </a:prstGeom>
          <a:solidFill>
            <a:srgbClr val="F2E3C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8"/>
          <p:cNvSpPr/>
          <p:nvPr/>
        </p:nvSpPr>
        <p:spPr>
          <a:xfrm>
            <a:off x="5400675" y="5419725"/>
            <a:ext cx="2857500" cy="47625"/>
          </a:xfrm>
          <a:prstGeom prst="rect">
            <a:avLst/>
          </a:prstGeom>
          <a:solidFill>
            <a:srgbClr val="F2E3CB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8"/>
          <p:cNvSpPr/>
          <p:nvPr/>
        </p:nvSpPr>
        <p:spPr>
          <a:xfrm>
            <a:off x="5400675" y="5419725"/>
            <a:ext cx="1171575" cy="47625"/>
          </a:xfrm>
          <a:prstGeom prst="rect">
            <a:avLst/>
          </a:prstGeom>
          <a:solidFill>
            <a:srgbClr val="7CAF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8"/>
          <p:cNvSpPr/>
          <p:nvPr/>
        </p:nvSpPr>
        <p:spPr>
          <a:xfrm>
            <a:off x="8277225" y="5343525"/>
            <a:ext cx="609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AFD9"/>
              </a:buClr>
              <a:buSzPts val="1050"/>
              <a:buFont typeface="Oswald"/>
              <a:buNone/>
            </a:pPr>
            <a:r>
              <a:rPr b="1" i="0" lang="en-US" sz="1050" u="none" cap="none" strike="noStrike">
                <a:solidFill>
                  <a:srgbClr val="7CAFD9"/>
                </a:solidFill>
                <a:latin typeface="Oswald"/>
                <a:ea typeface="Oswald"/>
                <a:cs typeface="Oswald"/>
                <a:sym typeface="Oswald"/>
              </a:rPr>
              <a:t>320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8"/>
          <p:cNvSpPr/>
          <p:nvPr/>
        </p:nvSpPr>
        <p:spPr>
          <a:xfrm>
            <a:off x="5191125" y="9524107"/>
            <a:ext cx="3905250" cy="9525"/>
          </a:xfrm>
          <a:prstGeom prst="rect">
            <a:avLst/>
          </a:prstGeom>
          <a:solidFill>
            <a:srgbClr val="C6974A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8"/>
          <p:cNvSpPr/>
          <p:nvPr/>
        </p:nvSpPr>
        <p:spPr>
          <a:xfrm>
            <a:off x="5400675" y="9686032"/>
            <a:ext cx="3603307" cy="2485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125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공개되는 것은 매출뿐. 보유 재료 · 설비 · 캐릭터는 비공개.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8"/>
          <p:cNvSpPr/>
          <p:nvPr/>
        </p:nvSpPr>
        <p:spPr>
          <a:xfrm>
            <a:off x="9334500" y="1333500"/>
            <a:ext cx="8496300" cy="7296150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8"/>
          <p:cNvSpPr/>
          <p:nvPr/>
        </p:nvSpPr>
        <p:spPr>
          <a:xfrm>
            <a:off x="9344025" y="1781175"/>
            <a:ext cx="8477250" cy="9525"/>
          </a:xfrm>
          <a:prstGeom prst="rect">
            <a:avLst/>
          </a:prstGeom>
          <a:solidFill>
            <a:srgbClr val="C6974A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8"/>
          <p:cNvSpPr/>
          <p:nvPr/>
        </p:nvSpPr>
        <p:spPr>
          <a:xfrm>
            <a:off x="9572625" y="1476375"/>
            <a:ext cx="198532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TOMORROW’S GUESTS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"/>
          <p:cNvSpPr/>
          <p:nvPr/>
        </p:nvSpPr>
        <p:spPr>
          <a:xfrm>
            <a:off x="15034320" y="1504950"/>
            <a:ext cx="281419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어느 박스에 그 재료가 들었는지는 알려주지 않는다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8"/>
          <p:cNvSpPr/>
          <p:nvPr/>
        </p:nvSpPr>
        <p:spPr>
          <a:xfrm>
            <a:off x="9344025" y="1790700"/>
            <a:ext cx="8477250" cy="1409700"/>
          </a:xfrm>
          <a:prstGeom prst="rect">
            <a:avLst/>
          </a:prstGeom>
          <a:solidFill>
            <a:srgbClr val="C6974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8"/>
          <p:cNvSpPr/>
          <p:nvPr/>
        </p:nvSpPr>
        <p:spPr>
          <a:xfrm>
            <a:off x="9344025" y="1790700"/>
            <a:ext cx="1051322" cy="1409700"/>
          </a:xfrm>
          <a:prstGeom prst="rect">
            <a:avLst/>
          </a:prstGeom>
          <a:solidFill>
            <a:srgbClr val="180F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8"/>
          <p:cNvSpPr/>
          <p:nvPr/>
        </p:nvSpPr>
        <p:spPr>
          <a:xfrm>
            <a:off x="9641086" y="1943100"/>
            <a:ext cx="457200" cy="45720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8"/>
          <p:cNvSpPr/>
          <p:nvPr/>
        </p:nvSpPr>
        <p:spPr>
          <a:xfrm>
            <a:off x="9520833" y="2476500"/>
            <a:ext cx="6977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00"/>
              <a:buFont typeface="Gothic A1"/>
              <a:buNone/>
            </a:pPr>
            <a:r>
              <a:rPr b="1" i="0" lang="en-US" sz="12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뱀파이어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8"/>
          <p:cNvSpPr/>
          <p:nvPr/>
        </p:nvSpPr>
        <p:spPr>
          <a:xfrm>
            <a:off x="9764762" y="2743200"/>
            <a:ext cx="28589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×2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8"/>
          <p:cNvSpPr/>
          <p:nvPr/>
        </p:nvSpPr>
        <p:spPr>
          <a:xfrm>
            <a:off x="10404872" y="1790700"/>
            <a:ext cx="1051322" cy="1409700"/>
          </a:xfrm>
          <a:prstGeom prst="rect">
            <a:avLst/>
          </a:prstGeom>
          <a:solidFill>
            <a:srgbClr val="180F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8"/>
          <p:cNvSpPr/>
          <p:nvPr/>
        </p:nvSpPr>
        <p:spPr>
          <a:xfrm>
            <a:off x="10701933" y="1943100"/>
            <a:ext cx="457200" cy="45720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8"/>
          <p:cNvSpPr/>
          <p:nvPr/>
        </p:nvSpPr>
        <p:spPr>
          <a:xfrm>
            <a:off x="10737056" y="2476500"/>
            <a:ext cx="3869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00"/>
              <a:buFont typeface="Gothic A1"/>
              <a:buNone/>
            </a:pPr>
            <a:r>
              <a:rPr b="1" i="0" lang="en-US" sz="12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유령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8"/>
          <p:cNvSpPr/>
          <p:nvPr/>
        </p:nvSpPr>
        <p:spPr>
          <a:xfrm>
            <a:off x="10825609" y="2743200"/>
            <a:ext cx="28589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×2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8"/>
          <p:cNvSpPr/>
          <p:nvPr/>
        </p:nvSpPr>
        <p:spPr>
          <a:xfrm>
            <a:off x="11465719" y="1790700"/>
            <a:ext cx="1051322" cy="1409700"/>
          </a:xfrm>
          <a:prstGeom prst="rect">
            <a:avLst/>
          </a:prstGeom>
          <a:solidFill>
            <a:srgbClr val="180F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8"/>
          <p:cNvSpPr/>
          <p:nvPr/>
        </p:nvSpPr>
        <p:spPr>
          <a:xfrm>
            <a:off x="11762780" y="1943100"/>
            <a:ext cx="457200" cy="45720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8"/>
          <p:cNvSpPr/>
          <p:nvPr/>
        </p:nvSpPr>
        <p:spPr>
          <a:xfrm>
            <a:off x="11797903" y="2476500"/>
            <a:ext cx="3869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00"/>
              <a:buFont typeface="Gothic A1"/>
              <a:buNone/>
            </a:pPr>
            <a:r>
              <a:rPr b="1" i="0" lang="en-US" sz="12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마녀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8"/>
          <p:cNvSpPr/>
          <p:nvPr/>
        </p:nvSpPr>
        <p:spPr>
          <a:xfrm>
            <a:off x="11899999" y="2743200"/>
            <a:ext cx="2589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×1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8"/>
          <p:cNvSpPr/>
          <p:nvPr/>
        </p:nvSpPr>
        <p:spPr>
          <a:xfrm>
            <a:off x="12526566" y="1790700"/>
            <a:ext cx="1051322" cy="1409700"/>
          </a:xfrm>
          <a:prstGeom prst="rect">
            <a:avLst/>
          </a:prstGeom>
          <a:solidFill>
            <a:srgbClr val="180F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8"/>
          <p:cNvSpPr/>
          <p:nvPr/>
        </p:nvSpPr>
        <p:spPr>
          <a:xfrm>
            <a:off x="12823627" y="1943100"/>
            <a:ext cx="457200" cy="45720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8"/>
          <p:cNvSpPr/>
          <p:nvPr/>
        </p:nvSpPr>
        <p:spPr>
          <a:xfrm>
            <a:off x="12858750" y="2476500"/>
            <a:ext cx="3869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00"/>
              <a:buFont typeface="Gothic A1"/>
              <a:buNone/>
            </a:pPr>
            <a:r>
              <a:rPr b="1" i="0" lang="en-US" sz="12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좀비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8"/>
          <p:cNvSpPr/>
          <p:nvPr/>
        </p:nvSpPr>
        <p:spPr>
          <a:xfrm>
            <a:off x="12947303" y="2743200"/>
            <a:ext cx="28589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×3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8"/>
          <p:cNvSpPr/>
          <p:nvPr/>
        </p:nvSpPr>
        <p:spPr>
          <a:xfrm>
            <a:off x="13587413" y="1790700"/>
            <a:ext cx="1051322" cy="1409700"/>
          </a:xfrm>
          <a:prstGeom prst="rect">
            <a:avLst/>
          </a:prstGeom>
          <a:solidFill>
            <a:srgbClr val="180F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8"/>
          <p:cNvSpPr/>
          <p:nvPr/>
        </p:nvSpPr>
        <p:spPr>
          <a:xfrm>
            <a:off x="13884473" y="1943100"/>
            <a:ext cx="457200" cy="45720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8"/>
          <p:cNvSpPr/>
          <p:nvPr/>
        </p:nvSpPr>
        <p:spPr>
          <a:xfrm>
            <a:off x="13764220" y="2476500"/>
            <a:ext cx="6977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00"/>
              <a:buFont typeface="Gothic A1"/>
              <a:buNone/>
            </a:pPr>
            <a:r>
              <a:rPr b="1" i="0" lang="en-US" sz="12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늑대인간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8"/>
          <p:cNvSpPr/>
          <p:nvPr/>
        </p:nvSpPr>
        <p:spPr>
          <a:xfrm>
            <a:off x="14008150" y="2743200"/>
            <a:ext cx="28589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×2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8"/>
          <p:cNvSpPr/>
          <p:nvPr/>
        </p:nvSpPr>
        <p:spPr>
          <a:xfrm>
            <a:off x="14648259" y="1790700"/>
            <a:ext cx="1051322" cy="1409700"/>
          </a:xfrm>
          <a:prstGeom prst="rect">
            <a:avLst/>
          </a:prstGeom>
          <a:solidFill>
            <a:srgbClr val="180F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8"/>
          <p:cNvSpPr/>
          <p:nvPr/>
        </p:nvSpPr>
        <p:spPr>
          <a:xfrm>
            <a:off x="14945320" y="1943100"/>
            <a:ext cx="457200" cy="45720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8"/>
          <p:cNvSpPr/>
          <p:nvPr/>
        </p:nvSpPr>
        <p:spPr>
          <a:xfrm>
            <a:off x="14980444" y="2476500"/>
            <a:ext cx="3869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00"/>
              <a:buFont typeface="Gothic A1"/>
              <a:buNone/>
            </a:pPr>
            <a:r>
              <a:rPr b="1" i="0" lang="en-US" sz="12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해골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8"/>
          <p:cNvSpPr/>
          <p:nvPr/>
        </p:nvSpPr>
        <p:spPr>
          <a:xfrm>
            <a:off x="15082540" y="2743200"/>
            <a:ext cx="2589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×1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8"/>
          <p:cNvSpPr/>
          <p:nvPr/>
        </p:nvSpPr>
        <p:spPr>
          <a:xfrm>
            <a:off x="15709106" y="1790700"/>
            <a:ext cx="1051322" cy="1409700"/>
          </a:xfrm>
          <a:prstGeom prst="rect">
            <a:avLst/>
          </a:prstGeom>
          <a:solidFill>
            <a:srgbClr val="180F09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8"/>
          <p:cNvSpPr/>
          <p:nvPr/>
        </p:nvSpPr>
        <p:spPr>
          <a:xfrm>
            <a:off x="16006167" y="1943100"/>
            <a:ext cx="457200" cy="457200"/>
          </a:xfrm>
          <a:prstGeom prst="rect">
            <a:avLst/>
          </a:prstGeom>
          <a:solidFill>
            <a:srgbClr val="F2E3CB">
              <a:alpha val="3137"/>
            </a:srgbClr>
          </a:solidFill>
          <a:ln cap="flat" cmpd="sng" w="9525">
            <a:solidFill>
              <a:srgbClr val="F2E3CB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8"/>
          <p:cNvSpPr/>
          <p:nvPr/>
        </p:nvSpPr>
        <p:spPr>
          <a:xfrm>
            <a:off x="16118384" y="2476500"/>
            <a:ext cx="23276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00"/>
              <a:buFont typeface="Gothic A1"/>
              <a:buNone/>
            </a:pPr>
            <a:r>
              <a:rPr b="1" i="0" lang="en-US" sz="12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8"/>
          <p:cNvSpPr/>
          <p:nvPr/>
        </p:nvSpPr>
        <p:spPr>
          <a:xfrm>
            <a:off x="16126123" y="2743200"/>
            <a:ext cx="2934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×0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8"/>
          <p:cNvSpPr/>
          <p:nvPr/>
        </p:nvSpPr>
        <p:spPr>
          <a:xfrm>
            <a:off x="16769953" y="1790700"/>
            <a:ext cx="1051322" cy="1409700"/>
          </a:xfrm>
          <a:prstGeom prst="rect">
            <a:avLst/>
          </a:prstGeom>
          <a:solidFill>
            <a:srgbClr val="180F09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8"/>
          <p:cNvSpPr/>
          <p:nvPr/>
        </p:nvSpPr>
        <p:spPr>
          <a:xfrm>
            <a:off x="17067014" y="1943100"/>
            <a:ext cx="457200" cy="457200"/>
          </a:xfrm>
          <a:prstGeom prst="rect">
            <a:avLst/>
          </a:prstGeom>
          <a:solidFill>
            <a:srgbClr val="F2E3CB">
              <a:alpha val="3137"/>
            </a:srgbClr>
          </a:solidFill>
          <a:ln cap="flat" cmpd="sng" w="9525">
            <a:solidFill>
              <a:srgbClr val="F2E3CB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8"/>
          <p:cNvSpPr/>
          <p:nvPr/>
        </p:nvSpPr>
        <p:spPr>
          <a:xfrm>
            <a:off x="17179230" y="2476500"/>
            <a:ext cx="23276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00"/>
              <a:buFont typeface="Gothic A1"/>
              <a:buNone/>
            </a:pPr>
            <a:r>
              <a:rPr b="1" i="0" lang="en-US" sz="12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8"/>
          <p:cNvSpPr/>
          <p:nvPr/>
        </p:nvSpPr>
        <p:spPr>
          <a:xfrm>
            <a:off x="17186970" y="2743200"/>
            <a:ext cx="2934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650"/>
              <a:buFont typeface="Oswald"/>
              <a:buNone/>
            </a:pPr>
            <a:r>
              <a:rPr b="1" i="0" lang="en-US" sz="165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×0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8"/>
          <p:cNvSpPr/>
          <p:nvPr/>
        </p:nvSpPr>
        <p:spPr>
          <a:xfrm>
            <a:off x="9344025" y="3200400"/>
            <a:ext cx="8477250" cy="9525"/>
          </a:xfrm>
          <a:prstGeom prst="rect">
            <a:avLst/>
          </a:prstGeom>
          <a:solidFill>
            <a:srgbClr val="C6974A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8"/>
          <p:cNvSpPr/>
          <p:nvPr/>
        </p:nvSpPr>
        <p:spPr>
          <a:xfrm>
            <a:off x="9572625" y="3529013"/>
            <a:ext cx="152038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HOT INGREDIENTS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8"/>
          <p:cNvSpPr/>
          <p:nvPr/>
        </p:nvSpPr>
        <p:spPr>
          <a:xfrm>
            <a:off x="11145292" y="3381375"/>
            <a:ext cx="2060228" cy="457200"/>
          </a:xfrm>
          <a:prstGeom prst="rect">
            <a:avLst/>
          </a:prstGeom>
          <a:noFill/>
          <a:ln cap="flat" cmpd="sng" w="9525">
            <a:solidFill>
              <a:srgbClr val="7CD9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8"/>
          <p:cNvSpPr/>
          <p:nvPr/>
        </p:nvSpPr>
        <p:spPr>
          <a:xfrm>
            <a:off x="11269117" y="3476625"/>
            <a:ext cx="266700" cy="26670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8"/>
          <p:cNvSpPr/>
          <p:nvPr/>
        </p:nvSpPr>
        <p:spPr>
          <a:xfrm>
            <a:off x="11631067" y="3500438"/>
            <a:ext cx="60067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350"/>
              <a:buFont typeface="Gothic A1"/>
              <a:buNone/>
            </a:pPr>
            <a:r>
              <a:rPr b="1" i="0" lang="en-US" sz="13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초콜렛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8"/>
          <p:cNvSpPr/>
          <p:nvPr/>
        </p:nvSpPr>
        <p:spPr>
          <a:xfrm>
            <a:off x="12649795" y="3486150"/>
            <a:ext cx="5080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1350"/>
              <a:buFont typeface="Oswald"/>
              <a:buNone/>
            </a:pPr>
            <a:r>
              <a:rPr b="1" i="0" lang="en-US" sz="135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+30%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8"/>
          <p:cNvSpPr/>
          <p:nvPr/>
        </p:nvSpPr>
        <p:spPr>
          <a:xfrm>
            <a:off x="13338870" y="3381375"/>
            <a:ext cx="2060228" cy="457200"/>
          </a:xfrm>
          <a:prstGeom prst="rect">
            <a:avLst/>
          </a:prstGeom>
          <a:noFill/>
          <a:ln cap="flat" cmpd="sng" w="9525">
            <a:solidFill>
              <a:srgbClr val="7CD9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8"/>
          <p:cNvSpPr/>
          <p:nvPr/>
        </p:nvSpPr>
        <p:spPr>
          <a:xfrm>
            <a:off x="13462695" y="3476625"/>
            <a:ext cx="266700" cy="26670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8"/>
          <p:cNvSpPr/>
          <p:nvPr/>
        </p:nvSpPr>
        <p:spPr>
          <a:xfrm>
            <a:off x="13824645" y="3500438"/>
            <a:ext cx="42579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350"/>
              <a:buFont typeface="Gothic A1"/>
              <a:buNone/>
            </a:pPr>
            <a:r>
              <a:rPr b="1" i="0" lang="en-US" sz="13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얼음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8"/>
          <p:cNvSpPr/>
          <p:nvPr/>
        </p:nvSpPr>
        <p:spPr>
          <a:xfrm>
            <a:off x="14843373" y="3486150"/>
            <a:ext cx="5080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1350"/>
              <a:buFont typeface="Oswald"/>
              <a:buNone/>
            </a:pPr>
            <a:r>
              <a:rPr b="1" i="0" lang="en-US" sz="135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+30%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8"/>
          <p:cNvSpPr/>
          <p:nvPr/>
        </p:nvSpPr>
        <p:spPr>
          <a:xfrm>
            <a:off x="15532447" y="3381375"/>
            <a:ext cx="2060228" cy="457200"/>
          </a:xfrm>
          <a:prstGeom prst="rect">
            <a:avLst/>
          </a:prstGeom>
          <a:noFill/>
          <a:ln cap="flat" cmpd="sng" w="9525">
            <a:solidFill>
              <a:srgbClr val="7CD9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8"/>
          <p:cNvSpPr/>
          <p:nvPr/>
        </p:nvSpPr>
        <p:spPr>
          <a:xfrm>
            <a:off x="15656272" y="3476625"/>
            <a:ext cx="266700" cy="26670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8"/>
          <p:cNvSpPr/>
          <p:nvPr/>
        </p:nvSpPr>
        <p:spPr>
          <a:xfrm>
            <a:off x="16018222" y="3500438"/>
            <a:ext cx="42579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350"/>
              <a:buFont typeface="Gothic A1"/>
              <a:buNone/>
            </a:pPr>
            <a:r>
              <a:rPr b="1" i="0" lang="en-US" sz="13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베리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8"/>
          <p:cNvSpPr/>
          <p:nvPr/>
        </p:nvSpPr>
        <p:spPr>
          <a:xfrm>
            <a:off x="17036951" y="3486150"/>
            <a:ext cx="5080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1350"/>
              <a:buFont typeface="Oswald"/>
              <a:buNone/>
            </a:pPr>
            <a:r>
              <a:rPr b="1" i="0" lang="en-US" sz="135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+30%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8"/>
          <p:cNvSpPr/>
          <p:nvPr/>
        </p:nvSpPr>
        <p:spPr>
          <a:xfrm>
            <a:off x="9334500" y="8801100"/>
            <a:ext cx="8496300" cy="1257300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8"/>
          <p:cNvSpPr/>
          <p:nvPr/>
        </p:nvSpPr>
        <p:spPr>
          <a:xfrm>
            <a:off x="9572625" y="8982075"/>
            <a:ext cx="79504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PENALTY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8"/>
          <p:cNvSpPr/>
          <p:nvPr/>
        </p:nvSpPr>
        <p:spPr>
          <a:xfrm>
            <a:off x="10443865" y="9010650"/>
            <a:ext cx="20999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7CD9A8"/>
                </a:solidFill>
                <a:latin typeface="Gothic A1"/>
                <a:ea typeface="Gothic A1"/>
                <a:cs typeface="Gothic A1"/>
                <a:sym typeface="Gothic A1"/>
              </a:rPr>
              <a:t>목표 달성 — 패널티 적용 받지 않음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8"/>
          <p:cNvSpPr/>
          <p:nvPr/>
        </p:nvSpPr>
        <p:spPr>
          <a:xfrm>
            <a:off x="16114812" y="9010650"/>
            <a:ext cx="16256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Gothic A1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연속 미달 시 단계가 강화된다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8"/>
          <p:cNvSpPr/>
          <p:nvPr/>
        </p:nvSpPr>
        <p:spPr>
          <a:xfrm>
            <a:off x="9572625" y="9296400"/>
            <a:ext cx="2597051" cy="581025"/>
          </a:xfrm>
          <a:prstGeom prst="rect">
            <a:avLst/>
          </a:prstGeom>
          <a:noFill/>
          <a:ln cap="flat" cmpd="sng" w="9525">
            <a:solidFill>
              <a:srgbClr val="F2E3CB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8"/>
          <p:cNvSpPr/>
          <p:nvPr/>
        </p:nvSpPr>
        <p:spPr>
          <a:xfrm>
            <a:off x="9715500" y="9410700"/>
            <a:ext cx="254243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STAGE 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8"/>
          <p:cNvSpPr/>
          <p:nvPr/>
        </p:nvSpPr>
        <p:spPr>
          <a:xfrm>
            <a:off x="9715500" y="9582150"/>
            <a:ext cx="25424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제작 속도 −10%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8"/>
          <p:cNvSpPr/>
          <p:nvPr/>
        </p:nvSpPr>
        <p:spPr>
          <a:xfrm>
            <a:off x="12283976" y="9296400"/>
            <a:ext cx="2597200" cy="581025"/>
          </a:xfrm>
          <a:prstGeom prst="rect">
            <a:avLst/>
          </a:prstGeom>
          <a:noFill/>
          <a:ln cap="flat" cmpd="sng" w="9525">
            <a:solidFill>
              <a:srgbClr val="F2E3CB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8"/>
          <p:cNvSpPr/>
          <p:nvPr/>
        </p:nvSpPr>
        <p:spPr>
          <a:xfrm>
            <a:off x="12426851" y="9410700"/>
            <a:ext cx="254259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STAGE 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8"/>
          <p:cNvSpPr/>
          <p:nvPr/>
        </p:nvSpPr>
        <p:spPr>
          <a:xfrm>
            <a:off x="12426851" y="9582150"/>
            <a:ext cx="254259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그릇 1개 압류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8"/>
          <p:cNvSpPr/>
          <p:nvPr/>
        </p:nvSpPr>
        <p:spPr>
          <a:xfrm>
            <a:off x="14995475" y="9296400"/>
            <a:ext cx="2597200" cy="581025"/>
          </a:xfrm>
          <a:prstGeom prst="rect">
            <a:avLst/>
          </a:prstGeom>
          <a:noFill/>
          <a:ln cap="flat" cmpd="sng" w="9525">
            <a:solidFill>
              <a:srgbClr val="F2E3CB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8"/>
          <p:cNvSpPr/>
          <p:nvPr/>
        </p:nvSpPr>
        <p:spPr>
          <a:xfrm>
            <a:off x="15138350" y="9410700"/>
            <a:ext cx="254259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STAGE 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8"/>
          <p:cNvSpPr/>
          <p:nvPr/>
        </p:nvSpPr>
        <p:spPr>
          <a:xfrm>
            <a:off x="15138350" y="9582150"/>
            <a:ext cx="254259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125"/>
              <a:buFont typeface="Gothic A1"/>
              <a:buNone/>
            </a:pPr>
            <a:r>
              <a:rPr b="1" i="0" lang="en-US" sz="112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손님 대기 −1칸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805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0C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6E4A2B"/>
              </a:gs>
              <a:gs pos="48000">
                <a:srgbClr val="3A2515"/>
              </a:gs>
              <a:gs pos="88000">
                <a:srgbClr val="170E08"/>
              </a:gs>
              <a:gs pos="100000">
                <a:srgbClr val="170E08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9"/>
          <p:cNvSpPr/>
          <p:nvPr/>
        </p:nvSpPr>
        <p:spPr>
          <a:xfrm>
            <a:off x="457200" y="942975"/>
            <a:ext cx="17373600" cy="9525"/>
          </a:xfrm>
          <a:prstGeom prst="rect">
            <a:avLst/>
          </a:prstGeom>
          <a:solidFill>
            <a:srgbClr val="C6974A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9"/>
          <p:cNvSpPr/>
          <p:nvPr/>
        </p:nvSpPr>
        <p:spPr>
          <a:xfrm>
            <a:off x="457200" y="571500"/>
            <a:ext cx="236218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FACILITY UPGRADE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9"/>
          <p:cNvSpPr/>
          <p:nvPr/>
        </p:nvSpPr>
        <p:spPr>
          <a:xfrm>
            <a:off x="2795141" y="600075"/>
            <a:ext cx="285921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업그레이드 재료는 3등급 박스에서만 나온다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9"/>
          <p:cNvSpPr/>
          <p:nvPr/>
        </p:nvSpPr>
        <p:spPr>
          <a:xfrm>
            <a:off x="16730365" y="433388"/>
            <a:ext cx="247650" cy="247650"/>
          </a:xfrm>
          <a:prstGeom prst="rect">
            <a:avLst/>
          </a:prstGeom>
          <a:solidFill>
            <a:srgbClr val="A46EE8">
              <a:alpha val="16078"/>
            </a:srgbClr>
          </a:solidFill>
          <a:ln cap="flat" cmpd="sng" w="9525">
            <a:solidFill>
              <a:srgbClr val="A46EE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9"/>
          <p:cNvSpPr/>
          <p:nvPr/>
        </p:nvSpPr>
        <p:spPr>
          <a:xfrm>
            <a:off x="17092315" y="342900"/>
            <a:ext cx="3619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2250"/>
              <a:buFont typeface="Oswald"/>
              <a:buNone/>
            </a:pPr>
            <a:r>
              <a:rPr b="1" i="0" lang="en-US" sz="22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×2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9"/>
          <p:cNvSpPr/>
          <p:nvPr/>
        </p:nvSpPr>
        <p:spPr>
          <a:xfrm>
            <a:off x="17625715" y="366713"/>
            <a:ext cx="28128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667"/>
              </a:lnSpc>
              <a:spcBef>
                <a:spcPts val="0"/>
              </a:spcBef>
              <a:spcAft>
                <a:spcPts val="0"/>
              </a:spcAft>
              <a:buClr>
                <a:srgbClr val="D9563F"/>
              </a:buClr>
              <a:buSzPts val="3000"/>
              <a:buFont typeface="Oswald"/>
              <a:buNone/>
            </a:pPr>
            <a:r>
              <a:rPr b="1" i="0" lang="en-US" sz="3000" u="none" cap="none" strike="noStrike">
                <a:solidFill>
                  <a:srgbClr val="D9563F"/>
                </a:solidFill>
                <a:latin typeface="Oswald"/>
                <a:ea typeface="Oswald"/>
                <a:cs typeface="Oswald"/>
                <a:sym typeface="Oswald"/>
              </a:rPr>
              <a:t>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9"/>
          <p:cNvSpPr/>
          <p:nvPr/>
        </p:nvSpPr>
        <p:spPr>
          <a:xfrm>
            <a:off x="457200" y="1181100"/>
            <a:ext cx="3886200" cy="2857500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7CD9A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9"/>
          <p:cNvSpPr/>
          <p:nvPr/>
        </p:nvSpPr>
        <p:spPr>
          <a:xfrm>
            <a:off x="638175" y="1343025"/>
            <a:ext cx="438150" cy="43815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9"/>
          <p:cNvSpPr/>
          <p:nvPr/>
        </p:nvSpPr>
        <p:spPr>
          <a:xfrm>
            <a:off x="1190625" y="1428750"/>
            <a:ext cx="9581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재료 선반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9"/>
          <p:cNvSpPr/>
          <p:nvPr/>
        </p:nvSpPr>
        <p:spPr>
          <a:xfrm>
            <a:off x="638175" y="1876425"/>
            <a:ext cx="362997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특정 재료 1종이 제조존에도 비치된다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9"/>
          <p:cNvSpPr/>
          <p:nvPr/>
        </p:nvSpPr>
        <p:spPr>
          <a:xfrm>
            <a:off x="638175" y="3495675"/>
            <a:ext cx="3524250" cy="952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9"/>
          <p:cNvSpPr/>
          <p:nvPr/>
        </p:nvSpPr>
        <p:spPr>
          <a:xfrm>
            <a:off x="638175" y="3643313"/>
            <a:ext cx="190500" cy="190500"/>
          </a:xfrm>
          <a:prstGeom prst="rect">
            <a:avLst/>
          </a:prstGeom>
          <a:solidFill>
            <a:srgbClr val="A46EE8">
              <a:alpha val="16078"/>
            </a:srgbClr>
          </a:solidFill>
          <a:ln cap="flat" cmpd="sng" w="9525">
            <a:solidFill>
              <a:srgbClr val="A46EE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9"/>
          <p:cNvSpPr/>
          <p:nvPr/>
        </p:nvSpPr>
        <p:spPr>
          <a:xfrm>
            <a:off x="923925" y="3619500"/>
            <a:ext cx="21728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×1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9"/>
          <p:cNvSpPr/>
          <p:nvPr/>
        </p:nvSpPr>
        <p:spPr>
          <a:xfrm>
            <a:off x="3106043" y="3600450"/>
            <a:ext cx="1056382" cy="276225"/>
          </a:xfrm>
          <a:prstGeom prst="rect">
            <a:avLst/>
          </a:prstGeom>
          <a:noFill/>
          <a:ln cap="flat" cmpd="sng" w="9525">
            <a:solidFill>
              <a:srgbClr val="7CD9A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9"/>
          <p:cNvSpPr/>
          <p:nvPr/>
        </p:nvSpPr>
        <p:spPr>
          <a:xfrm>
            <a:off x="3267968" y="3657600"/>
            <a:ext cx="80873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INSTALLED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9"/>
          <p:cNvSpPr/>
          <p:nvPr/>
        </p:nvSpPr>
        <p:spPr>
          <a:xfrm>
            <a:off x="4495800" y="1181100"/>
            <a:ext cx="3886200" cy="2857500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9"/>
          <p:cNvSpPr/>
          <p:nvPr/>
        </p:nvSpPr>
        <p:spPr>
          <a:xfrm>
            <a:off x="4676775" y="1343025"/>
            <a:ext cx="438150" cy="43815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9"/>
          <p:cNvSpPr/>
          <p:nvPr/>
        </p:nvSpPr>
        <p:spPr>
          <a:xfrm>
            <a:off x="5229225" y="1428750"/>
            <a:ext cx="9581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전달 벨트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9"/>
          <p:cNvSpPr/>
          <p:nvPr/>
        </p:nvSpPr>
        <p:spPr>
          <a:xfrm>
            <a:off x="4676775" y="1876425"/>
            <a:ext cx="362997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조리대에 올린 재료가 반대편으로 자동 이동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9"/>
          <p:cNvSpPr/>
          <p:nvPr/>
        </p:nvSpPr>
        <p:spPr>
          <a:xfrm>
            <a:off x="4676775" y="3495675"/>
            <a:ext cx="3524250" cy="952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9"/>
          <p:cNvSpPr/>
          <p:nvPr/>
        </p:nvSpPr>
        <p:spPr>
          <a:xfrm>
            <a:off x="4676775" y="3643313"/>
            <a:ext cx="190500" cy="190500"/>
          </a:xfrm>
          <a:prstGeom prst="rect">
            <a:avLst/>
          </a:prstGeom>
          <a:solidFill>
            <a:srgbClr val="A46EE8">
              <a:alpha val="16078"/>
            </a:srgbClr>
          </a:solidFill>
          <a:ln cap="flat" cmpd="sng" w="9525">
            <a:solidFill>
              <a:srgbClr val="A46EE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9"/>
          <p:cNvSpPr/>
          <p:nvPr/>
        </p:nvSpPr>
        <p:spPr>
          <a:xfrm>
            <a:off x="4962525" y="3619500"/>
            <a:ext cx="2382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×2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9"/>
          <p:cNvSpPr/>
          <p:nvPr/>
        </p:nvSpPr>
        <p:spPr>
          <a:xfrm>
            <a:off x="7317432" y="3600450"/>
            <a:ext cx="883593" cy="276225"/>
          </a:xfrm>
          <a:prstGeom prst="rect">
            <a:avLst/>
          </a:prstGeom>
          <a:solidFill>
            <a:srgbClr val="C6974A"/>
          </a:solidFill>
          <a:ln cap="flat" cmpd="sng" w="9525">
            <a:solidFill>
              <a:srgbClr val="C697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9"/>
          <p:cNvSpPr/>
          <p:nvPr/>
        </p:nvSpPr>
        <p:spPr>
          <a:xfrm>
            <a:off x="7479357" y="3657600"/>
            <a:ext cx="6359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0F07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170F07"/>
                </a:solidFill>
                <a:latin typeface="Oswald"/>
                <a:ea typeface="Oswald"/>
                <a:cs typeface="Oswald"/>
                <a:sym typeface="Oswald"/>
              </a:rPr>
              <a:t>INSTALL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9"/>
          <p:cNvSpPr/>
          <p:nvPr/>
        </p:nvSpPr>
        <p:spPr>
          <a:xfrm>
            <a:off x="8534400" y="1181100"/>
            <a:ext cx="3886200" cy="2857500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7CD9A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9"/>
          <p:cNvSpPr/>
          <p:nvPr/>
        </p:nvSpPr>
        <p:spPr>
          <a:xfrm>
            <a:off x="8715375" y="1343025"/>
            <a:ext cx="438150" cy="43815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9"/>
          <p:cNvSpPr/>
          <p:nvPr/>
        </p:nvSpPr>
        <p:spPr>
          <a:xfrm>
            <a:off x="9267825" y="1428750"/>
            <a:ext cx="87138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2구 머신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9"/>
          <p:cNvSpPr/>
          <p:nvPr/>
        </p:nvSpPr>
        <p:spPr>
          <a:xfrm>
            <a:off x="8715375" y="1876425"/>
            <a:ext cx="362997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한 대에서 2잔 동시 제조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9"/>
          <p:cNvSpPr/>
          <p:nvPr/>
        </p:nvSpPr>
        <p:spPr>
          <a:xfrm>
            <a:off x="8715375" y="3495675"/>
            <a:ext cx="3524250" cy="952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9"/>
          <p:cNvSpPr/>
          <p:nvPr/>
        </p:nvSpPr>
        <p:spPr>
          <a:xfrm>
            <a:off x="8715375" y="3643313"/>
            <a:ext cx="190500" cy="190500"/>
          </a:xfrm>
          <a:prstGeom prst="rect">
            <a:avLst/>
          </a:prstGeom>
          <a:solidFill>
            <a:srgbClr val="A46EE8">
              <a:alpha val="16078"/>
            </a:srgbClr>
          </a:solidFill>
          <a:ln cap="flat" cmpd="sng" w="9525">
            <a:solidFill>
              <a:srgbClr val="A46EE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9"/>
          <p:cNvSpPr/>
          <p:nvPr/>
        </p:nvSpPr>
        <p:spPr>
          <a:xfrm>
            <a:off x="9001125" y="3619500"/>
            <a:ext cx="2382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×2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9"/>
          <p:cNvSpPr/>
          <p:nvPr/>
        </p:nvSpPr>
        <p:spPr>
          <a:xfrm>
            <a:off x="11183243" y="3600450"/>
            <a:ext cx="1056382" cy="276225"/>
          </a:xfrm>
          <a:prstGeom prst="rect">
            <a:avLst/>
          </a:prstGeom>
          <a:noFill/>
          <a:ln cap="flat" cmpd="sng" w="9525">
            <a:solidFill>
              <a:srgbClr val="7CD9A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9"/>
          <p:cNvSpPr/>
          <p:nvPr/>
        </p:nvSpPr>
        <p:spPr>
          <a:xfrm>
            <a:off x="11345168" y="3657600"/>
            <a:ext cx="80873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INSTALLED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9"/>
          <p:cNvSpPr/>
          <p:nvPr/>
        </p:nvSpPr>
        <p:spPr>
          <a:xfrm>
            <a:off x="457200" y="4191000"/>
            <a:ext cx="3886200" cy="2857500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9"/>
          <p:cNvSpPr/>
          <p:nvPr/>
        </p:nvSpPr>
        <p:spPr>
          <a:xfrm>
            <a:off x="638175" y="4352925"/>
            <a:ext cx="438150" cy="43815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9"/>
          <p:cNvSpPr/>
          <p:nvPr/>
        </p:nvSpPr>
        <p:spPr>
          <a:xfrm>
            <a:off x="1190625" y="4438650"/>
            <a:ext cx="9581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오븐 확장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9"/>
          <p:cNvSpPr/>
          <p:nvPr/>
        </p:nvSpPr>
        <p:spPr>
          <a:xfrm>
            <a:off x="638175" y="4886325"/>
            <a:ext cx="362997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디저트 2개 동시 굽기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9"/>
          <p:cNvSpPr/>
          <p:nvPr/>
        </p:nvSpPr>
        <p:spPr>
          <a:xfrm>
            <a:off x="638175" y="6505575"/>
            <a:ext cx="3524250" cy="952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9"/>
          <p:cNvSpPr/>
          <p:nvPr/>
        </p:nvSpPr>
        <p:spPr>
          <a:xfrm>
            <a:off x="638175" y="6653213"/>
            <a:ext cx="190500" cy="190500"/>
          </a:xfrm>
          <a:prstGeom prst="rect">
            <a:avLst/>
          </a:prstGeom>
          <a:solidFill>
            <a:srgbClr val="A46EE8">
              <a:alpha val="16078"/>
            </a:srgbClr>
          </a:solidFill>
          <a:ln cap="flat" cmpd="sng" w="9525">
            <a:solidFill>
              <a:srgbClr val="A46EE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9"/>
          <p:cNvSpPr/>
          <p:nvPr/>
        </p:nvSpPr>
        <p:spPr>
          <a:xfrm>
            <a:off x="923925" y="6629400"/>
            <a:ext cx="2382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×2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9"/>
          <p:cNvSpPr/>
          <p:nvPr/>
        </p:nvSpPr>
        <p:spPr>
          <a:xfrm>
            <a:off x="3278832" y="6610350"/>
            <a:ext cx="883593" cy="276225"/>
          </a:xfrm>
          <a:prstGeom prst="rect">
            <a:avLst/>
          </a:prstGeom>
          <a:solidFill>
            <a:srgbClr val="C6974A"/>
          </a:solidFill>
          <a:ln cap="flat" cmpd="sng" w="9525">
            <a:solidFill>
              <a:srgbClr val="C697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9"/>
          <p:cNvSpPr/>
          <p:nvPr/>
        </p:nvSpPr>
        <p:spPr>
          <a:xfrm>
            <a:off x="3440757" y="6667500"/>
            <a:ext cx="6359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0F07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170F07"/>
                </a:solidFill>
                <a:latin typeface="Oswald"/>
                <a:ea typeface="Oswald"/>
                <a:cs typeface="Oswald"/>
                <a:sym typeface="Oswald"/>
              </a:rPr>
              <a:t>INSTALL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9"/>
          <p:cNvSpPr/>
          <p:nvPr/>
        </p:nvSpPr>
        <p:spPr>
          <a:xfrm>
            <a:off x="4495800" y="4191000"/>
            <a:ext cx="3886200" cy="2857500"/>
          </a:xfrm>
          <a:prstGeom prst="rect">
            <a:avLst/>
          </a:prstGeom>
          <a:solidFill>
            <a:srgbClr val="0E0905">
              <a:alpha val="32157"/>
            </a:srgbClr>
          </a:solidFill>
          <a:ln cap="flat" cmpd="sng" w="9525">
            <a:solidFill>
              <a:srgbClr val="C6974A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9"/>
          <p:cNvSpPr/>
          <p:nvPr/>
        </p:nvSpPr>
        <p:spPr>
          <a:xfrm>
            <a:off x="4676775" y="4352925"/>
            <a:ext cx="438150" cy="438150"/>
          </a:xfrm>
          <a:prstGeom prst="rect">
            <a:avLst/>
          </a:prstGeom>
          <a:solidFill>
            <a:srgbClr val="F2E3CB">
              <a:alpha val="5882"/>
            </a:srgbClr>
          </a:solidFill>
          <a:ln cap="flat" cmpd="sng" w="9525">
            <a:solidFill>
              <a:srgbClr val="F2E3CB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9"/>
          <p:cNvSpPr/>
          <p:nvPr/>
        </p:nvSpPr>
        <p:spPr>
          <a:xfrm>
            <a:off x="5229225" y="4438650"/>
            <a:ext cx="112067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식기세척기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9"/>
          <p:cNvSpPr/>
          <p:nvPr/>
        </p:nvSpPr>
        <p:spPr>
          <a:xfrm>
            <a:off x="4676775" y="4886325"/>
            <a:ext cx="362997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더러운 그릇이 자동으로 세척된다 (느리게)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9"/>
          <p:cNvSpPr/>
          <p:nvPr/>
        </p:nvSpPr>
        <p:spPr>
          <a:xfrm>
            <a:off x="4676775" y="6505575"/>
            <a:ext cx="3524250" cy="9525"/>
          </a:xfrm>
          <a:prstGeom prst="rect">
            <a:avLst/>
          </a:prstGeom>
          <a:solidFill>
            <a:srgbClr val="F2E3CB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9"/>
          <p:cNvSpPr/>
          <p:nvPr/>
        </p:nvSpPr>
        <p:spPr>
          <a:xfrm>
            <a:off x="4676775" y="6653213"/>
            <a:ext cx="190500" cy="190500"/>
          </a:xfrm>
          <a:prstGeom prst="rect">
            <a:avLst/>
          </a:prstGeom>
          <a:solidFill>
            <a:srgbClr val="A46EE8">
              <a:alpha val="7059"/>
            </a:srgbClr>
          </a:solidFill>
          <a:ln cap="flat" cmpd="sng" w="9525">
            <a:solidFill>
              <a:srgbClr val="A46EE8">
                <a:alpha val="309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9"/>
          <p:cNvSpPr/>
          <p:nvPr/>
        </p:nvSpPr>
        <p:spPr>
          <a:xfrm>
            <a:off x="4962525" y="6629400"/>
            <a:ext cx="2382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×3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9"/>
          <p:cNvSpPr/>
          <p:nvPr/>
        </p:nvSpPr>
        <p:spPr>
          <a:xfrm>
            <a:off x="7198519" y="6610350"/>
            <a:ext cx="1002506" cy="276225"/>
          </a:xfrm>
          <a:prstGeom prst="rect">
            <a:avLst/>
          </a:prstGeom>
          <a:noFill/>
          <a:ln cap="flat" cmpd="sng" w="9525">
            <a:solidFill>
              <a:srgbClr val="F2E3CB">
                <a:alpha val="109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9"/>
          <p:cNvSpPr/>
          <p:nvPr/>
        </p:nvSpPr>
        <p:spPr>
          <a:xfrm>
            <a:off x="7360444" y="6667500"/>
            <a:ext cx="7548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NO PARTS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9"/>
          <p:cNvSpPr/>
          <p:nvPr/>
        </p:nvSpPr>
        <p:spPr>
          <a:xfrm>
            <a:off x="8534400" y="4191000"/>
            <a:ext cx="3886200" cy="2857500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9"/>
          <p:cNvSpPr/>
          <p:nvPr/>
        </p:nvSpPr>
        <p:spPr>
          <a:xfrm>
            <a:off x="8715375" y="4352925"/>
            <a:ext cx="438150" cy="43815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9"/>
          <p:cNvSpPr/>
          <p:nvPr/>
        </p:nvSpPr>
        <p:spPr>
          <a:xfrm>
            <a:off x="9267825" y="4438650"/>
            <a:ext cx="9581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그릇 추가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9"/>
          <p:cNvSpPr/>
          <p:nvPr/>
        </p:nvSpPr>
        <p:spPr>
          <a:xfrm>
            <a:off x="8715375" y="4886325"/>
            <a:ext cx="362997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그릇 4개 → 6개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9"/>
          <p:cNvSpPr/>
          <p:nvPr/>
        </p:nvSpPr>
        <p:spPr>
          <a:xfrm>
            <a:off x="8715375" y="6505575"/>
            <a:ext cx="3524250" cy="952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9"/>
          <p:cNvSpPr/>
          <p:nvPr/>
        </p:nvSpPr>
        <p:spPr>
          <a:xfrm>
            <a:off x="8715375" y="6653213"/>
            <a:ext cx="190500" cy="190500"/>
          </a:xfrm>
          <a:prstGeom prst="rect">
            <a:avLst/>
          </a:prstGeom>
          <a:solidFill>
            <a:srgbClr val="A46EE8">
              <a:alpha val="16078"/>
            </a:srgbClr>
          </a:solidFill>
          <a:ln cap="flat" cmpd="sng" w="9525">
            <a:solidFill>
              <a:srgbClr val="A46EE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9"/>
          <p:cNvSpPr/>
          <p:nvPr/>
        </p:nvSpPr>
        <p:spPr>
          <a:xfrm>
            <a:off x="9001125" y="6629400"/>
            <a:ext cx="21728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×1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9"/>
          <p:cNvSpPr/>
          <p:nvPr/>
        </p:nvSpPr>
        <p:spPr>
          <a:xfrm>
            <a:off x="11356032" y="6610350"/>
            <a:ext cx="883593" cy="276225"/>
          </a:xfrm>
          <a:prstGeom prst="rect">
            <a:avLst/>
          </a:prstGeom>
          <a:solidFill>
            <a:srgbClr val="C6974A"/>
          </a:solidFill>
          <a:ln cap="flat" cmpd="sng" w="9525">
            <a:solidFill>
              <a:srgbClr val="C697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9"/>
          <p:cNvSpPr/>
          <p:nvPr/>
        </p:nvSpPr>
        <p:spPr>
          <a:xfrm>
            <a:off x="11517957" y="6667500"/>
            <a:ext cx="6359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0F07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170F07"/>
                </a:solidFill>
                <a:latin typeface="Oswald"/>
                <a:ea typeface="Oswald"/>
                <a:cs typeface="Oswald"/>
                <a:sym typeface="Oswald"/>
              </a:rPr>
              <a:t>INSTALL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9"/>
          <p:cNvSpPr/>
          <p:nvPr/>
        </p:nvSpPr>
        <p:spPr>
          <a:xfrm>
            <a:off x="457200" y="7200900"/>
            <a:ext cx="3886200" cy="2857500"/>
          </a:xfrm>
          <a:prstGeom prst="rect">
            <a:avLst/>
          </a:prstGeom>
          <a:solidFill>
            <a:srgbClr val="0E0905">
              <a:alpha val="32157"/>
            </a:srgbClr>
          </a:solidFill>
          <a:ln cap="flat" cmpd="sng" w="9525">
            <a:solidFill>
              <a:srgbClr val="C6974A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9"/>
          <p:cNvSpPr/>
          <p:nvPr/>
        </p:nvSpPr>
        <p:spPr>
          <a:xfrm>
            <a:off x="638175" y="7362825"/>
            <a:ext cx="438150" cy="438150"/>
          </a:xfrm>
          <a:prstGeom prst="rect">
            <a:avLst/>
          </a:prstGeom>
          <a:solidFill>
            <a:srgbClr val="F2E3CB">
              <a:alpha val="5882"/>
            </a:srgbClr>
          </a:solidFill>
          <a:ln cap="flat" cmpd="sng" w="9525">
            <a:solidFill>
              <a:srgbClr val="F2E3CB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9"/>
          <p:cNvSpPr/>
          <p:nvPr/>
        </p:nvSpPr>
        <p:spPr>
          <a:xfrm>
            <a:off x="1190625" y="7448550"/>
            <a:ext cx="116711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자동 서빙대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9"/>
          <p:cNvSpPr/>
          <p:nvPr/>
        </p:nvSpPr>
        <p:spPr>
          <a:xfrm>
            <a:off x="638175" y="7896225"/>
            <a:ext cx="362997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완성품을 올려두면 자동으로 손님에게 나간다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9"/>
          <p:cNvSpPr/>
          <p:nvPr/>
        </p:nvSpPr>
        <p:spPr>
          <a:xfrm>
            <a:off x="638175" y="9515475"/>
            <a:ext cx="3524250" cy="9525"/>
          </a:xfrm>
          <a:prstGeom prst="rect">
            <a:avLst/>
          </a:prstGeom>
          <a:solidFill>
            <a:srgbClr val="F2E3CB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9"/>
          <p:cNvSpPr/>
          <p:nvPr/>
        </p:nvSpPr>
        <p:spPr>
          <a:xfrm>
            <a:off x="638175" y="9663113"/>
            <a:ext cx="190500" cy="190500"/>
          </a:xfrm>
          <a:prstGeom prst="rect">
            <a:avLst/>
          </a:prstGeom>
          <a:solidFill>
            <a:srgbClr val="A46EE8">
              <a:alpha val="7059"/>
            </a:srgbClr>
          </a:solidFill>
          <a:ln cap="flat" cmpd="sng" w="9525">
            <a:solidFill>
              <a:srgbClr val="A46EE8">
                <a:alpha val="309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9"/>
          <p:cNvSpPr/>
          <p:nvPr/>
        </p:nvSpPr>
        <p:spPr>
          <a:xfrm>
            <a:off x="923925" y="9639300"/>
            <a:ext cx="2382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×3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9"/>
          <p:cNvSpPr/>
          <p:nvPr/>
        </p:nvSpPr>
        <p:spPr>
          <a:xfrm>
            <a:off x="3159919" y="9620250"/>
            <a:ext cx="1002506" cy="276225"/>
          </a:xfrm>
          <a:prstGeom prst="rect">
            <a:avLst/>
          </a:prstGeom>
          <a:noFill/>
          <a:ln cap="flat" cmpd="sng" w="9525">
            <a:solidFill>
              <a:srgbClr val="F2E3CB">
                <a:alpha val="109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9"/>
          <p:cNvSpPr/>
          <p:nvPr/>
        </p:nvSpPr>
        <p:spPr>
          <a:xfrm>
            <a:off x="3321844" y="9677400"/>
            <a:ext cx="7548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NO PARTS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9"/>
          <p:cNvSpPr/>
          <p:nvPr/>
        </p:nvSpPr>
        <p:spPr>
          <a:xfrm>
            <a:off x="4495800" y="7200900"/>
            <a:ext cx="3886200" cy="2857500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9"/>
          <p:cNvSpPr/>
          <p:nvPr/>
        </p:nvSpPr>
        <p:spPr>
          <a:xfrm>
            <a:off x="4676775" y="7362825"/>
            <a:ext cx="438150" cy="438150"/>
          </a:xfrm>
          <a:prstGeom prst="rect">
            <a:avLst/>
          </a:prstGeom>
          <a:solidFill>
            <a:srgbClr val="F2E3CB">
              <a:alpha val="14118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9"/>
          <p:cNvSpPr/>
          <p:nvPr/>
        </p:nvSpPr>
        <p:spPr>
          <a:xfrm>
            <a:off x="5229225" y="7448550"/>
            <a:ext cx="70291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제빙기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9"/>
          <p:cNvSpPr/>
          <p:nvPr/>
        </p:nvSpPr>
        <p:spPr>
          <a:xfrm>
            <a:off x="4676775" y="7896225"/>
            <a:ext cx="362997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얼음 무한 공급 (재료 칸에 항상 있음)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9"/>
          <p:cNvSpPr/>
          <p:nvPr/>
        </p:nvSpPr>
        <p:spPr>
          <a:xfrm>
            <a:off x="4676775" y="9515475"/>
            <a:ext cx="3524250" cy="9525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9"/>
          <p:cNvSpPr/>
          <p:nvPr/>
        </p:nvSpPr>
        <p:spPr>
          <a:xfrm>
            <a:off x="4676775" y="9663113"/>
            <a:ext cx="190500" cy="190500"/>
          </a:xfrm>
          <a:prstGeom prst="rect">
            <a:avLst/>
          </a:prstGeom>
          <a:solidFill>
            <a:srgbClr val="A46EE8">
              <a:alpha val="16078"/>
            </a:srgbClr>
          </a:solidFill>
          <a:ln cap="flat" cmpd="sng" w="9525">
            <a:solidFill>
              <a:srgbClr val="A46EE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9"/>
          <p:cNvSpPr/>
          <p:nvPr/>
        </p:nvSpPr>
        <p:spPr>
          <a:xfrm>
            <a:off x="4962525" y="9639300"/>
            <a:ext cx="2382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×2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9"/>
          <p:cNvSpPr/>
          <p:nvPr/>
        </p:nvSpPr>
        <p:spPr>
          <a:xfrm>
            <a:off x="7317432" y="9620250"/>
            <a:ext cx="883593" cy="276225"/>
          </a:xfrm>
          <a:prstGeom prst="rect">
            <a:avLst/>
          </a:prstGeom>
          <a:solidFill>
            <a:srgbClr val="C6974A"/>
          </a:solidFill>
          <a:ln cap="flat" cmpd="sng" w="9525">
            <a:solidFill>
              <a:srgbClr val="C697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9"/>
          <p:cNvSpPr/>
          <p:nvPr/>
        </p:nvSpPr>
        <p:spPr>
          <a:xfrm>
            <a:off x="7479357" y="9677400"/>
            <a:ext cx="6359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0F07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170F07"/>
                </a:solidFill>
                <a:latin typeface="Oswald"/>
                <a:ea typeface="Oswald"/>
                <a:cs typeface="Oswald"/>
                <a:sym typeface="Oswald"/>
              </a:rPr>
              <a:t>INSTALL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9"/>
          <p:cNvSpPr/>
          <p:nvPr/>
        </p:nvSpPr>
        <p:spPr>
          <a:xfrm>
            <a:off x="8534400" y="7200900"/>
            <a:ext cx="3886200" cy="2857500"/>
          </a:xfrm>
          <a:prstGeom prst="rect">
            <a:avLst/>
          </a:prstGeom>
          <a:solidFill>
            <a:srgbClr val="0E0905">
              <a:alpha val="32157"/>
            </a:srgbClr>
          </a:solidFill>
          <a:ln cap="flat" cmpd="sng" w="9525">
            <a:solidFill>
              <a:srgbClr val="C6974A">
                <a:alpha val="1294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9"/>
          <p:cNvSpPr/>
          <p:nvPr/>
        </p:nvSpPr>
        <p:spPr>
          <a:xfrm>
            <a:off x="8715375" y="7362825"/>
            <a:ext cx="438150" cy="438150"/>
          </a:xfrm>
          <a:prstGeom prst="rect">
            <a:avLst/>
          </a:prstGeom>
          <a:solidFill>
            <a:srgbClr val="F2E3CB">
              <a:alpha val="5882"/>
            </a:srgbClr>
          </a:solidFill>
          <a:ln cap="flat" cmpd="sng" w="9525">
            <a:solidFill>
              <a:srgbClr val="F2E3CB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9"/>
          <p:cNvSpPr/>
          <p:nvPr/>
        </p:nvSpPr>
        <p:spPr>
          <a:xfrm>
            <a:off x="9267825" y="7448550"/>
            <a:ext cx="9581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650"/>
              <a:buFont typeface="Gothic A1"/>
              <a:buNone/>
            </a:pPr>
            <a:r>
              <a:rPr b="1" i="0" lang="en-US" sz="16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우유 탱크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9"/>
          <p:cNvSpPr/>
          <p:nvPr/>
        </p:nvSpPr>
        <p:spPr>
          <a:xfrm>
            <a:off x="8715375" y="7896225"/>
            <a:ext cx="3629978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우유 무한 공급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9"/>
          <p:cNvSpPr/>
          <p:nvPr/>
        </p:nvSpPr>
        <p:spPr>
          <a:xfrm>
            <a:off x="8715375" y="9515475"/>
            <a:ext cx="3524250" cy="9525"/>
          </a:xfrm>
          <a:prstGeom prst="rect">
            <a:avLst/>
          </a:prstGeom>
          <a:solidFill>
            <a:srgbClr val="F2E3CB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9"/>
          <p:cNvSpPr/>
          <p:nvPr/>
        </p:nvSpPr>
        <p:spPr>
          <a:xfrm>
            <a:off x="8715375" y="9663113"/>
            <a:ext cx="190500" cy="190500"/>
          </a:xfrm>
          <a:prstGeom prst="rect">
            <a:avLst/>
          </a:prstGeom>
          <a:solidFill>
            <a:srgbClr val="A46EE8">
              <a:alpha val="7059"/>
            </a:srgbClr>
          </a:solidFill>
          <a:ln cap="flat" cmpd="sng" w="9525">
            <a:solidFill>
              <a:srgbClr val="A46EE8">
                <a:alpha val="309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9"/>
          <p:cNvSpPr/>
          <p:nvPr/>
        </p:nvSpPr>
        <p:spPr>
          <a:xfrm>
            <a:off x="9001125" y="9639300"/>
            <a:ext cx="2382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×2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9"/>
          <p:cNvSpPr/>
          <p:nvPr/>
        </p:nvSpPr>
        <p:spPr>
          <a:xfrm>
            <a:off x="11237119" y="9620250"/>
            <a:ext cx="1002506" cy="276225"/>
          </a:xfrm>
          <a:prstGeom prst="rect">
            <a:avLst/>
          </a:prstGeom>
          <a:noFill/>
          <a:ln cap="flat" cmpd="sng" w="9525">
            <a:solidFill>
              <a:srgbClr val="F2E3CB">
                <a:alpha val="109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9"/>
          <p:cNvSpPr/>
          <p:nvPr/>
        </p:nvSpPr>
        <p:spPr>
          <a:xfrm>
            <a:off x="11399044" y="9677400"/>
            <a:ext cx="7548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NO PARTS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9"/>
          <p:cNvSpPr/>
          <p:nvPr/>
        </p:nvSpPr>
        <p:spPr>
          <a:xfrm>
            <a:off x="12668250" y="1181100"/>
            <a:ext cx="5162550" cy="8877300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9"/>
          <p:cNvSpPr/>
          <p:nvPr/>
        </p:nvSpPr>
        <p:spPr>
          <a:xfrm>
            <a:off x="12677775" y="1619250"/>
            <a:ext cx="5143500" cy="9525"/>
          </a:xfrm>
          <a:prstGeom prst="rect">
            <a:avLst/>
          </a:prstGeom>
          <a:solidFill>
            <a:srgbClr val="C6974A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9"/>
          <p:cNvSpPr/>
          <p:nvPr/>
        </p:nvSpPr>
        <p:spPr>
          <a:xfrm>
            <a:off x="12887325" y="1323975"/>
            <a:ext cx="487870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CAFE LAYOUT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9"/>
          <p:cNvSpPr/>
          <p:nvPr/>
        </p:nvSpPr>
        <p:spPr>
          <a:xfrm>
            <a:off x="12630150" y="1819275"/>
            <a:ext cx="523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GUEST QUEUE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9"/>
          <p:cNvSpPr/>
          <p:nvPr/>
        </p:nvSpPr>
        <p:spPr>
          <a:xfrm>
            <a:off x="12868275" y="2085975"/>
            <a:ext cx="4762500" cy="342900"/>
          </a:xfrm>
          <a:prstGeom prst="rect">
            <a:avLst/>
          </a:prstGeom>
          <a:noFill/>
          <a:ln cap="flat" cmpd="sng" w="9525">
            <a:solidFill>
              <a:srgbClr val="C6974A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9"/>
          <p:cNvSpPr/>
          <p:nvPr/>
        </p:nvSpPr>
        <p:spPr>
          <a:xfrm>
            <a:off x="12806362" y="2095500"/>
            <a:ext cx="48863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050"/>
              <a:buFont typeface="Gothic A1"/>
              <a:buNone/>
            </a:pPr>
            <a:r>
              <a:rPr b="1" i="0" lang="en-US" sz="105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서빙 카운터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9"/>
          <p:cNvSpPr/>
          <p:nvPr/>
        </p:nvSpPr>
        <p:spPr>
          <a:xfrm>
            <a:off x="12868275" y="2543175"/>
            <a:ext cx="1511201" cy="685800"/>
          </a:xfrm>
          <a:prstGeom prst="rect">
            <a:avLst/>
          </a:prstGeom>
          <a:solidFill>
            <a:srgbClr val="F2E3CB">
              <a:alpha val="5882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9"/>
          <p:cNvSpPr/>
          <p:nvPr/>
        </p:nvSpPr>
        <p:spPr>
          <a:xfrm>
            <a:off x="13325773" y="2724150"/>
            <a:ext cx="67240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커피머신 1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9"/>
          <p:cNvSpPr/>
          <p:nvPr/>
        </p:nvSpPr>
        <p:spPr>
          <a:xfrm>
            <a:off x="13397359" y="2905125"/>
            <a:ext cx="52923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2구 적용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9"/>
          <p:cNvSpPr/>
          <p:nvPr/>
        </p:nvSpPr>
        <p:spPr>
          <a:xfrm>
            <a:off x="14493776" y="2543175"/>
            <a:ext cx="1511350" cy="685800"/>
          </a:xfrm>
          <a:prstGeom prst="rect">
            <a:avLst/>
          </a:prstGeom>
          <a:solidFill>
            <a:srgbClr val="F2E3CB">
              <a:alpha val="5882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9"/>
          <p:cNvSpPr/>
          <p:nvPr/>
        </p:nvSpPr>
        <p:spPr>
          <a:xfrm>
            <a:off x="14465201" y="2552700"/>
            <a:ext cx="1568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커피머신 2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9"/>
          <p:cNvSpPr/>
          <p:nvPr/>
        </p:nvSpPr>
        <p:spPr>
          <a:xfrm>
            <a:off x="16119425" y="2543175"/>
            <a:ext cx="1511350" cy="685800"/>
          </a:xfrm>
          <a:prstGeom prst="rect">
            <a:avLst/>
          </a:prstGeom>
          <a:solidFill>
            <a:srgbClr val="F2E3CB">
              <a:alpha val="5882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9"/>
          <p:cNvSpPr/>
          <p:nvPr/>
        </p:nvSpPr>
        <p:spPr>
          <a:xfrm>
            <a:off x="16090850" y="2552700"/>
            <a:ext cx="15685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오븐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9"/>
          <p:cNvSpPr/>
          <p:nvPr/>
        </p:nvSpPr>
        <p:spPr>
          <a:xfrm>
            <a:off x="12868275" y="3343275"/>
            <a:ext cx="4762500" cy="381000"/>
          </a:xfrm>
          <a:prstGeom prst="rect">
            <a:avLst/>
          </a:prstGeom>
          <a:solidFill>
            <a:srgbClr val="C6974A">
              <a:alpha val="21961"/>
            </a:srgbClr>
          </a:solidFill>
          <a:ln cap="flat" cmpd="sng" w="9525">
            <a:solidFill>
              <a:srgbClr val="C6974A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9"/>
          <p:cNvSpPr/>
          <p:nvPr/>
        </p:nvSpPr>
        <p:spPr>
          <a:xfrm>
            <a:off x="12806362" y="3352800"/>
            <a:ext cx="4886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조리대 — 통과 불가 · 아이템만 건넬 수 있음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9"/>
          <p:cNvSpPr/>
          <p:nvPr/>
        </p:nvSpPr>
        <p:spPr>
          <a:xfrm>
            <a:off x="12868275" y="3838575"/>
            <a:ext cx="2324100" cy="685800"/>
          </a:xfrm>
          <a:prstGeom prst="rect">
            <a:avLst/>
          </a:prstGeom>
          <a:solidFill>
            <a:srgbClr val="F2E3CB">
              <a:alpha val="5882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9"/>
          <p:cNvSpPr/>
          <p:nvPr/>
        </p:nvSpPr>
        <p:spPr>
          <a:xfrm>
            <a:off x="12839700" y="3848100"/>
            <a:ext cx="2381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재료 칸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9"/>
          <p:cNvSpPr/>
          <p:nvPr/>
        </p:nvSpPr>
        <p:spPr>
          <a:xfrm>
            <a:off x="15306675" y="3838575"/>
            <a:ext cx="2324100" cy="685800"/>
          </a:xfrm>
          <a:prstGeom prst="rect">
            <a:avLst/>
          </a:prstGeom>
          <a:solidFill>
            <a:srgbClr val="F2E3CB">
              <a:alpha val="5882"/>
            </a:srgbClr>
          </a:solidFill>
          <a:ln cap="flat" cmpd="sng" w="9525">
            <a:solidFill>
              <a:srgbClr val="F2E3CB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9"/>
          <p:cNvSpPr/>
          <p:nvPr/>
        </p:nvSpPr>
        <p:spPr>
          <a:xfrm>
            <a:off x="16283583" y="4019550"/>
            <a:ext cx="44633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싱크대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9"/>
          <p:cNvSpPr/>
          <p:nvPr/>
        </p:nvSpPr>
        <p:spPr>
          <a:xfrm>
            <a:off x="15990094" y="4200525"/>
            <a:ext cx="10334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식기세척기 미적용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9"/>
          <p:cNvSpPr/>
          <p:nvPr/>
        </p:nvSpPr>
        <p:spPr>
          <a:xfrm>
            <a:off x="12868275" y="8885932"/>
            <a:ext cx="4905375" cy="2485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125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975"/>
              <a:buFont typeface="Gothic A1"/>
              <a:buNone/>
            </a:pPr>
            <a:r>
              <a:rPr b="1" i="0" lang="en-US" sz="9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업그레이드는 동선을 줄이는 방향으로만 작동한다. 적용 후 되돌릴 수 없다.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9"/>
          <p:cNvSpPr/>
          <p:nvPr/>
        </p:nvSpPr>
        <p:spPr>
          <a:xfrm>
            <a:off x="12868275" y="9286875"/>
            <a:ext cx="4762500" cy="571500"/>
          </a:xfrm>
          <a:prstGeom prst="rect">
            <a:avLst/>
          </a:prstGeom>
          <a:solidFill>
            <a:srgbClr val="C69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9"/>
          <p:cNvSpPr/>
          <p:nvPr/>
        </p:nvSpPr>
        <p:spPr>
          <a:xfrm>
            <a:off x="14186743" y="9420225"/>
            <a:ext cx="304800" cy="304800"/>
          </a:xfrm>
          <a:prstGeom prst="rect">
            <a:avLst/>
          </a:prstGeom>
          <a:noFill/>
          <a:ln cap="flat" cmpd="sng" w="19050">
            <a:solidFill>
              <a:srgbClr val="170F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9"/>
          <p:cNvSpPr/>
          <p:nvPr/>
        </p:nvSpPr>
        <p:spPr>
          <a:xfrm>
            <a:off x="14167693" y="9439275"/>
            <a:ext cx="34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0F07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170F07"/>
                </a:solidFill>
                <a:latin typeface="Oswald"/>
                <a:ea typeface="Oswald"/>
                <a:cs typeface="Oswald"/>
                <a:sym typeface="Oswald"/>
              </a:rPr>
              <a:t>↵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9"/>
          <p:cNvSpPr/>
          <p:nvPr/>
        </p:nvSpPr>
        <p:spPr>
          <a:xfrm>
            <a:off x="14624893" y="9429750"/>
            <a:ext cx="18559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0F07"/>
              </a:buClr>
              <a:buSzPts val="1800"/>
              <a:buFont typeface="Gothic A1"/>
              <a:buNone/>
            </a:pPr>
            <a:r>
              <a:rPr b="1" i="0" lang="en-US" sz="1800" u="none" cap="none" strike="noStrike">
                <a:solidFill>
                  <a:srgbClr val="170F07"/>
                </a:solidFill>
                <a:latin typeface="Gothic A1"/>
                <a:ea typeface="Gothic A1"/>
                <a:cs typeface="Gothic A1"/>
                <a:sym typeface="Gothic A1"/>
              </a:rPr>
              <a:t>적용하고 밤으로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805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20C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8A5F38"/>
              </a:gs>
              <a:gs pos="46000">
                <a:srgbClr val="3A2515"/>
              </a:gs>
              <a:gs pos="88000">
                <a:srgbClr val="160E07"/>
              </a:gs>
              <a:gs pos="100000">
                <a:srgbClr val="160E0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0"/>
          <p:cNvSpPr/>
          <p:nvPr/>
        </p:nvSpPr>
        <p:spPr>
          <a:xfrm>
            <a:off x="514350" y="1937296"/>
            <a:ext cx="17259300" cy="9525"/>
          </a:xfrm>
          <a:prstGeom prst="rect">
            <a:avLst/>
          </a:prstGeom>
          <a:solidFill>
            <a:srgbClr val="C6974A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0"/>
          <p:cNvSpPr/>
          <p:nvPr/>
        </p:nvSpPr>
        <p:spPr>
          <a:xfrm>
            <a:off x="-348615" y="381000"/>
            <a:ext cx="1898523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DAY 07 — FINAL SETTLEMENT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0"/>
          <p:cNvSpPr/>
          <p:nvPr/>
        </p:nvSpPr>
        <p:spPr>
          <a:xfrm>
            <a:off x="-348615" y="647700"/>
            <a:ext cx="18985230" cy="7085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4800"/>
              <a:buFont typeface="Gothic A1"/>
              <a:buNone/>
            </a:pPr>
            <a:r>
              <a:rPr b="1" i="0" lang="en-US" sz="48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늑대 소굴 승리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"/>
          <p:cNvSpPr/>
          <p:nvPr/>
        </p:nvSpPr>
        <p:spPr>
          <a:xfrm>
            <a:off x="-348615" y="1356271"/>
            <a:ext cx="1898523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950"/>
              <a:buFont typeface="Oswald"/>
              <a:buNone/>
            </a:pPr>
            <a:r>
              <a:rPr b="1" i="0" lang="en-US" sz="195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8,420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0"/>
          <p:cNvSpPr/>
          <p:nvPr/>
        </p:nvSpPr>
        <p:spPr>
          <a:xfrm>
            <a:off x="514350" y="2194471"/>
            <a:ext cx="10725150" cy="7844879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0"/>
          <p:cNvSpPr/>
          <p:nvPr/>
        </p:nvSpPr>
        <p:spPr>
          <a:xfrm>
            <a:off x="523875" y="2632621"/>
            <a:ext cx="10706100" cy="9525"/>
          </a:xfrm>
          <a:prstGeom prst="rect">
            <a:avLst/>
          </a:prstGeom>
          <a:solidFill>
            <a:srgbClr val="C6974A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0"/>
          <p:cNvSpPr/>
          <p:nvPr/>
        </p:nvSpPr>
        <p:spPr>
          <a:xfrm>
            <a:off x="733425" y="2337346"/>
            <a:ext cx="1060818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FINAL RANKING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0"/>
          <p:cNvSpPr/>
          <p:nvPr/>
        </p:nvSpPr>
        <p:spPr>
          <a:xfrm>
            <a:off x="733425" y="3670846"/>
            <a:ext cx="10287000" cy="9525"/>
          </a:xfrm>
          <a:prstGeom prst="rect">
            <a:avLst/>
          </a:prstGeom>
          <a:solidFill>
            <a:srgbClr val="F2E3CB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0"/>
          <p:cNvSpPr/>
          <p:nvPr/>
        </p:nvSpPr>
        <p:spPr>
          <a:xfrm>
            <a:off x="733425" y="3032671"/>
            <a:ext cx="514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667"/>
              </a:lnSpc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2550"/>
              <a:buFont typeface="Oswald"/>
              <a:buNone/>
            </a:pPr>
            <a:r>
              <a:rPr b="1" i="0" lang="en-US" sz="255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"/>
          <p:cNvSpPr/>
          <p:nvPr/>
        </p:nvSpPr>
        <p:spPr>
          <a:xfrm>
            <a:off x="1343025" y="2889796"/>
            <a:ext cx="609600" cy="609600"/>
          </a:xfrm>
          <a:prstGeom prst="rect">
            <a:avLst/>
          </a:prstGeom>
          <a:solidFill>
            <a:srgbClr val="F2E3CB">
              <a:alpha val="12157"/>
            </a:srgbClr>
          </a:solidFill>
          <a:ln cap="flat" cmpd="sng" w="9525">
            <a:solidFill>
              <a:srgbClr val="F2E3CB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0"/>
          <p:cNvSpPr/>
          <p:nvPr/>
        </p:nvSpPr>
        <p:spPr>
          <a:xfrm>
            <a:off x="2124075" y="2985046"/>
            <a:ext cx="881043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800"/>
              <a:buFont typeface="Gothic A1"/>
              <a:buNone/>
            </a:pPr>
            <a:r>
              <a:rPr b="1" i="0" lang="en-US" sz="18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늑대 소굴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0"/>
          <p:cNvSpPr/>
          <p:nvPr/>
        </p:nvSpPr>
        <p:spPr>
          <a:xfrm>
            <a:off x="2124075" y="3346996"/>
            <a:ext cx="8009483" cy="57150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0"/>
          <p:cNvSpPr/>
          <p:nvPr/>
        </p:nvSpPr>
        <p:spPr>
          <a:xfrm>
            <a:off x="2124075" y="3346996"/>
            <a:ext cx="8009483" cy="57150"/>
          </a:xfrm>
          <a:prstGeom prst="rect">
            <a:avLst/>
          </a:prstGeom>
          <a:solidFill>
            <a:srgbClr val="E9B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0"/>
          <p:cNvSpPr/>
          <p:nvPr/>
        </p:nvSpPr>
        <p:spPr>
          <a:xfrm>
            <a:off x="10305008" y="2970758"/>
            <a:ext cx="79161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2400"/>
              <a:buFont typeface="Oswald"/>
              <a:buNone/>
            </a:pPr>
            <a:r>
              <a:rPr b="1" i="0" lang="en-US" sz="240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8,420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0"/>
          <p:cNvSpPr/>
          <p:nvPr/>
        </p:nvSpPr>
        <p:spPr>
          <a:xfrm>
            <a:off x="733425" y="4632871"/>
            <a:ext cx="10287000" cy="9525"/>
          </a:xfrm>
          <a:prstGeom prst="rect">
            <a:avLst/>
          </a:prstGeom>
          <a:solidFill>
            <a:srgbClr val="F2E3CB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0"/>
          <p:cNvSpPr/>
          <p:nvPr/>
        </p:nvSpPr>
        <p:spPr>
          <a:xfrm>
            <a:off x="733425" y="3994696"/>
            <a:ext cx="514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667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2550"/>
              <a:buFont typeface="Oswald"/>
              <a:buNone/>
            </a:pPr>
            <a:r>
              <a:rPr b="1" i="0" lang="en-US" sz="25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0"/>
          <p:cNvSpPr/>
          <p:nvPr/>
        </p:nvSpPr>
        <p:spPr>
          <a:xfrm>
            <a:off x="1343025" y="3851821"/>
            <a:ext cx="609600" cy="609600"/>
          </a:xfrm>
          <a:prstGeom prst="rect">
            <a:avLst/>
          </a:prstGeom>
          <a:solidFill>
            <a:srgbClr val="F2E3CB">
              <a:alpha val="7059"/>
            </a:srgbClr>
          </a:solidFill>
          <a:ln cap="flat" cmpd="sng" w="9525">
            <a:solidFill>
              <a:srgbClr val="F2E3CB">
                <a:alpha val="109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0"/>
          <p:cNvSpPr/>
          <p:nvPr/>
        </p:nvSpPr>
        <p:spPr>
          <a:xfrm>
            <a:off x="2124075" y="3947071"/>
            <a:ext cx="882516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800"/>
              <a:buFont typeface="Gothic A1"/>
              <a:buNone/>
            </a:pPr>
            <a:r>
              <a:rPr b="1" i="0" lang="en-US" sz="18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안개 등대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0"/>
          <p:cNvSpPr/>
          <p:nvPr/>
        </p:nvSpPr>
        <p:spPr>
          <a:xfrm>
            <a:off x="2124075" y="4309021"/>
            <a:ext cx="8022878" cy="57150"/>
          </a:xfrm>
          <a:prstGeom prst="rect">
            <a:avLst/>
          </a:prstGeom>
          <a:solidFill>
            <a:srgbClr val="F2E3CB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0"/>
          <p:cNvSpPr/>
          <p:nvPr/>
        </p:nvSpPr>
        <p:spPr>
          <a:xfrm>
            <a:off x="2124075" y="4309021"/>
            <a:ext cx="7621637" cy="57150"/>
          </a:xfrm>
          <a:prstGeom prst="rect">
            <a:avLst/>
          </a:prstGeom>
          <a:solidFill>
            <a:srgbClr val="F2E3CB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0"/>
          <p:cNvSpPr/>
          <p:nvPr/>
        </p:nvSpPr>
        <p:spPr>
          <a:xfrm>
            <a:off x="10318403" y="3932783"/>
            <a:ext cx="7782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2400"/>
              <a:buFont typeface="Oswald"/>
              <a:buNone/>
            </a:pPr>
            <a:r>
              <a:rPr b="1" i="0" lang="en-US" sz="240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7,960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0"/>
          <p:cNvSpPr/>
          <p:nvPr/>
        </p:nvSpPr>
        <p:spPr>
          <a:xfrm>
            <a:off x="733425" y="5594896"/>
            <a:ext cx="10287000" cy="9525"/>
          </a:xfrm>
          <a:prstGeom prst="rect">
            <a:avLst/>
          </a:prstGeom>
          <a:solidFill>
            <a:srgbClr val="F2E3CB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0"/>
          <p:cNvSpPr/>
          <p:nvPr/>
        </p:nvSpPr>
        <p:spPr>
          <a:xfrm>
            <a:off x="733425" y="4956721"/>
            <a:ext cx="514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667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2550"/>
              <a:buFont typeface="Oswald"/>
              <a:buNone/>
            </a:pPr>
            <a:r>
              <a:rPr b="1" i="0" lang="en-US" sz="25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0"/>
          <p:cNvSpPr/>
          <p:nvPr/>
        </p:nvSpPr>
        <p:spPr>
          <a:xfrm>
            <a:off x="1343025" y="4813846"/>
            <a:ext cx="609600" cy="609600"/>
          </a:xfrm>
          <a:prstGeom prst="rect">
            <a:avLst/>
          </a:prstGeom>
          <a:solidFill>
            <a:srgbClr val="F2E3CB">
              <a:alpha val="7059"/>
            </a:srgbClr>
          </a:solidFill>
          <a:ln cap="flat" cmpd="sng" w="9525">
            <a:solidFill>
              <a:srgbClr val="F2E3CB">
                <a:alpha val="109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0"/>
          <p:cNvSpPr/>
          <p:nvPr/>
        </p:nvSpPr>
        <p:spPr>
          <a:xfrm>
            <a:off x="2124075" y="4909096"/>
            <a:ext cx="885135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800"/>
              <a:buFont typeface="Gothic A1"/>
              <a:buNone/>
            </a:pPr>
            <a:r>
              <a:rPr b="1" i="0" lang="en-US" sz="18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뼈다귀 클럽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0"/>
          <p:cNvSpPr/>
          <p:nvPr/>
        </p:nvSpPr>
        <p:spPr>
          <a:xfrm>
            <a:off x="2124075" y="5271046"/>
            <a:ext cx="8046690" cy="57150"/>
          </a:xfrm>
          <a:prstGeom prst="rect">
            <a:avLst/>
          </a:prstGeom>
          <a:solidFill>
            <a:srgbClr val="F2E3CB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0"/>
          <p:cNvSpPr/>
          <p:nvPr/>
        </p:nvSpPr>
        <p:spPr>
          <a:xfrm>
            <a:off x="2124075" y="5271046"/>
            <a:ext cx="6034980" cy="57150"/>
          </a:xfrm>
          <a:prstGeom prst="rect">
            <a:avLst/>
          </a:prstGeom>
          <a:solidFill>
            <a:srgbClr val="F2E3CB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0"/>
          <p:cNvSpPr/>
          <p:nvPr/>
        </p:nvSpPr>
        <p:spPr>
          <a:xfrm>
            <a:off x="10342215" y="4894808"/>
            <a:ext cx="75441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2400"/>
              <a:buFont typeface="Oswald"/>
              <a:buNone/>
            </a:pPr>
            <a:r>
              <a:rPr b="1" i="0" lang="en-US" sz="240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6,310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0"/>
          <p:cNvSpPr/>
          <p:nvPr/>
        </p:nvSpPr>
        <p:spPr>
          <a:xfrm>
            <a:off x="733425" y="6556921"/>
            <a:ext cx="10287000" cy="9525"/>
          </a:xfrm>
          <a:prstGeom prst="rect">
            <a:avLst/>
          </a:prstGeom>
          <a:solidFill>
            <a:srgbClr val="F2E3CB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0"/>
          <p:cNvSpPr/>
          <p:nvPr/>
        </p:nvSpPr>
        <p:spPr>
          <a:xfrm>
            <a:off x="733425" y="5918746"/>
            <a:ext cx="514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6667"/>
              </a:lnSpc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2550"/>
              <a:buFont typeface="Oswald"/>
              <a:buNone/>
            </a:pPr>
            <a:r>
              <a:rPr b="1" i="0" lang="en-US" sz="25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0"/>
          <p:cNvSpPr/>
          <p:nvPr/>
        </p:nvSpPr>
        <p:spPr>
          <a:xfrm>
            <a:off x="1343025" y="5775871"/>
            <a:ext cx="609600" cy="609600"/>
          </a:xfrm>
          <a:prstGeom prst="rect">
            <a:avLst/>
          </a:prstGeom>
          <a:solidFill>
            <a:srgbClr val="F2E3CB">
              <a:alpha val="7059"/>
            </a:srgbClr>
          </a:solidFill>
          <a:ln cap="flat" cmpd="sng" w="9525">
            <a:solidFill>
              <a:srgbClr val="F2E3CB">
                <a:alpha val="109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0"/>
          <p:cNvSpPr/>
          <p:nvPr/>
        </p:nvSpPr>
        <p:spPr>
          <a:xfrm>
            <a:off x="2124075" y="5871121"/>
            <a:ext cx="885365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800"/>
              <a:buFont typeface="Gothic A1"/>
              <a:buNone/>
            </a:pPr>
            <a:r>
              <a:rPr b="1" i="0" lang="en-US" sz="1800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달빛 여관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0"/>
          <p:cNvSpPr/>
          <p:nvPr/>
        </p:nvSpPr>
        <p:spPr>
          <a:xfrm>
            <a:off x="2124075" y="6233071"/>
            <a:ext cx="8048774" cy="57150"/>
          </a:xfrm>
          <a:prstGeom prst="rect">
            <a:avLst/>
          </a:prstGeom>
          <a:solidFill>
            <a:srgbClr val="F2E3CB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0"/>
          <p:cNvSpPr/>
          <p:nvPr/>
        </p:nvSpPr>
        <p:spPr>
          <a:xfrm>
            <a:off x="2124075" y="6233071"/>
            <a:ext cx="4024313" cy="57150"/>
          </a:xfrm>
          <a:prstGeom prst="rect">
            <a:avLst/>
          </a:prstGeom>
          <a:solidFill>
            <a:srgbClr val="F2E3CB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0"/>
          <p:cNvSpPr/>
          <p:nvPr/>
        </p:nvSpPr>
        <p:spPr>
          <a:xfrm>
            <a:off x="10344299" y="5856833"/>
            <a:ext cx="75232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2400"/>
              <a:buFont typeface="Oswald"/>
              <a:buNone/>
            </a:pPr>
            <a:r>
              <a:rPr b="1" i="0" lang="en-US" sz="240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4,180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0"/>
          <p:cNvSpPr/>
          <p:nvPr/>
        </p:nvSpPr>
        <p:spPr>
          <a:xfrm>
            <a:off x="11487150" y="2194471"/>
            <a:ext cx="6286500" cy="5892254"/>
          </a:xfrm>
          <a:prstGeom prst="rect">
            <a:avLst/>
          </a:prstGeom>
          <a:solidFill>
            <a:srgbClr val="0E0905">
              <a:alpha val="72157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0"/>
          <p:cNvSpPr/>
          <p:nvPr/>
        </p:nvSpPr>
        <p:spPr>
          <a:xfrm>
            <a:off x="11496675" y="2632621"/>
            <a:ext cx="6267450" cy="9525"/>
          </a:xfrm>
          <a:prstGeom prst="rect">
            <a:avLst/>
          </a:prstGeom>
          <a:solidFill>
            <a:srgbClr val="C6974A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0"/>
          <p:cNvSpPr/>
          <p:nvPr/>
        </p:nvSpPr>
        <p:spPr>
          <a:xfrm>
            <a:off x="11706225" y="2337346"/>
            <a:ext cx="603637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974A"/>
              </a:buClr>
              <a:buSzPts val="900"/>
              <a:buFont typeface="Oswald"/>
              <a:buNone/>
            </a:pPr>
            <a:r>
              <a:rPr b="1" i="0" lang="en-US" sz="900" u="none" cap="none" strike="noStrike">
                <a:solidFill>
                  <a:srgbClr val="C6974A"/>
                </a:solidFill>
                <a:latin typeface="Oswald"/>
                <a:ea typeface="Oswald"/>
                <a:cs typeface="Oswald"/>
                <a:sym typeface="Oswald"/>
              </a:rPr>
              <a:t>DAILY 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0"/>
          <p:cNvSpPr/>
          <p:nvPr/>
        </p:nvSpPr>
        <p:spPr>
          <a:xfrm>
            <a:off x="11706225" y="4168973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D1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0"/>
          <p:cNvSpPr/>
          <p:nvPr/>
        </p:nvSpPr>
        <p:spPr>
          <a:xfrm>
            <a:off x="12106275" y="4216598"/>
            <a:ext cx="4743450" cy="57150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0"/>
          <p:cNvSpPr/>
          <p:nvPr/>
        </p:nvSpPr>
        <p:spPr>
          <a:xfrm>
            <a:off x="12106275" y="4216598"/>
            <a:ext cx="332036" cy="57150"/>
          </a:xfrm>
          <a:prstGeom prst="rect">
            <a:avLst/>
          </a:prstGeom>
          <a:solidFill>
            <a:srgbClr val="C69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0"/>
          <p:cNvSpPr/>
          <p:nvPr/>
        </p:nvSpPr>
        <p:spPr>
          <a:xfrm>
            <a:off x="16925925" y="4126111"/>
            <a:ext cx="628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180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0"/>
          <p:cNvSpPr/>
          <p:nvPr/>
        </p:nvSpPr>
        <p:spPr>
          <a:xfrm>
            <a:off x="11706225" y="4540448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D2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0"/>
          <p:cNvSpPr/>
          <p:nvPr/>
        </p:nvSpPr>
        <p:spPr>
          <a:xfrm>
            <a:off x="12106275" y="4588073"/>
            <a:ext cx="4743450" cy="57150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0"/>
          <p:cNvSpPr/>
          <p:nvPr/>
        </p:nvSpPr>
        <p:spPr>
          <a:xfrm>
            <a:off x="12106275" y="4588073"/>
            <a:ext cx="758875" cy="57150"/>
          </a:xfrm>
          <a:prstGeom prst="rect">
            <a:avLst/>
          </a:prstGeom>
          <a:solidFill>
            <a:srgbClr val="C69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0"/>
          <p:cNvSpPr/>
          <p:nvPr/>
        </p:nvSpPr>
        <p:spPr>
          <a:xfrm>
            <a:off x="16925925" y="4497586"/>
            <a:ext cx="628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420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0"/>
          <p:cNvSpPr/>
          <p:nvPr/>
        </p:nvSpPr>
        <p:spPr>
          <a:xfrm>
            <a:off x="11706225" y="4911923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D3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0"/>
          <p:cNvSpPr/>
          <p:nvPr/>
        </p:nvSpPr>
        <p:spPr>
          <a:xfrm>
            <a:off x="12106275" y="4959548"/>
            <a:ext cx="4743450" cy="57150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0"/>
          <p:cNvSpPr/>
          <p:nvPr/>
        </p:nvSpPr>
        <p:spPr>
          <a:xfrm>
            <a:off x="12106275" y="4959548"/>
            <a:ext cx="1233190" cy="57150"/>
          </a:xfrm>
          <a:prstGeom prst="rect">
            <a:avLst/>
          </a:prstGeom>
          <a:solidFill>
            <a:srgbClr val="C69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0"/>
          <p:cNvSpPr/>
          <p:nvPr/>
        </p:nvSpPr>
        <p:spPr>
          <a:xfrm>
            <a:off x="16925925" y="4869061"/>
            <a:ext cx="628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690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0"/>
          <p:cNvSpPr/>
          <p:nvPr/>
        </p:nvSpPr>
        <p:spPr>
          <a:xfrm>
            <a:off x="11706225" y="5283398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D4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0"/>
          <p:cNvSpPr/>
          <p:nvPr/>
        </p:nvSpPr>
        <p:spPr>
          <a:xfrm>
            <a:off x="12106275" y="5331023"/>
            <a:ext cx="4743450" cy="57150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0"/>
          <p:cNvSpPr/>
          <p:nvPr/>
        </p:nvSpPr>
        <p:spPr>
          <a:xfrm>
            <a:off x="12106275" y="5331023"/>
            <a:ext cx="1375470" cy="57150"/>
          </a:xfrm>
          <a:prstGeom prst="rect">
            <a:avLst/>
          </a:prstGeom>
          <a:solidFill>
            <a:srgbClr val="C69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0"/>
          <p:cNvSpPr/>
          <p:nvPr/>
        </p:nvSpPr>
        <p:spPr>
          <a:xfrm>
            <a:off x="16925925" y="5240536"/>
            <a:ext cx="628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775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0"/>
          <p:cNvSpPr/>
          <p:nvPr/>
        </p:nvSpPr>
        <p:spPr>
          <a:xfrm>
            <a:off x="11706225" y="5654873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D5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0"/>
          <p:cNvSpPr/>
          <p:nvPr/>
        </p:nvSpPr>
        <p:spPr>
          <a:xfrm>
            <a:off x="12106275" y="5702498"/>
            <a:ext cx="4743450" cy="57150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0"/>
          <p:cNvSpPr/>
          <p:nvPr/>
        </p:nvSpPr>
        <p:spPr>
          <a:xfrm>
            <a:off x="12106275" y="5702498"/>
            <a:ext cx="2608808" cy="57150"/>
          </a:xfrm>
          <a:prstGeom prst="rect">
            <a:avLst/>
          </a:prstGeom>
          <a:solidFill>
            <a:srgbClr val="C69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0"/>
          <p:cNvSpPr/>
          <p:nvPr/>
        </p:nvSpPr>
        <p:spPr>
          <a:xfrm>
            <a:off x="16925925" y="5612011"/>
            <a:ext cx="628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1,480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0"/>
          <p:cNvSpPr/>
          <p:nvPr/>
        </p:nvSpPr>
        <p:spPr>
          <a:xfrm>
            <a:off x="11706225" y="6026348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D6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0"/>
          <p:cNvSpPr/>
          <p:nvPr/>
        </p:nvSpPr>
        <p:spPr>
          <a:xfrm>
            <a:off x="12106275" y="6073973"/>
            <a:ext cx="4743450" cy="57150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0"/>
          <p:cNvSpPr/>
          <p:nvPr/>
        </p:nvSpPr>
        <p:spPr>
          <a:xfrm>
            <a:off x="12106275" y="6073973"/>
            <a:ext cx="3842147" cy="57150"/>
          </a:xfrm>
          <a:prstGeom prst="rect">
            <a:avLst/>
          </a:prstGeom>
          <a:solidFill>
            <a:srgbClr val="C69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0"/>
          <p:cNvSpPr/>
          <p:nvPr/>
        </p:nvSpPr>
        <p:spPr>
          <a:xfrm>
            <a:off x="16925925" y="5983486"/>
            <a:ext cx="628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2,180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0"/>
          <p:cNvSpPr/>
          <p:nvPr/>
        </p:nvSpPr>
        <p:spPr>
          <a:xfrm>
            <a:off x="11706225" y="6397823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D7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0"/>
          <p:cNvSpPr/>
          <p:nvPr/>
        </p:nvSpPr>
        <p:spPr>
          <a:xfrm>
            <a:off x="12106275" y="6445448"/>
            <a:ext cx="4743450" cy="57150"/>
          </a:xfrm>
          <a:prstGeom prst="rect">
            <a:avLst/>
          </a:prstGeom>
          <a:solidFill>
            <a:srgbClr val="F2E3CB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0"/>
          <p:cNvSpPr/>
          <p:nvPr/>
        </p:nvSpPr>
        <p:spPr>
          <a:xfrm>
            <a:off x="12106275" y="6445448"/>
            <a:ext cx="4743450" cy="57150"/>
          </a:xfrm>
          <a:prstGeom prst="rect">
            <a:avLst/>
          </a:prstGeom>
          <a:solidFill>
            <a:srgbClr val="C69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0"/>
          <p:cNvSpPr/>
          <p:nvPr/>
        </p:nvSpPr>
        <p:spPr>
          <a:xfrm>
            <a:off x="16925925" y="6354961"/>
            <a:ext cx="628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1275"/>
              <a:buFont typeface="Oswald"/>
              <a:buNone/>
            </a:pPr>
            <a:r>
              <a:rPr b="1" i="0" lang="en-US" sz="1275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2,695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0"/>
          <p:cNvSpPr/>
          <p:nvPr/>
        </p:nvSpPr>
        <p:spPr>
          <a:xfrm>
            <a:off x="11487150" y="8277225"/>
            <a:ext cx="6286500" cy="981075"/>
          </a:xfrm>
          <a:prstGeom prst="rect">
            <a:avLst/>
          </a:prstGeom>
          <a:solidFill>
            <a:srgbClr val="C6974A">
              <a:alpha val="20000"/>
            </a:srgbClr>
          </a:solidFill>
          <a:ln cap="flat" cmpd="sng" w="9525">
            <a:solidFill>
              <a:srgbClr val="C6974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0"/>
          <p:cNvSpPr/>
          <p:nvPr/>
        </p:nvSpPr>
        <p:spPr>
          <a:xfrm>
            <a:off x="11496675" y="8286750"/>
            <a:ext cx="1559719" cy="962025"/>
          </a:xfrm>
          <a:prstGeom prst="rect">
            <a:avLst/>
          </a:prstGeom>
          <a:solidFill>
            <a:srgbClr val="180F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0"/>
          <p:cNvSpPr/>
          <p:nvPr/>
        </p:nvSpPr>
        <p:spPr>
          <a:xfrm>
            <a:off x="11607284" y="8458200"/>
            <a:ext cx="133850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PERFECT RATE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0"/>
          <p:cNvSpPr/>
          <p:nvPr/>
        </p:nvSpPr>
        <p:spPr>
          <a:xfrm>
            <a:off x="11607284" y="8648700"/>
            <a:ext cx="1338501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D9A8"/>
              </a:buClr>
              <a:buSzPts val="2250"/>
              <a:buFont typeface="Oswald"/>
              <a:buNone/>
            </a:pPr>
            <a:r>
              <a:rPr b="1" i="0" lang="en-US" sz="2250" u="none" cap="none" strike="noStrike">
                <a:solidFill>
                  <a:srgbClr val="7CD9A8"/>
                </a:solidFill>
                <a:latin typeface="Oswald"/>
                <a:ea typeface="Oswald"/>
                <a:cs typeface="Oswald"/>
                <a:sym typeface="Oswald"/>
              </a:rPr>
              <a:t>46%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0"/>
          <p:cNvSpPr/>
          <p:nvPr/>
        </p:nvSpPr>
        <p:spPr>
          <a:xfrm>
            <a:off x="13065919" y="8286750"/>
            <a:ext cx="1559719" cy="962025"/>
          </a:xfrm>
          <a:prstGeom prst="rect">
            <a:avLst/>
          </a:prstGeom>
          <a:solidFill>
            <a:srgbClr val="180F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10"/>
          <p:cNvSpPr/>
          <p:nvPr/>
        </p:nvSpPr>
        <p:spPr>
          <a:xfrm>
            <a:off x="13176528" y="8458200"/>
            <a:ext cx="133850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BLOOD BEAN USED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0"/>
          <p:cNvSpPr/>
          <p:nvPr/>
        </p:nvSpPr>
        <p:spPr>
          <a:xfrm>
            <a:off x="13176528" y="8648700"/>
            <a:ext cx="1338501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63F"/>
              </a:buClr>
              <a:buSzPts val="2250"/>
              <a:buFont typeface="Oswald"/>
              <a:buNone/>
            </a:pPr>
            <a:r>
              <a:rPr b="1" i="0" lang="en-US" sz="2250" u="none" cap="none" strike="noStrike">
                <a:solidFill>
                  <a:srgbClr val="D9563F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0"/>
          <p:cNvSpPr/>
          <p:nvPr/>
        </p:nvSpPr>
        <p:spPr>
          <a:xfrm>
            <a:off x="14635162" y="8286750"/>
            <a:ext cx="1559719" cy="962025"/>
          </a:xfrm>
          <a:prstGeom prst="rect">
            <a:avLst/>
          </a:prstGeom>
          <a:solidFill>
            <a:srgbClr val="180F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0"/>
          <p:cNvSpPr/>
          <p:nvPr/>
        </p:nvSpPr>
        <p:spPr>
          <a:xfrm>
            <a:off x="14745772" y="8458200"/>
            <a:ext cx="133850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DASH HITS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0"/>
          <p:cNvSpPr/>
          <p:nvPr/>
        </p:nvSpPr>
        <p:spPr>
          <a:xfrm>
            <a:off x="14745772" y="8648700"/>
            <a:ext cx="1338501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B85C"/>
              </a:buClr>
              <a:buSzPts val="2250"/>
              <a:buFont typeface="Oswald"/>
              <a:buNone/>
            </a:pPr>
            <a:r>
              <a:rPr b="1" i="0" lang="en-US" sz="2250" u="none" cap="none" strike="noStrike">
                <a:solidFill>
                  <a:srgbClr val="E9B85C"/>
                </a:solidFill>
                <a:latin typeface="Oswald"/>
                <a:ea typeface="Oswald"/>
                <a:cs typeface="Oswald"/>
                <a:sym typeface="Oswald"/>
              </a:rPr>
              <a:t>11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0"/>
          <p:cNvSpPr/>
          <p:nvPr/>
        </p:nvSpPr>
        <p:spPr>
          <a:xfrm>
            <a:off x="16204406" y="8286750"/>
            <a:ext cx="1559719" cy="962025"/>
          </a:xfrm>
          <a:prstGeom prst="rect">
            <a:avLst/>
          </a:prstGeom>
          <a:solidFill>
            <a:srgbClr val="180F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0"/>
          <p:cNvSpPr/>
          <p:nvPr/>
        </p:nvSpPr>
        <p:spPr>
          <a:xfrm>
            <a:off x="16315015" y="8458200"/>
            <a:ext cx="133850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750"/>
              <a:buFont typeface="Oswald"/>
              <a:buNone/>
            </a:pPr>
            <a:r>
              <a:rPr b="1" i="0" lang="en-US" sz="750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FAILED RETURNS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0"/>
          <p:cNvSpPr/>
          <p:nvPr/>
        </p:nvSpPr>
        <p:spPr>
          <a:xfrm>
            <a:off x="16315015" y="8648700"/>
            <a:ext cx="1338501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E8A3F"/>
              </a:buClr>
              <a:buSzPts val="2250"/>
              <a:buFont typeface="Oswald"/>
              <a:buNone/>
            </a:pPr>
            <a:r>
              <a:rPr b="1" i="0" lang="en-US" sz="2250" u="none" cap="none" strike="noStrike">
                <a:solidFill>
                  <a:srgbClr val="DE8A3F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0"/>
          <p:cNvSpPr/>
          <p:nvPr/>
        </p:nvSpPr>
        <p:spPr>
          <a:xfrm>
            <a:off x="11487150" y="9448800"/>
            <a:ext cx="3086100" cy="590550"/>
          </a:xfrm>
          <a:prstGeom prst="rect">
            <a:avLst/>
          </a:prstGeom>
          <a:noFill/>
          <a:ln cap="flat" cmpd="sng" w="9525">
            <a:solidFill>
              <a:srgbClr val="F2E3CB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0"/>
          <p:cNvSpPr/>
          <p:nvPr/>
        </p:nvSpPr>
        <p:spPr>
          <a:xfrm>
            <a:off x="12444413" y="9601200"/>
            <a:ext cx="445443" cy="285750"/>
          </a:xfrm>
          <a:prstGeom prst="rect">
            <a:avLst/>
          </a:prstGeom>
          <a:noFill/>
          <a:ln cap="flat" cmpd="sng" w="19050">
            <a:solidFill>
              <a:srgbClr val="F2E3C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0"/>
          <p:cNvSpPr/>
          <p:nvPr/>
        </p:nvSpPr>
        <p:spPr>
          <a:xfrm>
            <a:off x="12558713" y="9667875"/>
            <a:ext cx="2930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825"/>
              <a:buFont typeface="Oswald"/>
              <a:buNone/>
            </a:pPr>
            <a:r>
              <a:rPr b="1" i="0" lang="en-US" sz="825" u="none" cap="none" strike="noStrike">
                <a:solidFill>
                  <a:srgbClr val="F2E3CB"/>
                </a:solidFill>
                <a:latin typeface="Oswald"/>
                <a:ea typeface="Oswald"/>
                <a:cs typeface="Oswald"/>
                <a:sym typeface="Oswald"/>
              </a:rPr>
              <a:t>ESC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0"/>
          <p:cNvSpPr/>
          <p:nvPr/>
        </p:nvSpPr>
        <p:spPr>
          <a:xfrm>
            <a:off x="13004155" y="9620250"/>
            <a:ext cx="6880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3CB"/>
              </a:buClr>
              <a:buSzPts val="1575"/>
              <a:buFont typeface="Gothic A1"/>
              <a:buNone/>
            </a:pPr>
            <a:r>
              <a:rPr b="1" i="0" lang="en-US" sz="1575" u="none" cap="none" strike="noStrike">
                <a:solidFill>
                  <a:srgbClr val="F2E3CB"/>
                </a:solidFill>
                <a:latin typeface="Gothic A1"/>
                <a:ea typeface="Gothic A1"/>
                <a:cs typeface="Gothic A1"/>
                <a:sym typeface="Gothic A1"/>
              </a:rPr>
              <a:t>로비로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0"/>
          <p:cNvSpPr/>
          <p:nvPr/>
        </p:nvSpPr>
        <p:spPr>
          <a:xfrm>
            <a:off x="14706600" y="9448800"/>
            <a:ext cx="3067050" cy="590550"/>
          </a:xfrm>
          <a:prstGeom prst="rect">
            <a:avLst/>
          </a:prstGeom>
          <a:solidFill>
            <a:srgbClr val="C69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0"/>
          <p:cNvSpPr/>
          <p:nvPr/>
        </p:nvSpPr>
        <p:spPr>
          <a:xfrm>
            <a:off x="15675769" y="9591675"/>
            <a:ext cx="304800" cy="304800"/>
          </a:xfrm>
          <a:prstGeom prst="rect">
            <a:avLst/>
          </a:prstGeom>
          <a:noFill/>
          <a:ln cap="flat" cmpd="sng" w="19050">
            <a:solidFill>
              <a:srgbClr val="170F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0"/>
          <p:cNvSpPr/>
          <p:nvPr/>
        </p:nvSpPr>
        <p:spPr>
          <a:xfrm>
            <a:off x="15656719" y="9610725"/>
            <a:ext cx="34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0F07"/>
              </a:buClr>
              <a:buSzPts val="975"/>
              <a:buFont typeface="Oswald"/>
              <a:buNone/>
            </a:pPr>
            <a:r>
              <a:rPr b="1" i="0" lang="en-US" sz="975" u="none" cap="none" strike="noStrike">
                <a:solidFill>
                  <a:srgbClr val="170F07"/>
                </a:solidFill>
                <a:latin typeface="Oswald"/>
                <a:ea typeface="Oswald"/>
                <a:cs typeface="Oswald"/>
                <a:sym typeface="Oswald"/>
              </a:rPr>
              <a:t>↵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0"/>
          <p:cNvSpPr/>
          <p:nvPr/>
        </p:nvSpPr>
        <p:spPr>
          <a:xfrm>
            <a:off x="16094869" y="9620250"/>
            <a:ext cx="78566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0F07"/>
              </a:buClr>
              <a:buSzPts val="1575"/>
              <a:buFont typeface="Gothic A1"/>
              <a:buNone/>
            </a:pPr>
            <a:r>
              <a:rPr b="1" i="0" lang="en-US" sz="1575" u="none" cap="none" strike="noStrike">
                <a:solidFill>
                  <a:srgbClr val="170F07"/>
                </a:solidFill>
                <a:latin typeface="Gothic A1"/>
                <a:ea typeface="Gothic A1"/>
                <a:cs typeface="Gothic A1"/>
                <a:sym typeface="Gothic A1"/>
              </a:rPr>
              <a:t>한 판 더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